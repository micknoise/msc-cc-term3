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snapToObjects="1">
      <p:cViewPr varScale="1">
        <p:scale>
          <a:sx n="104" d="100"/>
          <a:sy n="104" d="100"/>
        </p:scale>
        <p:origin x="232" y="5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D02E46-B764-4BDD-885E-EA6813B313C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E4921E8-0BC0-4A70-BDFA-86D924D88722}">
      <dgm:prSet/>
      <dgm:spPr/>
      <dgm:t>
        <a:bodyPr/>
        <a:lstStyle/>
        <a:p>
          <a:r>
            <a:rPr lang="en-US" b="0" i="0"/>
            <a:t># MSc Creative Computing</a:t>
          </a:r>
          <a:endParaRPr lang="en-US"/>
        </a:p>
      </dgm:t>
    </dgm:pt>
    <dgm:pt modelId="{1F3D6B02-A40A-4A83-9E3E-FCBBDDED5841}" type="parTrans" cxnId="{83BF9C84-9211-47A0-AB25-481E9E2E5A9B}">
      <dgm:prSet/>
      <dgm:spPr/>
      <dgm:t>
        <a:bodyPr/>
        <a:lstStyle/>
        <a:p>
          <a:endParaRPr lang="en-US"/>
        </a:p>
      </dgm:t>
    </dgm:pt>
    <dgm:pt modelId="{54B1AA00-7CF3-4935-AC3E-5B67F2A9E62B}" type="sibTrans" cxnId="{83BF9C84-9211-47A0-AB25-481E9E2E5A9B}">
      <dgm:prSet/>
      <dgm:spPr/>
      <dgm:t>
        <a:bodyPr/>
        <a:lstStyle/>
        <a:p>
          <a:endParaRPr lang="en-US"/>
        </a:p>
      </dgm:t>
    </dgm:pt>
    <dgm:pt modelId="{91650ED7-266E-4383-9170-34B2FDDB0F4E}">
      <dgm:prSet/>
      <dgm:spPr/>
      <dgm:t>
        <a:bodyPr/>
        <a:lstStyle/>
        <a:p>
          <a:r>
            <a:rPr lang="en-US" b="1" i="0" dirty="0"/>
            <a:t>Practice as Research — Lecture 8</a:t>
          </a:r>
          <a:endParaRPr lang="en-US" dirty="0"/>
        </a:p>
      </dgm:t>
    </dgm:pt>
    <dgm:pt modelId="{DDD02F21-CC53-4E93-9F1C-47C61E64719E}" type="parTrans" cxnId="{EF19B7FA-39C4-4F72-8733-3AD4D51C0E08}">
      <dgm:prSet/>
      <dgm:spPr/>
      <dgm:t>
        <a:bodyPr/>
        <a:lstStyle/>
        <a:p>
          <a:endParaRPr lang="en-US"/>
        </a:p>
      </dgm:t>
    </dgm:pt>
    <dgm:pt modelId="{180A329A-4FA5-40C8-9F59-E2EAB49D63E7}" type="sibTrans" cxnId="{EF19B7FA-39C4-4F72-8733-3AD4D51C0E08}">
      <dgm:prSet/>
      <dgm:spPr/>
      <dgm:t>
        <a:bodyPr/>
        <a:lstStyle/>
        <a:p>
          <a:endParaRPr lang="en-US"/>
        </a:p>
      </dgm:t>
    </dgm:pt>
    <dgm:pt modelId="{19BEA317-F7AD-4BC0-83D8-A8D019AE50AA}">
      <dgm:prSet/>
      <dgm:spPr/>
      <dgm:t>
        <a:bodyPr/>
        <a:lstStyle/>
        <a:p>
          <a:r>
            <a:rPr lang="en-US" b="1" i="0"/>
            <a:t>Critical framing — refining your argument</a:t>
          </a:r>
          <a:endParaRPr lang="en-US"/>
        </a:p>
      </dgm:t>
    </dgm:pt>
    <dgm:pt modelId="{D79022DF-4099-499C-B15A-64BDDBBF5BD8}" type="parTrans" cxnId="{F48D43D1-50DD-4776-9080-5D1942F52E60}">
      <dgm:prSet/>
      <dgm:spPr/>
      <dgm:t>
        <a:bodyPr/>
        <a:lstStyle/>
        <a:p>
          <a:endParaRPr lang="en-US"/>
        </a:p>
      </dgm:t>
    </dgm:pt>
    <dgm:pt modelId="{2597E401-4AEF-4765-96F8-2FE4E6AE9EE9}" type="sibTrans" cxnId="{F48D43D1-50DD-4776-9080-5D1942F52E60}">
      <dgm:prSet/>
      <dgm:spPr/>
      <dgm:t>
        <a:bodyPr/>
        <a:lstStyle/>
        <a:p>
          <a:endParaRPr lang="en-US"/>
        </a:p>
      </dgm:t>
    </dgm:pt>
    <dgm:pt modelId="{A9D00B9B-283E-414B-AEFA-F963BDBBDFF4}">
      <dgm:prSet/>
      <dgm:spPr/>
      <dgm:t>
        <a:bodyPr/>
        <a:lstStyle/>
        <a:p>
          <a:r>
            <a:rPr lang="en-US" b="0" i="0"/>
            <a:t>Mick Grierson — Creative Computing Institute, UAL</a:t>
          </a:r>
          <a:endParaRPr lang="en-US"/>
        </a:p>
      </dgm:t>
    </dgm:pt>
    <dgm:pt modelId="{BB0F9728-4877-455D-9FDA-11CF43038751}" type="parTrans" cxnId="{0B104928-7C39-4BD3-8618-75DBC49B039E}">
      <dgm:prSet/>
      <dgm:spPr/>
      <dgm:t>
        <a:bodyPr/>
        <a:lstStyle/>
        <a:p>
          <a:endParaRPr lang="en-US"/>
        </a:p>
      </dgm:t>
    </dgm:pt>
    <dgm:pt modelId="{507A1F0E-D369-4B4B-971C-2441DD3C96A2}" type="sibTrans" cxnId="{0B104928-7C39-4BD3-8618-75DBC49B039E}">
      <dgm:prSet/>
      <dgm:spPr/>
      <dgm:t>
        <a:bodyPr/>
        <a:lstStyle/>
        <a:p>
          <a:endParaRPr lang="en-US"/>
        </a:p>
      </dgm:t>
    </dgm:pt>
    <dgm:pt modelId="{3AF9A43B-C9B4-4BAE-BE63-1A57660E3E4D}">
      <dgm:prSet/>
      <dgm:spPr/>
      <dgm:t>
        <a:bodyPr/>
        <a:lstStyle/>
        <a:p>
          <a:r>
            <a:rPr lang="en-US" b="0" i="1"/>
            <a:t>Black text on white. ~19 slides. Slide text lean; detail in the speaker notes.</a:t>
          </a:r>
          <a:endParaRPr lang="en-US"/>
        </a:p>
      </dgm:t>
    </dgm:pt>
    <dgm:pt modelId="{B006B39F-8E13-42FA-9E47-0BDF83EC785C}" type="parTrans" cxnId="{BEA469E4-4ABE-45BB-B587-0E5E4BB84D04}">
      <dgm:prSet/>
      <dgm:spPr/>
      <dgm:t>
        <a:bodyPr/>
        <a:lstStyle/>
        <a:p>
          <a:endParaRPr lang="en-US"/>
        </a:p>
      </dgm:t>
    </dgm:pt>
    <dgm:pt modelId="{CBE311B5-34C1-4D83-B22D-046B3DC7071A}" type="sibTrans" cxnId="{BEA469E4-4ABE-45BB-B587-0E5E4BB84D04}">
      <dgm:prSet/>
      <dgm:spPr/>
      <dgm:t>
        <a:bodyPr/>
        <a:lstStyle/>
        <a:p>
          <a:endParaRPr lang="en-US"/>
        </a:p>
      </dgm:t>
    </dgm:pt>
    <dgm:pt modelId="{466FE6AB-1EB2-1542-8A6A-D19818F15E1B}" type="pres">
      <dgm:prSet presAssocID="{D3D02E46-B764-4BDD-885E-EA6813B313C3}" presName="vert0" presStyleCnt="0">
        <dgm:presLayoutVars>
          <dgm:dir/>
          <dgm:animOne val="branch"/>
          <dgm:animLvl val="lvl"/>
        </dgm:presLayoutVars>
      </dgm:prSet>
      <dgm:spPr/>
    </dgm:pt>
    <dgm:pt modelId="{78137D19-1A9F-EA4A-B06C-583DC0D69DAB}" type="pres">
      <dgm:prSet presAssocID="{9E4921E8-0BC0-4A70-BDFA-86D924D88722}" presName="thickLine" presStyleLbl="alignNode1" presStyleIdx="0" presStyleCnt="5"/>
      <dgm:spPr/>
    </dgm:pt>
    <dgm:pt modelId="{28ED8F45-B906-284F-9FA4-6517246F2FDC}" type="pres">
      <dgm:prSet presAssocID="{9E4921E8-0BC0-4A70-BDFA-86D924D88722}" presName="horz1" presStyleCnt="0"/>
      <dgm:spPr/>
    </dgm:pt>
    <dgm:pt modelId="{968CD891-6A5F-6E4B-90F5-E0F1F79F4E2D}" type="pres">
      <dgm:prSet presAssocID="{9E4921E8-0BC0-4A70-BDFA-86D924D88722}" presName="tx1" presStyleLbl="revTx" presStyleIdx="0" presStyleCnt="5"/>
      <dgm:spPr/>
    </dgm:pt>
    <dgm:pt modelId="{4701D860-F5C5-0F44-944D-98507FB7D589}" type="pres">
      <dgm:prSet presAssocID="{9E4921E8-0BC0-4A70-BDFA-86D924D88722}" presName="vert1" presStyleCnt="0"/>
      <dgm:spPr/>
    </dgm:pt>
    <dgm:pt modelId="{B0009E15-1422-0740-A674-50F4B9D10AD6}" type="pres">
      <dgm:prSet presAssocID="{91650ED7-266E-4383-9170-34B2FDDB0F4E}" presName="thickLine" presStyleLbl="alignNode1" presStyleIdx="1" presStyleCnt="5"/>
      <dgm:spPr/>
    </dgm:pt>
    <dgm:pt modelId="{48BE958C-1006-8745-ADCF-D0AC0EAD810B}" type="pres">
      <dgm:prSet presAssocID="{91650ED7-266E-4383-9170-34B2FDDB0F4E}" presName="horz1" presStyleCnt="0"/>
      <dgm:spPr/>
    </dgm:pt>
    <dgm:pt modelId="{62FB95ED-C0FB-3C45-A7E5-906871561483}" type="pres">
      <dgm:prSet presAssocID="{91650ED7-266E-4383-9170-34B2FDDB0F4E}" presName="tx1" presStyleLbl="revTx" presStyleIdx="1" presStyleCnt="5"/>
      <dgm:spPr/>
    </dgm:pt>
    <dgm:pt modelId="{E9C50F6E-4AC3-904C-B1E9-5725530CB4C7}" type="pres">
      <dgm:prSet presAssocID="{91650ED7-266E-4383-9170-34B2FDDB0F4E}" presName="vert1" presStyleCnt="0"/>
      <dgm:spPr/>
    </dgm:pt>
    <dgm:pt modelId="{1DD04AEB-C4A4-9A41-A2C6-D406A0FF6F0A}" type="pres">
      <dgm:prSet presAssocID="{19BEA317-F7AD-4BC0-83D8-A8D019AE50AA}" presName="thickLine" presStyleLbl="alignNode1" presStyleIdx="2" presStyleCnt="5"/>
      <dgm:spPr/>
    </dgm:pt>
    <dgm:pt modelId="{A21CF617-F93A-984C-97D3-0C447464D83F}" type="pres">
      <dgm:prSet presAssocID="{19BEA317-F7AD-4BC0-83D8-A8D019AE50AA}" presName="horz1" presStyleCnt="0"/>
      <dgm:spPr/>
    </dgm:pt>
    <dgm:pt modelId="{F3A3B40D-8CC9-E347-9600-14DCD7EC412E}" type="pres">
      <dgm:prSet presAssocID="{19BEA317-F7AD-4BC0-83D8-A8D019AE50AA}" presName="tx1" presStyleLbl="revTx" presStyleIdx="2" presStyleCnt="5"/>
      <dgm:spPr/>
    </dgm:pt>
    <dgm:pt modelId="{0D46ECB5-FB57-1C4A-AFD4-DACFA530D74E}" type="pres">
      <dgm:prSet presAssocID="{19BEA317-F7AD-4BC0-83D8-A8D019AE50AA}" presName="vert1" presStyleCnt="0"/>
      <dgm:spPr/>
    </dgm:pt>
    <dgm:pt modelId="{67BAB3BF-288A-A447-B0AB-9598CED70949}" type="pres">
      <dgm:prSet presAssocID="{A9D00B9B-283E-414B-AEFA-F963BDBBDFF4}" presName="thickLine" presStyleLbl="alignNode1" presStyleIdx="3" presStyleCnt="5"/>
      <dgm:spPr/>
    </dgm:pt>
    <dgm:pt modelId="{7C5037A6-1EB5-A14C-8DE8-DB5DC870CCF8}" type="pres">
      <dgm:prSet presAssocID="{A9D00B9B-283E-414B-AEFA-F963BDBBDFF4}" presName="horz1" presStyleCnt="0"/>
      <dgm:spPr/>
    </dgm:pt>
    <dgm:pt modelId="{E184F358-F564-D145-B5E9-30AF3A32E373}" type="pres">
      <dgm:prSet presAssocID="{A9D00B9B-283E-414B-AEFA-F963BDBBDFF4}" presName="tx1" presStyleLbl="revTx" presStyleIdx="3" presStyleCnt="5"/>
      <dgm:spPr/>
    </dgm:pt>
    <dgm:pt modelId="{E1CFFE7A-CBA1-BC41-93C3-69144B15D35A}" type="pres">
      <dgm:prSet presAssocID="{A9D00B9B-283E-414B-AEFA-F963BDBBDFF4}" presName="vert1" presStyleCnt="0"/>
      <dgm:spPr/>
    </dgm:pt>
    <dgm:pt modelId="{8B4FBB92-63DE-314A-93D4-4E81AF5B3741}" type="pres">
      <dgm:prSet presAssocID="{3AF9A43B-C9B4-4BAE-BE63-1A57660E3E4D}" presName="thickLine" presStyleLbl="alignNode1" presStyleIdx="4" presStyleCnt="5"/>
      <dgm:spPr/>
    </dgm:pt>
    <dgm:pt modelId="{A0AD98C1-6B46-DA4F-9193-6D0999318D95}" type="pres">
      <dgm:prSet presAssocID="{3AF9A43B-C9B4-4BAE-BE63-1A57660E3E4D}" presName="horz1" presStyleCnt="0"/>
      <dgm:spPr/>
    </dgm:pt>
    <dgm:pt modelId="{D5030E3F-8B33-0249-8A32-636AF847B166}" type="pres">
      <dgm:prSet presAssocID="{3AF9A43B-C9B4-4BAE-BE63-1A57660E3E4D}" presName="tx1" presStyleLbl="revTx" presStyleIdx="4" presStyleCnt="5"/>
      <dgm:spPr/>
    </dgm:pt>
    <dgm:pt modelId="{495C7FB1-D5D1-C940-8A4F-99D942794B5E}" type="pres">
      <dgm:prSet presAssocID="{3AF9A43B-C9B4-4BAE-BE63-1A57660E3E4D}" presName="vert1" presStyleCnt="0"/>
      <dgm:spPr/>
    </dgm:pt>
  </dgm:ptLst>
  <dgm:cxnLst>
    <dgm:cxn modelId="{BDF0E60E-EA71-2B4D-A641-7C8642049781}" type="presOf" srcId="{D3D02E46-B764-4BDD-885E-EA6813B313C3}" destId="{466FE6AB-1EB2-1542-8A6A-D19818F15E1B}" srcOrd="0" destOrd="0" presId="urn:microsoft.com/office/officeart/2008/layout/LinedList"/>
    <dgm:cxn modelId="{0B104928-7C39-4BD3-8618-75DBC49B039E}" srcId="{D3D02E46-B764-4BDD-885E-EA6813B313C3}" destId="{A9D00B9B-283E-414B-AEFA-F963BDBBDFF4}" srcOrd="3" destOrd="0" parTransId="{BB0F9728-4877-455D-9FDA-11CF43038751}" sibTransId="{507A1F0E-D369-4B4B-971C-2441DD3C96A2}"/>
    <dgm:cxn modelId="{540CA034-582A-AB48-9AAA-BE31E57AF04E}" type="presOf" srcId="{91650ED7-266E-4383-9170-34B2FDDB0F4E}" destId="{62FB95ED-C0FB-3C45-A7E5-906871561483}" srcOrd="0" destOrd="0" presId="urn:microsoft.com/office/officeart/2008/layout/LinedList"/>
    <dgm:cxn modelId="{A914844B-071B-324B-B084-CD4763141669}" type="presOf" srcId="{3AF9A43B-C9B4-4BAE-BE63-1A57660E3E4D}" destId="{D5030E3F-8B33-0249-8A32-636AF847B166}" srcOrd="0" destOrd="0" presId="urn:microsoft.com/office/officeart/2008/layout/LinedList"/>
    <dgm:cxn modelId="{E62AEB64-7338-7F43-AE31-DDF8DB4BBF69}" type="presOf" srcId="{19BEA317-F7AD-4BC0-83D8-A8D019AE50AA}" destId="{F3A3B40D-8CC9-E347-9600-14DCD7EC412E}" srcOrd="0" destOrd="0" presId="urn:microsoft.com/office/officeart/2008/layout/LinedList"/>
    <dgm:cxn modelId="{83BF9C84-9211-47A0-AB25-481E9E2E5A9B}" srcId="{D3D02E46-B764-4BDD-885E-EA6813B313C3}" destId="{9E4921E8-0BC0-4A70-BDFA-86D924D88722}" srcOrd="0" destOrd="0" parTransId="{1F3D6B02-A40A-4A83-9E3E-FCBBDDED5841}" sibTransId="{54B1AA00-7CF3-4935-AC3E-5B67F2A9E62B}"/>
    <dgm:cxn modelId="{F48D43D1-50DD-4776-9080-5D1942F52E60}" srcId="{D3D02E46-B764-4BDD-885E-EA6813B313C3}" destId="{19BEA317-F7AD-4BC0-83D8-A8D019AE50AA}" srcOrd="2" destOrd="0" parTransId="{D79022DF-4099-499C-B15A-64BDDBBF5BD8}" sibTransId="{2597E401-4AEF-4765-96F8-2FE4E6AE9EE9}"/>
    <dgm:cxn modelId="{F7B6C7D1-CF44-3340-A0B2-B5C0513EC157}" type="presOf" srcId="{A9D00B9B-283E-414B-AEFA-F963BDBBDFF4}" destId="{E184F358-F564-D145-B5E9-30AF3A32E373}" srcOrd="0" destOrd="0" presId="urn:microsoft.com/office/officeart/2008/layout/LinedList"/>
    <dgm:cxn modelId="{BEA469E4-4ABE-45BB-B587-0E5E4BB84D04}" srcId="{D3D02E46-B764-4BDD-885E-EA6813B313C3}" destId="{3AF9A43B-C9B4-4BAE-BE63-1A57660E3E4D}" srcOrd="4" destOrd="0" parTransId="{B006B39F-8E13-42FA-9E47-0BDF83EC785C}" sibTransId="{CBE311B5-34C1-4D83-B22D-046B3DC7071A}"/>
    <dgm:cxn modelId="{EF19B7FA-39C4-4F72-8733-3AD4D51C0E08}" srcId="{D3D02E46-B764-4BDD-885E-EA6813B313C3}" destId="{91650ED7-266E-4383-9170-34B2FDDB0F4E}" srcOrd="1" destOrd="0" parTransId="{DDD02F21-CC53-4E93-9F1C-47C61E64719E}" sibTransId="{180A329A-4FA5-40C8-9F59-E2EAB49D63E7}"/>
    <dgm:cxn modelId="{992421FD-439C-534B-8787-256292ECEED7}" type="presOf" srcId="{9E4921E8-0BC0-4A70-BDFA-86D924D88722}" destId="{968CD891-6A5F-6E4B-90F5-E0F1F79F4E2D}" srcOrd="0" destOrd="0" presId="urn:microsoft.com/office/officeart/2008/layout/LinedList"/>
    <dgm:cxn modelId="{A81A266B-B7CC-924A-97E2-3B36325FF2A2}" type="presParOf" srcId="{466FE6AB-1EB2-1542-8A6A-D19818F15E1B}" destId="{78137D19-1A9F-EA4A-B06C-583DC0D69DAB}" srcOrd="0" destOrd="0" presId="urn:microsoft.com/office/officeart/2008/layout/LinedList"/>
    <dgm:cxn modelId="{DF287DAD-3DBD-D741-A552-3996F77E1D2F}" type="presParOf" srcId="{466FE6AB-1EB2-1542-8A6A-D19818F15E1B}" destId="{28ED8F45-B906-284F-9FA4-6517246F2FDC}" srcOrd="1" destOrd="0" presId="urn:microsoft.com/office/officeart/2008/layout/LinedList"/>
    <dgm:cxn modelId="{A6584B51-53A4-F840-9EC1-85C3BE5AEDFB}" type="presParOf" srcId="{28ED8F45-B906-284F-9FA4-6517246F2FDC}" destId="{968CD891-6A5F-6E4B-90F5-E0F1F79F4E2D}" srcOrd="0" destOrd="0" presId="urn:microsoft.com/office/officeart/2008/layout/LinedList"/>
    <dgm:cxn modelId="{FEE3B313-A271-1446-B5CC-90A0D4712138}" type="presParOf" srcId="{28ED8F45-B906-284F-9FA4-6517246F2FDC}" destId="{4701D860-F5C5-0F44-944D-98507FB7D589}" srcOrd="1" destOrd="0" presId="urn:microsoft.com/office/officeart/2008/layout/LinedList"/>
    <dgm:cxn modelId="{487B4B0F-DDDE-614A-B829-67937171000B}" type="presParOf" srcId="{466FE6AB-1EB2-1542-8A6A-D19818F15E1B}" destId="{B0009E15-1422-0740-A674-50F4B9D10AD6}" srcOrd="2" destOrd="0" presId="urn:microsoft.com/office/officeart/2008/layout/LinedList"/>
    <dgm:cxn modelId="{DE2F12EA-F4B6-C44A-BDF0-62D97434F49A}" type="presParOf" srcId="{466FE6AB-1EB2-1542-8A6A-D19818F15E1B}" destId="{48BE958C-1006-8745-ADCF-D0AC0EAD810B}" srcOrd="3" destOrd="0" presId="urn:microsoft.com/office/officeart/2008/layout/LinedList"/>
    <dgm:cxn modelId="{9FF78EEF-2F08-AE45-A978-5837B2DAC337}" type="presParOf" srcId="{48BE958C-1006-8745-ADCF-D0AC0EAD810B}" destId="{62FB95ED-C0FB-3C45-A7E5-906871561483}" srcOrd="0" destOrd="0" presId="urn:microsoft.com/office/officeart/2008/layout/LinedList"/>
    <dgm:cxn modelId="{7F2E6F14-010A-DF45-A3EC-34F52CB4FBBF}" type="presParOf" srcId="{48BE958C-1006-8745-ADCF-D0AC0EAD810B}" destId="{E9C50F6E-4AC3-904C-B1E9-5725530CB4C7}" srcOrd="1" destOrd="0" presId="urn:microsoft.com/office/officeart/2008/layout/LinedList"/>
    <dgm:cxn modelId="{9940F13E-20E4-F542-90E0-5A3819627678}" type="presParOf" srcId="{466FE6AB-1EB2-1542-8A6A-D19818F15E1B}" destId="{1DD04AEB-C4A4-9A41-A2C6-D406A0FF6F0A}" srcOrd="4" destOrd="0" presId="urn:microsoft.com/office/officeart/2008/layout/LinedList"/>
    <dgm:cxn modelId="{ABD25C42-3527-5E4D-B7F6-3B65D210404A}" type="presParOf" srcId="{466FE6AB-1EB2-1542-8A6A-D19818F15E1B}" destId="{A21CF617-F93A-984C-97D3-0C447464D83F}" srcOrd="5" destOrd="0" presId="urn:microsoft.com/office/officeart/2008/layout/LinedList"/>
    <dgm:cxn modelId="{EE02E1CF-C99F-1748-B3A6-E887643C68F7}" type="presParOf" srcId="{A21CF617-F93A-984C-97D3-0C447464D83F}" destId="{F3A3B40D-8CC9-E347-9600-14DCD7EC412E}" srcOrd="0" destOrd="0" presId="urn:microsoft.com/office/officeart/2008/layout/LinedList"/>
    <dgm:cxn modelId="{D86BEDDF-2681-EC4F-85D4-0178AFFB41B9}" type="presParOf" srcId="{A21CF617-F93A-984C-97D3-0C447464D83F}" destId="{0D46ECB5-FB57-1C4A-AFD4-DACFA530D74E}" srcOrd="1" destOrd="0" presId="urn:microsoft.com/office/officeart/2008/layout/LinedList"/>
    <dgm:cxn modelId="{31D2E82E-E7CD-4149-B15F-A60E74ED5AF1}" type="presParOf" srcId="{466FE6AB-1EB2-1542-8A6A-D19818F15E1B}" destId="{67BAB3BF-288A-A447-B0AB-9598CED70949}" srcOrd="6" destOrd="0" presId="urn:microsoft.com/office/officeart/2008/layout/LinedList"/>
    <dgm:cxn modelId="{4CE652AD-0D63-EB42-A812-37C13812C0E7}" type="presParOf" srcId="{466FE6AB-1EB2-1542-8A6A-D19818F15E1B}" destId="{7C5037A6-1EB5-A14C-8DE8-DB5DC870CCF8}" srcOrd="7" destOrd="0" presId="urn:microsoft.com/office/officeart/2008/layout/LinedList"/>
    <dgm:cxn modelId="{B80CAB49-3BA8-4948-B8AB-8554E9B864E5}" type="presParOf" srcId="{7C5037A6-1EB5-A14C-8DE8-DB5DC870CCF8}" destId="{E184F358-F564-D145-B5E9-30AF3A32E373}" srcOrd="0" destOrd="0" presId="urn:microsoft.com/office/officeart/2008/layout/LinedList"/>
    <dgm:cxn modelId="{8EE29BB1-359B-9F48-A3FF-34231E7A3404}" type="presParOf" srcId="{7C5037A6-1EB5-A14C-8DE8-DB5DC870CCF8}" destId="{E1CFFE7A-CBA1-BC41-93C3-69144B15D35A}" srcOrd="1" destOrd="0" presId="urn:microsoft.com/office/officeart/2008/layout/LinedList"/>
    <dgm:cxn modelId="{36F04195-1777-4C4B-9496-9BB76376A950}" type="presParOf" srcId="{466FE6AB-1EB2-1542-8A6A-D19818F15E1B}" destId="{8B4FBB92-63DE-314A-93D4-4E81AF5B3741}" srcOrd="8" destOrd="0" presId="urn:microsoft.com/office/officeart/2008/layout/LinedList"/>
    <dgm:cxn modelId="{97BFCB19-DCA9-864B-9A90-D74264C310E9}" type="presParOf" srcId="{466FE6AB-1EB2-1542-8A6A-D19818F15E1B}" destId="{A0AD98C1-6B46-DA4F-9193-6D0999318D95}" srcOrd="9" destOrd="0" presId="urn:microsoft.com/office/officeart/2008/layout/LinedList"/>
    <dgm:cxn modelId="{10752372-5DD6-094A-A7AC-7E8880D2D9B3}" type="presParOf" srcId="{A0AD98C1-6B46-DA4F-9193-6D0999318D95}" destId="{D5030E3F-8B33-0249-8A32-636AF847B166}" srcOrd="0" destOrd="0" presId="urn:microsoft.com/office/officeart/2008/layout/LinedList"/>
    <dgm:cxn modelId="{2099CD6C-97D1-3F41-BF50-78E6DE0E0447}" type="presParOf" srcId="{A0AD98C1-6B46-DA4F-9193-6D0999318D95}" destId="{495C7FB1-D5D1-C940-8A4F-99D942794B5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137D19-1A9F-EA4A-B06C-583DC0D69DAB}">
      <dsp:nvSpPr>
        <dsp:cNvPr id="0" name=""/>
        <dsp:cNvSpPr/>
      </dsp:nvSpPr>
      <dsp:spPr>
        <a:xfrm>
          <a:off x="0" y="636"/>
          <a:ext cx="109115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8CD891-6A5F-6E4B-90F5-E0F1F79F4E2D}">
      <dsp:nvSpPr>
        <dsp:cNvPr id="0" name=""/>
        <dsp:cNvSpPr/>
      </dsp:nvSpPr>
      <dsp:spPr>
        <a:xfrm>
          <a:off x="0" y="636"/>
          <a:ext cx="10911535" cy="1042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i="0" kern="1200"/>
            <a:t># MSc Creative Computing</a:t>
          </a:r>
          <a:endParaRPr lang="en-US" sz="2900" kern="1200"/>
        </a:p>
      </dsp:txBody>
      <dsp:txXfrm>
        <a:off x="0" y="636"/>
        <a:ext cx="10911535" cy="1042161"/>
      </dsp:txXfrm>
    </dsp:sp>
    <dsp:sp modelId="{B0009E15-1422-0740-A674-50F4B9D10AD6}">
      <dsp:nvSpPr>
        <dsp:cNvPr id="0" name=""/>
        <dsp:cNvSpPr/>
      </dsp:nvSpPr>
      <dsp:spPr>
        <a:xfrm>
          <a:off x="0" y="1042797"/>
          <a:ext cx="109115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FB95ED-C0FB-3C45-A7E5-906871561483}">
      <dsp:nvSpPr>
        <dsp:cNvPr id="0" name=""/>
        <dsp:cNvSpPr/>
      </dsp:nvSpPr>
      <dsp:spPr>
        <a:xfrm>
          <a:off x="0" y="1042797"/>
          <a:ext cx="10911535" cy="1042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1" i="0" kern="1200" dirty="0"/>
            <a:t>Practice as Research — Lecture 8</a:t>
          </a:r>
          <a:endParaRPr lang="en-US" sz="2900" kern="1200" dirty="0"/>
        </a:p>
      </dsp:txBody>
      <dsp:txXfrm>
        <a:off x="0" y="1042797"/>
        <a:ext cx="10911535" cy="1042161"/>
      </dsp:txXfrm>
    </dsp:sp>
    <dsp:sp modelId="{1DD04AEB-C4A4-9A41-A2C6-D406A0FF6F0A}">
      <dsp:nvSpPr>
        <dsp:cNvPr id="0" name=""/>
        <dsp:cNvSpPr/>
      </dsp:nvSpPr>
      <dsp:spPr>
        <a:xfrm>
          <a:off x="0" y="2084959"/>
          <a:ext cx="109115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A3B40D-8CC9-E347-9600-14DCD7EC412E}">
      <dsp:nvSpPr>
        <dsp:cNvPr id="0" name=""/>
        <dsp:cNvSpPr/>
      </dsp:nvSpPr>
      <dsp:spPr>
        <a:xfrm>
          <a:off x="0" y="2084959"/>
          <a:ext cx="10911535" cy="1042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1" i="0" kern="1200"/>
            <a:t>Critical framing — refining your argument</a:t>
          </a:r>
          <a:endParaRPr lang="en-US" sz="2900" kern="1200"/>
        </a:p>
      </dsp:txBody>
      <dsp:txXfrm>
        <a:off x="0" y="2084959"/>
        <a:ext cx="10911535" cy="1042161"/>
      </dsp:txXfrm>
    </dsp:sp>
    <dsp:sp modelId="{67BAB3BF-288A-A447-B0AB-9598CED70949}">
      <dsp:nvSpPr>
        <dsp:cNvPr id="0" name=""/>
        <dsp:cNvSpPr/>
      </dsp:nvSpPr>
      <dsp:spPr>
        <a:xfrm>
          <a:off x="0" y="3127120"/>
          <a:ext cx="109115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84F358-F564-D145-B5E9-30AF3A32E373}">
      <dsp:nvSpPr>
        <dsp:cNvPr id="0" name=""/>
        <dsp:cNvSpPr/>
      </dsp:nvSpPr>
      <dsp:spPr>
        <a:xfrm>
          <a:off x="0" y="3127120"/>
          <a:ext cx="10911535" cy="1042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i="0" kern="1200"/>
            <a:t>Mick Grierson — Creative Computing Institute, UAL</a:t>
          </a:r>
          <a:endParaRPr lang="en-US" sz="2900" kern="1200"/>
        </a:p>
      </dsp:txBody>
      <dsp:txXfrm>
        <a:off x="0" y="3127120"/>
        <a:ext cx="10911535" cy="1042161"/>
      </dsp:txXfrm>
    </dsp:sp>
    <dsp:sp modelId="{8B4FBB92-63DE-314A-93D4-4E81AF5B3741}">
      <dsp:nvSpPr>
        <dsp:cNvPr id="0" name=""/>
        <dsp:cNvSpPr/>
      </dsp:nvSpPr>
      <dsp:spPr>
        <a:xfrm>
          <a:off x="0" y="4169282"/>
          <a:ext cx="1091153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030E3F-8B33-0249-8A32-636AF847B166}">
      <dsp:nvSpPr>
        <dsp:cNvPr id="0" name=""/>
        <dsp:cNvSpPr/>
      </dsp:nvSpPr>
      <dsp:spPr>
        <a:xfrm>
          <a:off x="0" y="4169282"/>
          <a:ext cx="10911535" cy="10421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i="1" kern="1200"/>
            <a:t>Black text on white. ~19 slides. Slide text lean; detail in the speaker notes.</a:t>
          </a:r>
          <a:endParaRPr lang="en-US" sz="2900" kern="1200"/>
        </a:p>
      </dsp:txBody>
      <dsp:txXfrm>
        <a:off x="0" y="4169282"/>
        <a:ext cx="10911535" cy="104216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4866F6-5CF7-FE42-A6FC-3DBACEE7ACD9}" type="datetimeFigureOut">
              <a:rPr lang="en-US" smtClean="0"/>
              <a:t>6/4/26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FEFEFB-3C7D-834E-B669-0416DC24F205}" type="slidenum">
              <a:rPr lang="en-US" smtClean="0"/>
              <a:t>‹#›</a:t>
            </a:fld>
            <a:endParaRPr lang="en-US"/>
          </a:p>
        </p:txBody>
      </p:sp>
    </p:spTree>
    <p:extLst>
      <p:ext uri="{BB962C8B-B14F-4D97-AF65-F5344CB8AC3E}">
        <p14:creationId xmlns:p14="http://schemas.microsoft.com/office/powerpoint/2010/main" val="1032684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last lecture, and it's the synthesis. Everything so far has been a component — a question, a gap, a method, documentation, an artefact, an exhibition. Today is assembly: how those parts become a single argument that means something to someone other than you. The hidden agenda of this lecture is voice — helping students hear that they have one, and that their critical perspective is the thing that turns a project into a contribution.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Put the whole journey on one slide so students can see how far they've come. Each week added a component. The danger now is that they have seven disconnected pieces — a cool artefact, some references, a method, a pile of documentation — and no through-line. The job of the final write-up is to forge a through-line. That through-line is the argument.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spine of the lecture. If a student can't fill in X, Y, and Z, they don't yet have an argument — they have activity. Make them try it out loud. Most will struggle with X (the claim) because it's tempting to describe what they *did* rather than what they now *know*. "I built a system that..." is not a claim. "Building this system demonstrates that..." is getting closer. The claim is the knowledge, not the activity.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"so what?" ladder is the single most practical tool in this lecture. Students stop too early — they think the artefact is the answer. Push them down the ladder: each "so what?" forces them from description toward significance. The bottom of the ladder is where the contribution lives. If they can't answer "so what?" at all, that's diagnostic — either the gap was never real, or they haven't yet understood what their own work reveals. Either way, better to find out now.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Full-screen diagram. Walk down it rung by rung, pausing on each "so what?" Let the descent do the work — by the time you reach the black box, students should feel the difference between describing what they did and stating why it matters.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Toulmin's model is worth ten minutes. Claim and grounds are intuitive — students get "here's what I say" and "here's my evidence." The warrant is the invisible bridge, and it's where weak arguments collapse. Example: claim — "this system enables a new kind of improvisation"; grounds — "three performers used it and described feeling 'in dialogue' with it"; warrant — "self-reported sense of dialogue is a meaningful indicator of a qualitatively different performer relationship, because..." If the warrant is shaky, the evidence doesn't actually support the claim. Naming the warrant forces you to check your own reasoning.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Full-screen diagram. Point to the warrant box specifically — it's the part that's drawn dashed and sitting underneath because it's the part students leave implicit. Make them say their own warrant out loud for their project: "my evidence supports my claim because…"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distinction matters because students default to summary — it's safer and easier. A summary recounts; a synthesis argues. The synthesis is where you, the researcher, add value: you're the one who sees that the literature, the artefact, and the user responses, taken together, reveal something. Nobody else has all three in view at once. That combination is your unique vantage point — and it's the basis of your voice.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Tie back hard to Week 2 — this is the payoff of that framework. Students who can name the *type* of their contribution write much sharper claims. A procedural contribution and a critical contribution need to be argued differently and evidenced differently. Many creative computing projects are procedural + critical: you built a thing (procedural) and in doing so reframed a question (critical). Saying so explicitly is half the battle.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the part students find hardest to believe applies to them — they think "voice" is for established artists and senior academics. It isn't. Voice is just the consistent perspective that comes from being a specific person with a specific history looking at a specific problem. A student from a music background and one from a games background will see the same generative system completely differently — and both perspectives are valuable. The point is to stop apologising for your perspective and start trusting it. Your reflective notes (Weeks 5–6) are where your voice is already visible — the things that surprised *you*, the connections *you* made.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Students confuse "academic" with "neutral and hedged." The opposite is true — a strong piece of research takes a clear position and defends it. Hedging everything ("on the one hand... on the other...") is not balance, it's an absence of voice. You can acknowledge counter-positions (you should — that's slide 11) while still committing to one. The commitment is the voice. The willingness to be wrong in a specific, interesting way beats being vaguely right about everything.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Reverse outlining is the most useful revision technique most students have never been taught. It separates *what you said* from *how you said it*. Beautiful prose can hide a broken argument; the reverse outline exposes it. If paragraph 4's claim doesn't follow from paragraph 3's, you've found a gap in your reasoning. Recommend they do this once on a full draft — it's tedious and transformative. It also reveals paragraphs that claim nothing (cut them) and claims that appear twice (merge them).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Booth/Colomb/Williams on acknowledging and responding to reader reservations. Students think admitting weakness loses marks. The opposite: an examiner who spots a limitation you didn't acknowledge concludes you didn't see it. An examiner who sees you name it and handle it concludes you understand your own work deeply. "With 8 participants this is exploratory, not generalisable — but the consistency of the responses suggests a pattern worth a larger study" is a confident, honest move. Steelmanning the opposition (the *most generous* version, not a strawman) is what separates a thoughtful researcher from a defensive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Walk through how each component maps into the claim. The gap justifies *why* it matters. The artefact and latency eval are the grounds for "working, real-time." The interviews are the grounds for "dialogic." The framing ("instruments not composers") is the critical contribution — the voice. This is the moment the lecture's abstract machinery becomes concrete. Encourage students to draft their own version of this sentence and then check: does every part of my project show up somewhere in it? If a component doesn't, either it's not load-bearing, or the claim isn't capturing everything it should.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Include this to counter the assumption that "contribution = system." For the more art-leaning students, the contribution is often a way of seeing or a way of inquiring, evidenced by a body of work. The claim still has the same shape (X because Y as shown by Z), but Z is a curated series of outputs plus critical reading, not a benchmark. The "distortions are evidence, not noise" move is the kind of reframe that constitutes a genuine critical contribution — it changes what counts as a finding.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Connect to Smith &amp; Dean and to the reflective documentation from Weeks 5–6. A write-up that presents only the polished endpoint looks like luck; one that traces the trajectory — including the wrong turns — looks like research. The "what would you do with more time" question is not filler: it demonstrates that you can see past your own project to the next one, which is exactly what situates your work as a contribution others can build on. This is also where the process log pays off enormously — students who logged have this material; students who didn't are reconstructing from memory.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This is a practical checklist students can take away and apply to a draft tonight. Frame it as a tool, not a hurdle. Each item maps to a slide they can return to. Suggest they run the checklist, fix the worst failure, and run it again. The six checks are roughly ordered by leverage — fixing the one-sentence claim usually fixes several downstream problems at once, because a muddy claim is what makes the warrant and the outline muddy too.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These are the failure modes that turn good work into weak submissions. The "burying the contribution" one is worth dwelling on: state your claim early and clearly, then spend the rest of the document earning it. Examiners shouldn't have to excavate your contribution. Each of these maps to something we've covered — they're not new sins, just the old ones showing up at the finish line.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End by widening the lens. This isn't just about passing the module — it's a transferable structure. Every time they need to convince someone their work matters, this is the move. The students heading into industry will pitch ideas; the ones heading into research will write papers and grants; the ones heading into independent practice will write statements and applications. The skill is identical. That's why this module exists.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Helvetica Neue"/>
              </a:rPr>
              <a:t>The closing slide — the entire eight weeks compressed into six lines. Read it slowly. This is the thing you want them to remember in two years when they're staring at a blank document trying to write up a project. Everything else was detail in service of these six steps. End on the definition: practice as research is not making with a write-up bolted on; it's making *as* a way of knowing, made legible to others through a clear, defended argument.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0474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1436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8446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2426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4598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9146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9931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782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0357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824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5618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481315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hyperlink" Target="https://www.arts.ac.uk/colleges/creative-computing-institute"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edinburghuniversitypress.com/book-practice-led-research-research-led-practice-in-the-creative-arts.html" TargetMode="External"/><Relationship Id="rId2" Type="http://schemas.openxmlformats.org/officeDocument/2006/relationships/hyperlink" Target="https://press.uchicago.edu/ucp/books/book/chicago/C/bo215874008.html" TargetMode="External"/><Relationship Id="rId1" Type="http://schemas.openxmlformats.org/officeDocument/2006/relationships/slideLayout" Target="../slideLayouts/slideLayout7.xml"/><Relationship Id="rId6" Type="http://schemas.openxmlformats.org/officeDocument/2006/relationships/hyperlink" Target="https://link.springer.com/book/10.1057/9781137282910" TargetMode="External"/><Relationship Id="rId5" Type="http://schemas.openxmlformats.org/officeDocument/2006/relationships/hyperlink" Target="https://www.creativityandcognition.com/wp-content/uploads/2011/04/PBR-Guide-1.1-2006.pdf" TargetMode="External"/><Relationship Id="rId4" Type="http://schemas.openxmlformats.org/officeDocument/2006/relationships/hyperlink" Target="https://www.routledge.com/The-Routledge-Companion-to-Research-in-the-Arts/Biggs-Karlsson/p/book/978041569794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800" b="1" i="0">
                <a:solidFill>
                  <a:srgbClr val="1A1A2E"/>
                </a:solidFill>
                <a:latin typeface="Helvetica Neue"/>
              </a:rPr>
              <a:t>MSc Creative Computing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a:t>
            </a:r>
          </a:p>
        </p:txBody>
      </p:sp>
      <p:graphicFrame>
        <p:nvGraphicFramePr>
          <p:cNvPr id="7" name="TextBox 3">
            <a:extLst>
              <a:ext uri="{FF2B5EF4-FFF2-40B4-BE49-F238E27FC236}">
                <a16:creationId xmlns:a16="http://schemas.microsoft.com/office/drawing/2014/main" id="{A7F57771-7205-2408-0F74-6A8D3B56042D}"/>
              </a:ext>
            </a:extLst>
          </p:cNvPr>
          <p:cNvGraphicFramePr/>
          <p:nvPr/>
        </p:nvGraphicFramePr>
        <p:xfrm>
          <a:off x="640080" y="1417320"/>
          <a:ext cx="10911535" cy="521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461665"/>
          </a:xfrm>
          <a:prstGeom prst="rect">
            <a:avLst/>
          </a:prstGeom>
          <a:noFill/>
        </p:spPr>
        <p:txBody>
          <a:bodyPr wrap="square">
            <a:spAutoFit/>
          </a:bodyPr>
          <a:lstStyle/>
          <a:p>
            <a:pPr algn="l">
              <a:buNone/>
            </a:pPr>
            <a:r>
              <a:rPr lang="en-GB" sz="2400" b="1" i="0" dirty="0">
                <a:solidFill>
                  <a:srgbClr val="1A1A2E"/>
                </a:solidFill>
                <a:latin typeface="Helvetica Neue"/>
              </a:rPr>
              <a:t>Practice as Research</a:t>
            </a:r>
            <a:endParaRPr sz="2400" b="1" i="0" dirty="0">
              <a:solidFill>
                <a:srgbClr val="1A1A2E"/>
              </a:solidFill>
              <a:latin typeface="Helvetica Neue"/>
            </a:endParaRP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1" i="0">
                <a:solidFill>
                  <a:srgbClr val="222222"/>
                </a:solidFill>
                <a:latin typeface="Helvetica Neue"/>
              </a:rPr>
              <a:t>Critical Framing</a:t>
            </a:r>
          </a:p>
          <a:p>
            <a:pPr algn="l">
              <a:buNone/>
            </a:pPr>
            <a:r>
              <a:rPr sz="2000" b="0" i="0">
                <a:solidFill>
                  <a:srgbClr val="222222"/>
                </a:solidFill>
                <a:latin typeface="Helvetica Neue"/>
              </a:rPr>
              <a:t>Refining your argument</a:t>
            </a:r>
          </a:p>
          <a:p>
            <a:pPr>
              <a:buNone/>
            </a:pPr>
            <a:endParaRPr sz="2000" b="0" i="0">
              <a:solidFill>
                <a:srgbClr val="222222"/>
              </a:solidFill>
              <a:latin typeface="Helvetica Neue"/>
            </a:endParaRPr>
          </a:p>
          <a:p>
            <a:pPr algn="l">
              <a:buNone/>
            </a:pPr>
            <a:r>
              <a:rPr sz="2000" b="0" i="0">
                <a:solidFill>
                  <a:srgbClr val="222222"/>
                </a:solidFill>
                <a:latin typeface="Helvetica Neue"/>
              </a:rPr>
              <a:t>Lecture 8 of 8 — Practice as Research</a:t>
            </a:r>
          </a:p>
          <a:p>
            <a:pPr algn="l">
              <a:buNone/>
            </a:pPr>
            <a:r>
              <a:rPr sz="2000" b="0" i="0">
                <a:solidFill>
                  <a:srgbClr val="222222"/>
                </a:solidFill>
                <a:latin typeface="Helvetica Neue"/>
              </a:rPr>
              <a:t>Mick Grierson, </a:t>
            </a:r>
            <a:r>
              <a:rPr sz="2000" b="0" i="0">
                <a:solidFill>
                  <a:srgbClr val="222222"/>
                </a:solidFill>
                <a:latin typeface="Helvetica Neue"/>
                <a:hlinkClick r:id="rId3"/>
              </a:rPr>
              <a:t>Creative Computing Institute</a:t>
            </a:r>
            <a:r>
              <a:rPr sz="2000" b="0" i="0">
                <a:solidFill>
                  <a:srgbClr val="222222"/>
                </a:solidFill>
                <a:latin typeface="Helvetica Neue"/>
              </a:rPr>
              <a:t>, UAL</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The whole arc</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417320"/>
          <a:ext cx="10911534" cy="3072384"/>
        </p:xfrm>
        <a:graphic>
          <a:graphicData uri="http://schemas.openxmlformats.org/drawingml/2006/table">
            <a:tbl>
              <a:tblPr firstRow="1" bandRow="1">
                <a:tableStyleId>{5C22544A-7EE6-4342-B048-85BDC9FD1C3A}</a:tableStyleId>
              </a:tblPr>
              <a:tblGrid>
                <a:gridCol w="5455767">
                  <a:extLst>
                    <a:ext uri="{9D8B030D-6E8A-4147-A177-3AD203B41FA5}">
                      <a16:colId xmlns:a16="http://schemas.microsoft.com/office/drawing/2014/main" val="20000"/>
                    </a:ext>
                  </a:extLst>
                </a:gridCol>
                <a:gridCol w="5455767">
                  <a:extLst>
                    <a:ext uri="{9D8B030D-6E8A-4147-A177-3AD203B41FA5}">
                      <a16:colId xmlns:a16="http://schemas.microsoft.com/office/drawing/2014/main" val="20001"/>
                    </a:ext>
                  </a:extLst>
                </a:gridCol>
              </a:tblGrid>
              <a:tr h="384048">
                <a:tc>
                  <a:txBody>
                    <a:bodyPr/>
                    <a:lstStyle/>
                    <a:p>
                      <a:r>
                        <a:rPr sz="1300" b="1" i="0">
                          <a:solidFill>
                            <a:srgbClr val="FFFFFF"/>
                          </a:solidFill>
                          <a:latin typeface="Helvetica Neue"/>
                        </a:rPr>
                        <a:t>Weeks</a:t>
                      </a:r>
                    </a:p>
                  </a:txBody>
                  <a:tcPr>
                    <a:solidFill>
                      <a:srgbClr val="1A1A2E"/>
                    </a:solidFill>
                  </a:tcPr>
                </a:tc>
                <a:tc>
                  <a:txBody>
                    <a:bodyPr/>
                    <a:lstStyle/>
                    <a:p>
                      <a:r>
                        <a:rPr sz="1300" b="1" i="0">
                          <a:solidFill>
                            <a:srgbClr val="FFFFFF"/>
                          </a:solidFill>
                          <a:latin typeface="Helvetica Neue"/>
                        </a:rPr>
                        <a:t>What we built</a:t>
                      </a:r>
                    </a:p>
                  </a:txBody>
                  <a:tcPr>
                    <a:solidFill>
                      <a:srgbClr val="1A1A2E"/>
                    </a:solidFill>
                  </a:tcPr>
                </a:tc>
                <a:extLst>
                  <a:ext uri="{0D108BD9-81ED-4DB2-BD59-A6C34878D82A}">
                    <a16:rowId xmlns:a16="http://schemas.microsoft.com/office/drawing/2014/main" val="10000"/>
                  </a:ext>
                </a:extLst>
              </a:tr>
              <a:tr h="384048">
                <a:tc>
                  <a:txBody>
                    <a:bodyPr/>
                    <a:lstStyle/>
                    <a:p>
                      <a:r>
                        <a:rPr sz="1300" b="0" i="0">
                          <a:solidFill>
                            <a:srgbClr val="222222"/>
                          </a:solidFill>
                          <a:latin typeface="Helvetica Neue"/>
                        </a:rPr>
                        <a:t>1</a:t>
                      </a:r>
                    </a:p>
                  </a:txBody>
                  <a:tcPr>
                    <a:solidFill>
                      <a:srgbClr val="FFFFFF"/>
                    </a:solidFill>
                  </a:tcPr>
                </a:tc>
                <a:tc>
                  <a:txBody>
                    <a:bodyPr/>
                    <a:lstStyle/>
                    <a:p>
                      <a:r>
                        <a:rPr sz="1300" b="0" i="0">
                          <a:solidFill>
                            <a:srgbClr val="222222"/>
                          </a:solidFill>
                          <a:latin typeface="Helvetica Neue"/>
                        </a:rPr>
                        <a:t>Research = edge + hypothesis + test</a:t>
                      </a:r>
                    </a:p>
                  </a:txBody>
                  <a:tcPr>
                    <a:solidFill>
                      <a:srgbClr val="FFFFFF"/>
                    </a:solidFill>
                  </a:tcPr>
                </a:tc>
                <a:extLst>
                  <a:ext uri="{0D108BD9-81ED-4DB2-BD59-A6C34878D82A}">
                    <a16:rowId xmlns:a16="http://schemas.microsoft.com/office/drawing/2014/main" val="10001"/>
                  </a:ext>
                </a:extLst>
              </a:tr>
              <a:tr h="384048">
                <a:tc>
                  <a:txBody>
                    <a:bodyPr/>
                    <a:lstStyle/>
                    <a:p>
                      <a:r>
                        <a:rPr sz="1300" b="0" i="0">
                          <a:solidFill>
                            <a:srgbClr val="222222"/>
                          </a:solidFill>
                          <a:latin typeface="Helvetica Neue"/>
                        </a:rPr>
                        <a:t>2</a:t>
                      </a:r>
                    </a:p>
                  </a:txBody>
                  <a:tcPr>
                    <a:solidFill>
                      <a:srgbClr val="EFF6FB"/>
                    </a:solidFill>
                  </a:tcPr>
                </a:tc>
                <a:tc>
                  <a:txBody>
                    <a:bodyPr/>
                    <a:lstStyle/>
                    <a:p>
                      <a:r>
                        <a:rPr sz="1300" b="0" i="0">
                          <a:solidFill>
                            <a:srgbClr val="222222"/>
                          </a:solidFill>
                          <a:latin typeface="Helvetica Neue"/>
                        </a:rPr>
                        <a:t>How practice produces knowledge</a:t>
                      </a:r>
                    </a:p>
                  </a:txBody>
                  <a:tcPr>
                    <a:solidFill>
                      <a:srgbClr val="EFF6FB"/>
                    </a:solidFill>
                  </a:tcPr>
                </a:tc>
                <a:extLst>
                  <a:ext uri="{0D108BD9-81ED-4DB2-BD59-A6C34878D82A}">
                    <a16:rowId xmlns:a16="http://schemas.microsoft.com/office/drawing/2014/main" val="10002"/>
                  </a:ext>
                </a:extLst>
              </a:tr>
              <a:tr h="384048">
                <a:tc>
                  <a:txBody>
                    <a:bodyPr/>
                    <a:lstStyle/>
                    <a:p>
                      <a:r>
                        <a:rPr sz="1300" b="0" i="0">
                          <a:solidFill>
                            <a:srgbClr val="222222"/>
                          </a:solidFill>
                          <a:latin typeface="Helvetica Neue"/>
                        </a:rPr>
                        <a:t>3</a:t>
                      </a:r>
                    </a:p>
                  </a:txBody>
                  <a:tcPr>
                    <a:solidFill>
                      <a:srgbClr val="FFFFFF"/>
                    </a:solidFill>
                  </a:tcPr>
                </a:tc>
                <a:tc>
                  <a:txBody>
                    <a:bodyPr/>
                    <a:lstStyle/>
                    <a:p>
                      <a:r>
                        <a:rPr sz="1300" b="0" i="0">
                          <a:solidFill>
                            <a:srgbClr val="222222"/>
                          </a:solidFill>
                          <a:latin typeface="Helvetica Neue"/>
                        </a:rPr>
                        <a:t>Finding the gap</a:t>
                      </a:r>
                    </a:p>
                  </a:txBody>
                  <a:tcPr>
                    <a:solidFill>
                      <a:srgbClr val="FFFFFF"/>
                    </a:solidFill>
                  </a:tcPr>
                </a:tc>
                <a:extLst>
                  <a:ext uri="{0D108BD9-81ED-4DB2-BD59-A6C34878D82A}">
                    <a16:rowId xmlns:a16="http://schemas.microsoft.com/office/drawing/2014/main" val="10003"/>
                  </a:ext>
                </a:extLst>
              </a:tr>
              <a:tr h="384048">
                <a:tc>
                  <a:txBody>
                    <a:bodyPr/>
                    <a:lstStyle/>
                    <a:p>
                      <a:r>
                        <a:rPr sz="1300" b="0" i="0">
                          <a:solidFill>
                            <a:srgbClr val="222222"/>
                          </a:solidFill>
                          <a:latin typeface="Helvetica Neue"/>
                        </a:rPr>
                        <a:t>4</a:t>
                      </a:r>
                    </a:p>
                  </a:txBody>
                  <a:tcPr>
                    <a:solidFill>
                      <a:srgbClr val="EFF6FB"/>
                    </a:solidFill>
                  </a:tcPr>
                </a:tc>
                <a:tc>
                  <a:txBody>
                    <a:bodyPr/>
                    <a:lstStyle/>
                    <a:p>
                      <a:r>
                        <a:rPr sz="1300" b="0" i="0">
                          <a:solidFill>
                            <a:srgbClr val="222222"/>
                          </a:solidFill>
                          <a:latin typeface="Helvetica Neue"/>
                        </a:rPr>
                        <a:t>Choosing methods</a:t>
                      </a:r>
                    </a:p>
                  </a:txBody>
                  <a:tcPr>
                    <a:solidFill>
                      <a:srgbClr val="EFF6FB"/>
                    </a:solidFill>
                  </a:tcPr>
                </a:tc>
                <a:extLst>
                  <a:ext uri="{0D108BD9-81ED-4DB2-BD59-A6C34878D82A}">
                    <a16:rowId xmlns:a16="http://schemas.microsoft.com/office/drawing/2014/main" val="10004"/>
                  </a:ext>
                </a:extLst>
              </a:tr>
              <a:tr h="384048">
                <a:tc>
                  <a:txBody>
                    <a:bodyPr/>
                    <a:lstStyle/>
                    <a:p>
                      <a:r>
                        <a:rPr sz="1300" b="0" i="0">
                          <a:solidFill>
                            <a:srgbClr val="222222"/>
                          </a:solidFill>
                          <a:latin typeface="Helvetica Neue"/>
                        </a:rPr>
                        <a:t>5–6</a:t>
                      </a:r>
                    </a:p>
                  </a:txBody>
                  <a:tcPr>
                    <a:solidFill>
                      <a:srgbClr val="FFFFFF"/>
                    </a:solidFill>
                  </a:tcPr>
                </a:tc>
                <a:tc>
                  <a:txBody>
                    <a:bodyPr/>
                    <a:lstStyle/>
                    <a:p>
                      <a:r>
                        <a:rPr sz="1300" b="0" i="0">
                          <a:solidFill>
                            <a:srgbClr val="222222"/>
                          </a:solidFill>
                          <a:latin typeface="Helvetica Neue"/>
                        </a:rPr>
                        <a:t>Reflection and documentation</a:t>
                      </a:r>
                    </a:p>
                  </a:txBody>
                  <a:tcPr>
                    <a:solidFill>
                      <a:srgbClr val="FFFFFF"/>
                    </a:solidFill>
                  </a:tcPr>
                </a:tc>
                <a:extLst>
                  <a:ext uri="{0D108BD9-81ED-4DB2-BD59-A6C34878D82A}">
                    <a16:rowId xmlns:a16="http://schemas.microsoft.com/office/drawing/2014/main" val="10005"/>
                  </a:ext>
                </a:extLst>
              </a:tr>
              <a:tr h="384048">
                <a:tc>
                  <a:txBody>
                    <a:bodyPr/>
                    <a:lstStyle/>
                    <a:p>
                      <a:r>
                        <a:rPr sz="1300" b="0" i="0">
                          <a:solidFill>
                            <a:srgbClr val="222222"/>
                          </a:solidFill>
                          <a:latin typeface="Helvetica Neue"/>
                        </a:rPr>
                        <a:t>7</a:t>
                      </a:r>
                    </a:p>
                  </a:txBody>
                  <a:tcPr>
                    <a:solidFill>
                      <a:srgbClr val="EFF6FB"/>
                    </a:solidFill>
                  </a:tcPr>
                </a:tc>
                <a:tc>
                  <a:txBody>
                    <a:bodyPr/>
                    <a:lstStyle/>
                    <a:p>
                      <a:r>
                        <a:rPr sz="1300" b="0" i="0">
                          <a:solidFill>
                            <a:srgbClr val="222222"/>
                          </a:solidFill>
                          <a:latin typeface="Helvetica Neue"/>
                        </a:rPr>
                        <a:t>Exhibition vs research output</a:t>
                      </a:r>
                    </a:p>
                  </a:txBody>
                  <a:tcPr>
                    <a:solidFill>
                      <a:srgbClr val="EFF6FB"/>
                    </a:solidFill>
                  </a:tcPr>
                </a:tc>
                <a:extLst>
                  <a:ext uri="{0D108BD9-81ED-4DB2-BD59-A6C34878D82A}">
                    <a16:rowId xmlns:a16="http://schemas.microsoft.com/office/drawing/2014/main" val="10006"/>
                  </a:ext>
                </a:extLst>
              </a:tr>
              <a:tr h="384048">
                <a:tc>
                  <a:txBody>
                    <a:bodyPr/>
                    <a:lstStyle/>
                    <a:p>
                      <a:r>
                        <a:rPr sz="1300" b="1" i="0">
                          <a:solidFill>
                            <a:srgbClr val="222222"/>
                          </a:solidFill>
                          <a:latin typeface="Helvetica Neue"/>
                        </a:rPr>
                        <a:t>8</a:t>
                      </a:r>
                    </a:p>
                  </a:txBody>
                  <a:tcPr>
                    <a:solidFill>
                      <a:srgbClr val="FFFFFF"/>
                    </a:solidFill>
                  </a:tcPr>
                </a:tc>
                <a:tc>
                  <a:txBody>
                    <a:bodyPr/>
                    <a:lstStyle/>
                    <a:p>
                      <a:r>
                        <a:rPr sz="1300" b="1" i="0">
                          <a:solidFill>
                            <a:srgbClr val="222222"/>
                          </a:solidFill>
                          <a:latin typeface="Helvetica Neue"/>
                        </a:rPr>
                        <a:t>Tying it together into an argument</a:t>
                      </a:r>
                    </a:p>
                  </a:txBody>
                  <a:tcP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40080" y="4626864"/>
            <a:ext cx="10911535" cy="2002536"/>
          </a:xfrm>
          <a:prstGeom prst="rect">
            <a:avLst/>
          </a:prstGeom>
          <a:noFill/>
        </p:spPr>
        <p:txBody>
          <a:bodyPr wrap="square">
            <a:spAutoFit/>
          </a:bodyPr>
          <a:lstStyle/>
          <a:p>
            <a:pPr algn="l">
              <a:buNone/>
            </a:pPr>
            <a:r>
              <a:rPr sz="1800" b="0" i="0">
                <a:solidFill>
                  <a:srgbClr val="222222"/>
                </a:solidFill>
                <a:latin typeface="Helvetica Neue"/>
              </a:rPr>
              <a:t>Today: how do all of these become </a:t>
            </a:r>
            <a:r>
              <a:rPr sz="1800" b="1" i="0">
                <a:solidFill>
                  <a:srgbClr val="222222"/>
                </a:solidFill>
                <a:latin typeface="Helvetica Neue"/>
              </a:rPr>
              <a:t>one coherent claim</a:t>
            </a:r>
            <a:r>
              <a:rPr sz="1800" b="0" i="0">
                <a:solidFill>
                  <a:srgbClr val="222222"/>
                </a:solidFill>
                <a:latin typeface="Helvetica Neue"/>
              </a:rPr>
              <a:t> that's meaningful for others?</a:t>
            </a:r>
          </a:p>
        </p:txBody>
      </p:sp>
      <p:sp>
        <p:nvSpPr>
          <p:cNvPr id="6" name="TextBox 5"/>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From project to argument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You don't have a research project until you can state, in one sentence:</a:t>
            </a:r>
          </a:p>
          <a:p>
            <a:pPr>
              <a:buNone/>
            </a:pPr>
            <a:endParaRPr sz="2000" b="0" i="0">
              <a:solidFill>
                <a:srgbClr val="222222"/>
              </a:solidFill>
              <a:latin typeface="Helvetica Neue"/>
            </a:endParaRPr>
          </a:p>
          <a:p>
            <a:pPr algn="l">
              <a:buNone/>
            </a:pPr>
            <a:r>
              <a:rPr sz="2000" b="0" i="0">
                <a:solidFill>
                  <a:srgbClr val="222222"/>
                </a:solidFill>
                <a:latin typeface="Helvetica Neue"/>
              </a:rPr>
              <a:t>&gt; </a:t>
            </a:r>
            <a:r>
              <a:rPr sz="2000" b="0" i="1">
                <a:solidFill>
                  <a:srgbClr val="222222"/>
                </a:solidFill>
                <a:latin typeface="Helvetica Neue"/>
              </a:rPr>
              <a:t>"I claim that X, because Y, as shown by Z."</a:t>
            </a:r>
          </a:p>
          <a:p>
            <a:pPr>
              <a:buNone/>
            </a:pPr>
            <a:endParaRPr sz="2000" b="0" i="1">
              <a:solidFill>
                <a:srgbClr val="222222"/>
              </a:solidFill>
              <a:latin typeface="Helvetica Neue"/>
            </a:endParaRPr>
          </a:p>
          <a:p>
            <a:pPr marL="342900" indent="-342900" algn="l">
              <a:buChar char="•"/>
            </a:pPr>
            <a:r>
              <a:rPr sz="2000" b="1" i="0">
                <a:solidFill>
                  <a:srgbClr val="222222"/>
                </a:solidFill>
                <a:latin typeface="Helvetica Neue"/>
              </a:rPr>
              <a:t>X</a:t>
            </a:r>
            <a:r>
              <a:rPr sz="2000" b="0" i="0">
                <a:solidFill>
                  <a:srgbClr val="222222"/>
                </a:solidFill>
                <a:latin typeface="Helvetica Neue"/>
              </a:rPr>
              <a:t> = your contribution (the new thing you know)</a:t>
            </a:r>
          </a:p>
          <a:p>
            <a:pPr marL="342900" indent="-342900" algn="l">
              <a:buChar char="•"/>
            </a:pPr>
            <a:r>
              <a:rPr sz="2000" b="1" i="0">
                <a:solidFill>
                  <a:srgbClr val="222222"/>
                </a:solidFill>
                <a:latin typeface="Helvetica Neue"/>
              </a:rPr>
              <a:t>Y</a:t>
            </a:r>
            <a:r>
              <a:rPr sz="2000" b="0" i="0">
                <a:solidFill>
                  <a:srgbClr val="222222"/>
                </a:solidFill>
                <a:latin typeface="Helvetica Neue"/>
              </a:rPr>
              <a:t> = your reasoning (why it follows)</a:t>
            </a:r>
          </a:p>
          <a:p>
            <a:pPr marL="342900" indent="-342900" algn="l">
              <a:buChar char="•"/>
            </a:pPr>
            <a:r>
              <a:rPr sz="2000" b="1" i="0">
                <a:solidFill>
                  <a:srgbClr val="222222"/>
                </a:solidFill>
                <a:latin typeface="Helvetica Neue"/>
              </a:rPr>
              <a:t>Z</a:t>
            </a:r>
            <a:r>
              <a:rPr sz="2000" b="0" i="0">
                <a:solidFill>
                  <a:srgbClr val="222222"/>
                </a:solidFill>
                <a:latin typeface="Helvetica Neue"/>
              </a:rPr>
              <a:t> = your evidence (artefact, documentation, study, analysis)</a:t>
            </a:r>
          </a:p>
          <a:p>
            <a:pPr>
              <a:buNone/>
            </a:pPr>
            <a:endParaRPr sz="2000" b="0" i="0">
              <a:solidFill>
                <a:srgbClr val="222222"/>
              </a:solidFill>
              <a:latin typeface="Helvetica Neue"/>
            </a:endParaRPr>
          </a:p>
          <a:p>
            <a:pPr algn="l">
              <a:buNone/>
            </a:pPr>
            <a:r>
              <a:rPr sz="2000" b="0" i="0">
                <a:solidFill>
                  <a:srgbClr val="222222"/>
                </a:solidFill>
                <a:latin typeface="Helvetica Neue"/>
              </a:rPr>
              <a:t>Everything you've made and written is in service of that one sentence.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The "So what?" test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Booth, Colomb &amp; Williams (</a:t>
            </a:r>
            <a:r>
              <a:rPr sz="2000" b="0" i="1">
                <a:solidFill>
                  <a:srgbClr val="222222"/>
                </a:solidFill>
                <a:latin typeface="Helvetica Neue"/>
              </a:rPr>
              <a:t>The Craft of Research</a:t>
            </a:r>
            <a:r>
              <a:rPr sz="2000" b="0" i="0">
                <a:solidFill>
                  <a:srgbClr val="222222"/>
                </a:solidFill>
                <a:latin typeface="Helvetica Neue"/>
              </a:rPr>
              <a:t>) propose the most useful question in research:</a:t>
            </a:r>
          </a:p>
          <a:p>
            <a:pPr>
              <a:buNone/>
            </a:pPr>
            <a:endParaRPr sz="2000" b="0" i="0">
              <a:solidFill>
                <a:srgbClr val="222222"/>
              </a:solidFill>
              <a:latin typeface="Helvetica Neue"/>
            </a:endParaRPr>
          </a:p>
          <a:p>
            <a:pPr algn="l">
              <a:buNone/>
            </a:pPr>
            <a:r>
              <a:rPr sz="2000" b="1" i="0">
                <a:solidFill>
                  <a:srgbClr val="222222"/>
                </a:solidFill>
                <a:latin typeface="Helvetica Neue"/>
              </a:rPr>
              <a:t>"So what?"</a:t>
            </a:r>
          </a:p>
          <a:p>
            <a:pPr>
              <a:buNone/>
            </a:pPr>
            <a:endParaRPr sz="2000" b="1" i="0">
              <a:solidFill>
                <a:srgbClr val="222222"/>
              </a:solidFill>
              <a:latin typeface="Helvetica Neue"/>
            </a:endParaRPr>
          </a:p>
          <a:p>
            <a:pPr marL="342900" indent="-342900" algn="l">
              <a:buChar char="•"/>
            </a:pPr>
            <a:r>
              <a:rPr sz="2000" b="0" i="0">
                <a:solidFill>
                  <a:srgbClr val="222222"/>
                </a:solidFill>
                <a:latin typeface="Helvetica Neue"/>
              </a:rPr>
              <a:t>I made a generative audio system. </a:t>
            </a:r>
            <a:r>
              <a:rPr sz="2000" b="0" i="1">
                <a:solidFill>
                  <a:srgbClr val="222222"/>
                </a:solidFill>
                <a:latin typeface="Helvetica Neue"/>
              </a:rPr>
              <a:t>So what?</a:t>
            </a:r>
          </a:p>
          <a:p>
            <a:pPr marL="342900" indent="-342900" algn="l">
              <a:buChar char="•"/>
            </a:pPr>
            <a:r>
              <a:rPr sz="2000" b="0" i="0">
                <a:solidFill>
                  <a:srgbClr val="222222"/>
                </a:solidFill>
                <a:latin typeface="Helvetica Neue"/>
              </a:rPr>
              <a:t>It produces outputs in real time from gesture. </a:t>
            </a:r>
            <a:r>
              <a:rPr sz="2000" b="0" i="1">
                <a:solidFill>
                  <a:srgbClr val="222222"/>
                </a:solidFill>
                <a:latin typeface="Helvetica Neue"/>
              </a:rPr>
              <a:t>So what?</a:t>
            </a:r>
          </a:p>
          <a:p>
            <a:pPr marL="342900" indent="-342900" algn="l">
              <a:buChar char="•"/>
            </a:pPr>
            <a:r>
              <a:rPr sz="2000" b="0" i="0">
                <a:solidFill>
                  <a:srgbClr val="222222"/>
                </a:solidFill>
                <a:latin typeface="Helvetica Neue"/>
              </a:rPr>
              <a:t>It shows that embodied, low-latency control changes how performers relate to generative material — a relationship the offline-generation literature can't account for. </a:t>
            </a:r>
            <a:r>
              <a:rPr sz="2000" b="1" i="0">
                <a:solidFill>
                  <a:srgbClr val="222222"/>
                </a:solidFill>
                <a:latin typeface="Helvetica Neue"/>
              </a:rPr>
              <a:t>← there's the contribution.</a:t>
            </a:r>
          </a:p>
          <a:p>
            <a:pPr>
              <a:buNone/>
            </a:pPr>
            <a:endParaRPr sz="2000" b="1" i="0">
              <a:solidFill>
                <a:srgbClr val="222222"/>
              </a:solidFill>
              <a:latin typeface="Helvetica Neue"/>
            </a:endParaRPr>
          </a:p>
          <a:p>
            <a:pPr algn="l">
              <a:buNone/>
            </a:pPr>
            <a:r>
              <a:rPr sz="2000" b="0" i="0">
                <a:solidFill>
                  <a:srgbClr val="222222"/>
                </a:solidFill>
                <a:latin typeface="Helvetica Neue"/>
              </a:rPr>
              <a:t>Keep asking "so what?" until you hit something the field would care about.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6</a:t>
            </a:r>
          </a:p>
        </p:txBody>
      </p:sp>
      <p:pic>
        <p:nvPicPr>
          <p:cNvPr id="7" name="Picture 6" descr="A screenshot of a computer&#10;&#10;Description automatically generated">
            <a:extLst>
              <a:ext uri="{FF2B5EF4-FFF2-40B4-BE49-F238E27FC236}">
                <a16:creationId xmlns:a16="http://schemas.microsoft.com/office/drawing/2014/main" id="{F50B889C-5398-FF83-E9D4-B1989073DC4B}"/>
              </a:ext>
            </a:extLst>
          </p:cNvPr>
          <p:cNvPicPr>
            <a:picLocks noChangeAspect="1"/>
          </p:cNvPicPr>
          <p:nvPr/>
        </p:nvPicPr>
        <p:blipFill>
          <a:blip r:embed="rId3"/>
          <a:stretch>
            <a:fillRect/>
          </a:stretch>
        </p:blipFill>
        <p:spPr>
          <a:xfrm>
            <a:off x="367862" y="206922"/>
            <a:ext cx="11824138" cy="6651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The shape of an argument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dirty="0">
                <a:solidFill>
                  <a:srgbClr val="222222"/>
                </a:solidFill>
                <a:latin typeface="Helvetica Neue"/>
              </a:rPr>
              <a:t>Toulmin (1958) gives us the parts:</a:t>
            </a:r>
          </a:p>
          <a:p>
            <a:pPr>
              <a:buNone/>
            </a:pPr>
            <a:endParaRPr sz="2000" b="0" i="0" dirty="0">
              <a:solidFill>
                <a:srgbClr val="222222"/>
              </a:solidFill>
              <a:latin typeface="Helvetica Neue"/>
            </a:endParaRPr>
          </a:p>
          <a:p>
            <a:pPr marL="342900" indent="-342900" algn="l">
              <a:buChar char="•"/>
            </a:pPr>
            <a:r>
              <a:rPr sz="2000" b="1" i="0" dirty="0">
                <a:solidFill>
                  <a:srgbClr val="222222"/>
                </a:solidFill>
                <a:latin typeface="Helvetica Neue"/>
              </a:rPr>
              <a:t>Claim</a:t>
            </a:r>
            <a:r>
              <a:rPr sz="2000" b="0" i="0" dirty="0">
                <a:solidFill>
                  <a:srgbClr val="222222"/>
                </a:solidFill>
                <a:latin typeface="Helvetica Neue"/>
              </a:rPr>
              <a:t> — what you assert (your X).</a:t>
            </a:r>
          </a:p>
          <a:p>
            <a:pPr marL="342900" indent="-342900" algn="l">
              <a:buChar char="•"/>
            </a:pPr>
            <a:r>
              <a:rPr sz="2000" b="1" i="0" dirty="0">
                <a:solidFill>
                  <a:srgbClr val="222222"/>
                </a:solidFill>
                <a:latin typeface="Helvetica Neue"/>
              </a:rPr>
              <a:t>Grounds</a:t>
            </a:r>
            <a:r>
              <a:rPr sz="2000" b="0" i="0" dirty="0">
                <a:solidFill>
                  <a:srgbClr val="222222"/>
                </a:solidFill>
                <a:latin typeface="Helvetica Neue"/>
              </a:rPr>
              <a:t> — the evidence (your Z: artefact, study, documentation).</a:t>
            </a:r>
          </a:p>
          <a:p>
            <a:pPr marL="342900" indent="-342900" algn="l">
              <a:buChar char="•"/>
            </a:pPr>
            <a:r>
              <a:rPr sz="2000" b="1" i="0" dirty="0">
                <a:solidFill>
                  <a:srgbClr val="222222"/>
                </a:solidFill>
                <a:latin typeface="Helvetica Neue"/>
              </a:rPr>
              <a:t>Warrant</a:t>
            </a:r>
            <a:r>
              <a:rPr sz="2000" b="0" i="0" dirty="0">
                <a:solidFill>
                  <a:srgbClr val="222222"/>
                </a:solidFill>
                <a:latin typeface="Helvetica Neue"/>
              </a:rPr>
              <a:t> — the link that explains </a:t>
            </a:r>
            <a:r>
              <a:rPr sz="2000" b="0" i="1" dirty="0">
                <a:solidFill>
                  <a:srgbClr val="222222"/>
                </a:solidFill>
                <a:latin typeface="Helvetica Neue"/>
              </a:rPr>
              <a:t>why</a:t>
            </a:r>
            <a:r>
              <a:rPr sz="2000" b="0" i="0" dirty="0">
                <a:solidFill>
                  <a:srgbClr val="222222"/>
                </a:solidFill>
                <a:latin typeface="Helvetica Neue"/>
              </a:rPr>
              <a:t> the grounds support the claim.</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The </a:t>
            </a:r>
            <a:r>
              <a:rPr sz="2000" b="1" i="0" dirty="0">
                <a:solidFill>
                  <a:srgbClr val="222222"/>
                </a:solidFill>
                <a:latin typeface="Helvetica Neue"/>
              </a:rPr>
              <a:t>warrant</a:t>
            </a:r>
            <a:r>
              <a:rPr sz="2000" b="0" i="0" dirty="0">
                <a:solidFill>
                  <a:srgbClr val="222222"/>
                </a:solidFill>
                <a:latin typeface="Helvetica Neue"/>
              </a:rPr>
              <a:t> is the part students forget. It's the reasoning that connects "here's my evidence" to "therefore my claim holds."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p:cNvSpPr txBox="1"/>
          <p:nvPr/>
        </p:nvSpPr>
        <p:spPr>
          <a:xfrm>
            <a:off x="11094415" y="6446520"/>
            <a:ext cx="914400" cy="320040"/>
          </a:xfrm>
          <a:prstGeom prst="rect">
            <a:avLst/>
          </a:prstGeom>
          <a:noFill/>
        </p:spPr>
        <p:txBody>
          <a:bodyPr wrap="square">
            <a:spAutoFit/>
          </a:bodyPr>
          <a:lstStyle/>
          <a:p>
            <a:pPr algn="r">
              <a:buNone/>
            </a:pPr>
            <a:r>
              <a:rPr lang="en-GB" sz="1000">
                <a:solidFill>
                  <a:srgbClr val="AAAAAA"/>
                </a:solidFill>
                <a:latin typeface="Helvetica Neue"/>
              </a:rPr>
              <a:t>8</a:t>
            </a:r>
          </a:p>
        </p:txBody>
      </p:sp>
      <p:pic>
        <p:nvPicPr>
          <p:cNvPr id="7" name="Picture 6" descr="A diagram of a diagram&#10;&#10;Description automatically generated">
            <a:extLst>
              <a:ext uri="{FF2B5EF4-FFF2-40B4-BE49-F238E27FC236}">
                <a16:creationId xmlns:a16="http://schemas.microsoft.com/office/drawing/2014/main" id="{88BA3C9C-4FD3-55D7-59BE-8A1B292644F7}"/>
              </a:ext>
            </a:extLst>
          </p:cNvPr>
          <p:cNvPicPr>
            <a:picLocks noChangeAspect="1"/>
          </p:cNvPicPr>
          <p:nvPr/>
        </p:nvPicPr>
        <p:blipFill>
          <a:blip r:embed="rId3"/>
          <a:stretch>
            <a:fillRect/>
          </a:stretch>
        </p:blipFill>
        <p:spPr>
          <a:xfrm>
            <a:off x="0" y="0"/>
            <a:ext cx="12029440" cy="6766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Synthesis is not summary</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Bringing your work together is </a:t>
            </a:r>
            <a:r>
              <a:rPr sz="2000" b="1" i="0">
                <a:solidFill>
                  <a:srgbClr val="222222"/>
                </a:solidFill>
                <a:latin typeface="Helvetica Neue"/>
              </a:rPr>
              <a:t>synthesis</a:t>
            </a:r>
            <a:r>
              <a:rPr sz="2000" b="0" i="0">
                <a:solidFill>
                  <a:srgbClr val="222222"/>
                </a:solidFill>
                <a:latin typeface="Helvetica Neue"/>
              </a:rPr>
              <a:t>, not summary.</a:t>
            </a:r>
          </a:p>
          <a:p>
            <a:pPr>
              <a:buNone/>
            </a:pPr>
            <a:endParaRPr sz="2000" b="0" i="0">
              <a:solidFill>
                <a:srgbClr val="222222"/>
              </a:solidFill>
              <a:latin typeface="Helvetica Neue"/>
            </a:endParaRPr>
          </a:p>
          <a:p>
            <a:pPr marL="342900" indent="-342900" algn="l">
              <a:buChar char="•"/>
            </a:pPr>
            <a:r>
              <a:rPr sz="2000" b="1" i="0">
                <a:solidFill>
                  <a:srgbClr val="222222"/>
                </a:solidFill>
                <a:latin typeface="Helvetica Neue"/>
              </a:rPr>
              <a:t>Summary:</a:t>
            </a:r>
            <a:r>
              <a:rPr sz="2000" b="0" i="0">
                <a:solidFill>
                  <a:srgbClr val="222222"/>
                </a:solidFill>
                <a:latin typeface="Helvetica Neue"/>
              </a:rPr>
              <a:t> "Here's what I read. Here's what I made. Here's what happened." (A list.)</a:t>
            </a:r>
          </a:p>
          <a:p>
            <a:pPr marL="342900" indent="-342900" algn="l">
              <a:buChar char="•"/>
            </a:pPr>
            <a:r>
              <a:rPr sz="2000" b="1" i="0">
                <a:solidFill>
                  <a:srgbClr val="222222"/>
                </a:solidFill>
                <a:latin typeface="Helvetica Neue"/>
              </a:rPr>
              <a:t>Synthesis:</a:t>
            </a:r>
            <a:r>
              <a:rPr sz="2000" b="0" i="0">
                <a:solidFill>
                  <a:srgbClr val="222222"/>
                </a:solidFill>
                <a:latin typeface="Helvetica Neue"/>
              </a:rPr>
              <a:t> "These ideas, this making, and these results </a:t>
            </a:r>
            <a:r>
              <a:rPr sz="2000" b="0" i="1">
                <a:solidFill>
                  <a:srgbClr val="222222"/>
                </a:solidFill>
                <a:latin typeface="Helvetica Neue"/>
              </a:rPr>
              <a:t>together</a:t>
            </a:r>
            <a:r>
              <a:rPr sz="2000" b="0" i="0">
                <a:solidFill>
                  <a:srgbClr val="222222"/>
                </a:solidFill>
                <a:latin typeface="Helvetica Neue"/>
              </a:rPr>
              <a:t> point to something none of them shows alone." (A claim.)</a:t>
            </a:r>
          </a:p>
          <a:p>
            <a:pPr>
              <a:buNone/>
            </a:pPr>
            <a:endParaRPr sz="2000" b="0" i="0">
              <a:solidFill>
                <a:srgbClr val="222222"/>
              </a:solidFill>
              <a:latin typeface="Helvetica Neue"/>
            </a:endParaRPr>
          </a:p>
          <a:p>
            <a:pPr algn="l">
              <a:buNone/>
            </a:pPr>
            <a:r>
              <a:rPr sz="2000" b="0" i="0">
                <a:solidFill>
                  <a:srgbClr val="222222"/>
                </a:solidFill>
                <a:latin typeface="Helvetica Neue"/>
              </a:rPr>
              <a:t>Synthesis is the move from </a:t>
            </a:r>
            <a:r>
              <a:rPr sz="2000" b="0" i="1">
                <a:solidFill>
                  <a:srgbClr val="222222"/>
                </a:solidFill>
                <a:latin typeface="Helvetica Neue"/>
              </a:rPr>
              <a:t>components</a:t>
            </a:r>
            <a:r>
              <a:rPr sz="2000" b="0" i="0">
                <a:solidFill>
                  <a:srgbClr val="222222"/>
                </a:solidFill>
                <a:latin typeface="Helvetica Neue"/>
              </a:rPr>
              <a:t> to </a:t>
            </a:r>
            <a:r>
              <a:rPr sz="2000" b="0" i="1">
                <a:solidFill>
                  <a:srgbClr val="222222"/>
                </a:solidFill>
                <a:latin typeface="Helvetica Neue"/>
              </a:rPr>
              <a:t>contribution</a:t>
            </a:r>
            <a:r>
              <a:rPr sz="2000" b="0" i="0">
                <a:solidFill>
                  <a:srgbClr val="222222"/>
                </a:solidFill>
                <a:latin typeface="Helvetica Neue"/>
              </a:rPr>
              <a: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Where your contribution comes from</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Recall the five kinds of knowledge from Week 2. Your contribution usually lives in one or more:</a:t>
            </a:r>
          </a:p>
          <a:p>
            <a:pPr>
              <a:buNone/>
            </a:pPr>
            <a:endParaRPr sz="1800" b="0" i="0">
              <a:solidFill>
                <a:srgbClr val="222222"/>
              </a:solidFill>
              <a:latin typeface="Helvetica Neue"/>
            </a:endParaRPr>
          </a:p>
          <a:p>
            <a:pPr marL="342900" indent="-342900" algn="l">
              <a:buChar char="•"/>
            </a:pPr>
            <a:r>
              <a:rPr sz="1800" b="1" i="0">
                <a:solidFill>
                  <a:srgbClr val="222222"/>
                </a:solidFill>
                <a:latin typeface="Helvetica Neue"/>
              </a:rPr>
              <a:t>Procedural</a:t>
            </a:r>
            <a:r>
              <a:rPr sz="1800" b="0" i="0">
                <a:solidFill>
                  <a:srgbClr val="222222"/>
                </a:solidFill>
                <a:latin typeface="Helvetica Neue"/>
              </a:rPr>
              <a:t> — a new technique or method</a:t>
            </a:r>
          </a:p>
          <a:p>
            <a:pPr marL="342900" indent="-342900" algn="l">
              <a:buChar char="•"/>
            </a:pPr>
            <a:r>
              <a:rPr sz="1800" b="1" i="0">
                <a:solidFill>
                  <a:srgbClr val="222222"/>
                </a:solidFill>
                <a:latin typeface="Helvetica Neue"/>
              </a:rPr>
              <a:t>Experiential</a:t>
            </a:r>
            <a:r>
              <a:rPr sz="1800" b="0" i="0">
                <a:solidFill>
                  <a:srgbClr val="222222"/>
                </a:solidFill>
                <a:latin typeface="Helvetica Neue"/>
              </a:rPr>
              <a:t> — what it's like to encounter or use the work</a:t>
            </a:r>
          </a:p>
          <a:p>
            <a:pPr marL="342900" indent="-342900" algn="l">
              <a:buChar char="•"/>
            </a:pPr>
            <a:r>
              <a:rPr sz="1800" b="1" i="0">
                <a:solidFill>
                  <a:srgbClr val="222222"/>
                </a:solidFill>
                <a:latin typeface="Helvetica Neue"/>
              </a:rPr>
              <a:t>Tacit</a:t>
            </a:r>
            <a:r>
              <a:rPr sz="1800" b="0" i="0">
                <a:solidFill>
                  <a:srgbClr val="222222"/>
                </a:solidFill>
                <a:latin typeface="Helvetica Neue"/>
              </a:rPr>
              <a:t> — embodied skill and judgement, made partly explicit</a:t>
            </a:r>
          </a:p>
          <a:p>
            <a:pPr marL="342900" indent="-342900" algn="l">
              <a:buChar char="•"/>
            </a:pPr>
            <a:r>
              <a:rPr sz="1800" b="1" i="0">
                <a:solidFill>
                  <a:srgbClr val="222222"/>
                </a:solidFill>
                <a:latin typeface="Helvetica Neue"/>
              </a:rPr>
              <a:t>Propositional</a:t>
            </a:r>
            <a:r>
              <a:rPr sz="1800" b="0" i="0">
                <a:solidFill>
                  <a:srgbClr val="222222"/>
                </a:solidFill>
                <a:latin typeface="Helvetica Neue"/>
              </a:rPr>
              <a:t> — a testable claim</a:t>
            </a:r>
          </a:p>
          <a:p>
            <a:pPr marL="342900" indent="-342900" algn="l">
              <a:buChar char="•"/>
            </a:pPr>
            <a:r>
              <a:rPr sz="1800" b="1" i="0">
                <a:solidFill>
                  <a:srgbClr val="222222"/>
                </a:solidFill>
                <a:latin typeface="Helvetica Neue"/>
              </a:rPr>
              <a:t>Critical</a:t>
            </a:r>
            <a:r>
              <a:rPr sz="1800" b="0" i="0">
                <a:solidFill>
                  <a:srgbClr val="222222"/>
                </a:solidFill>
                <a:latin typeface="Helvetica Neue"/>
              </a:rPr>
              <a:t> — a new way of framing a problem</a:t>
            </a:r>
          </a:p>
          <a:p>
            <a:pPr>
              <a:buNone/>
            </a:pPr>
            <a:endParaRPr sz="1800" b="0" i="0">
              <a:solidFill>
                <a:srgbClr val="222222"/>
              </a:solidFill>
              <a:latin typeface="Helvetica Neue"/>
            </a:endParaRPr>
          </a:p>
          <a:p>
            <a:pPr algn="l">
              <a:buNone/>
            </a:pPr>
            <a:r>
              <a:rPr sz="1800" b="0" i="0">
                <a:solidFill>
                  <a:srgbClr val="222222"/>
                </a:solidFill>
                <a:latin typeface="Helvetica Neue"/>
              </a:rPr>
              <a:t>Name which one(s) you're claiming. "My contribution is </a:t>
            </a:r>
            <a:r>
              <a:rPr sz="1800" b="0" i="1">
                <a:solidFill>
                  <a:srgbClr val="222222"/>
                </a:solidFill>
                <a:latin typeface="Helvetica Neue"/>
              </a:rPr>
              <a:t>critical and procedural</a:t>
            </a:r>
            <a:r>
              <a:rPr sz="1800" b="0" i="0">
                <a:solidFill>
                  <a:srgbClr val="222222"/>
                </a:solidFill>
                <a:latin typeface="Helvetica Neue"/>
              </a:rPr>
              <a:t>: a new technique, and a new way of thinking about what it's for."</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Finding your voice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"Voice" sounds mystical. It isn't. Your voice is:</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the </a:t>
            </a:r>
            <a:r>
              <a:rPr sz="2000" b="1" i="0">
                <a:solidFill>
                  <a:srgbClr val="222222"/>
                </a:solidFill>
                <a:latin typeface="Helvetica Neue"/>
              </a:rPr>
              <a:t>questions</a:t>
            </a:r>
            <a:r>
              <a:rPr sz="2000" b="0" i="0">
                <a:solidFill>
                  <a:srgbClr val="222222"/>
                </a:solidFill>
                <a:latin typeface="Helvetica Neue"/>
              </a:rPr>
              <a:t> you find worth asking,</a:t>
            </a:r>
          </a:p>
          <a:p>
            <a:pPr marL="342900" indent="-342900" algn="l">
              <a:buChar char="•"/>
            </a:pPr>
            <a:r>
              <a:rPr sz="2000" b="0" i="0">
                <a:solidFill>
                  <a:srgbClr val="222222"/>
                </a:solidFill>
                <a:latin typeface="Helvetica Neue"/>
              </a:rPr>
              <a:t>the </a:t>
            </a:r>
            <a:r>
              <a:rPr sz="2000" b="1" i="0">
                <a:solidFill>
                  <a:srgbClr val="222222"/>
                </a:solidFill>
                <a:latin typeface="Helvetica Neue"/>
              </a:rPr>
              <a:t>connections</a:t>
            </a:r>
            <a:r>
              <a:rPr sz="2000" b="0" i="0">
                <a:solidFill>
                  <a:srgbClr val="222222"/>
                </a:solidFill>
                <a:latin typeface="Helvetica Neue"/>
              </a:rPr>
              <a:t> you see that others miss,</a:t>
            </a:r>
          </a:p>
          <a:p>
            <a:pPr marL="342900" indent="-342900" algn="l">
              <a:buChar char="•"/>
            </a:pPr>
            <a:r>
              <a:rPr sz="2000" b="0" i="0">
                <a:solidFill>
                  <a:srgbClr val="222222"/>
                </a:solidFill>
                <a:latin typeface="Helvetica Neue"/>
              </a:rPr>
              <a:t>the </a:t>
            </a:r>
            <a:r>
              <a:rPr sz="2000" b="1" i="0">
                <a:solidFill>
                  <a:srgbClr val="222222"/>
                </a:solidFill>
                <a:latin typeface="Helvetica Neue"/>
              </a:rPr>
              <a:t>stance</a:t>
            </a:r>
            <a:r>
              <a:rPr sz="2000" b="0" i="0">
                <a:solidFill>
                  <a:srgbClr val="222222"/>
                </a:solidFill>
                <a:latin typeface="Helvetica Neue"/>
              </a:rPr>
              <a:t> you take on what matters and why.</a:t>
            </a:r>
          </a:p>
          <a:p>
            <a:pPr>
              <a:buNone/>
            </a:pPr>
            <a:endParaRPr sz="2000" b="0" i="0">
              <a:solidFill>
                <a:srgbClr val="222222"/>
              </a:solidFill>
              <a:latin typeface="Helvetica Neue"/>
            </a:endParaRPr>
          </a:p>
          <a:p>
            <a:pPr algn="l">
              <a:buNone/>
            </a:pPr>
            <a:r>
              <a:rPr sz="2000" b="0" i="0">
                <a:solidFill>
                  <a:srgbClr val="222222"/>
                </a:solidFill>
                <a:latin typeface="Helvetica Neue"/>
              </a:rPr>
              <a:t>It emerges from your particular mix of skills, references, and obsessions. You don't invent it — you </a:t>
            </a:r>
            <a:r>
              <a:rPr sz="2000" b="0" i="1">
                <a:solidFill>
                  <a:srgbClr val="222222"/>
                </a:solidFill>
                <a:latin typeface="Helvetica Neue"/>
              </a:rPr>
              <a:t>notice</a:t>
            </a:r>
            <a:r>
              <a:rPr sz="2000" b="0" i="0">
                <a:solidFill>
                  <a:srgbClr val="222222"/>
                </a:solidFill>
                <a:latin typeface="Helvetica Neue"/>
              </a:rPr>
              <a:t> it, then sharpen it.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Voice is a position, not a style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Your voice isn't about flowery writing. It's about taking a </a:t>
            </a:r>
            <a:r>
              <a:rPr sz="2000" b="1" i="0">
                <a:solidFill>
                  <a:srgbClr val="222222"/>
                </a:solidFill>
                <a:latin typeface="Helvetica Neue"/>
              </a:rPr>
              <a:t>defensible position</a:t>
            </a:r>
            <a:r>
              <a:rPr sz="2000" b="0" i="0">
                <a:solidFill>
                  <a:srgbClr val="222222"/>
                </a:solidFill>
                <a:latin typeface="Helvetica Neue"/>
              </a:rPr>
              <a:t>.</a:t>
            </a:r>
          </a:p>
          <a:p>
            <a:pPr>
              <a:buNone/>
            </a:pPr>
            <a:endParaRPr sz="2000" b="0" i="0">
              <a:solidFill>
                <a:srgbClr val="222222"/>
              </a:solidFill>
              <a:latin typeface="Helvetica Neue"/>
            </a:endParaRPr>
          </a:p>
          <a:p>
            <a:pPr algn="l">
              <a:buNone/>
            </a:pPr>
            <a:r>
              <a:rPr sz="2000" b="0" i="0">
                <a:solidFill>
                  <a:srgbClr val="222222"/>
                </a:solidFill>
                <a:latin typeface="Helvetica Neue"/>
              </a:rPr>
              <a:t>Weak: "There are many interesting perspectives on generative music, and all have merit."</a:t>
            </a:r>
          </a:p>
          <a:p>
            <a:pPr>
              <a:buNone/>
            </a:pPr>
            <a:endParaRPr sz="2000" b="0" i="0">
              <a:solidFill>
                <a:srgbClr val="222222"/>
              </a:solidFill>
              <a:latin typeface="Helvetica Neue"/>
            </a:endParaRPr>
          </a:p>
          <a:p>
            <a:pPr algn="l">
              <a:buNone/>
            </a:pPr>
            <a:r>
              <a:rPr sz="2000" b="0" i="0">
                <a:solidFill>
                  <a:srgbClr val="222222"/>
                </a:solidFill>
                <a:latin typeface="Helvetica Neue"/>
              </a:rPr>
              <a:t>Strong: "The dominant framing of generative music as </a:t>
            </a:r>
            <a:r>
              <a:rPr sz="2000" b="0" i="1">
                <a:solidFill>
                  <a:srgbClr val="222222"/>
                </a:solidFill>
                <a:latin typeface="Helvetica Neue"/>
              </a:rPr>
              <a:t>automation</a:t>
            </a:r>
            <a:r>
              <a:rPr sz="2000" b="0" i="0">
                <a:solidFill>
                  <a:srgbClr val="222222"/>
                </a:solidFill>
                <a:latin typeface="Helvetica Neue"/>
              </a:rPr>
              <a:t> misses what matters: these systems are most interesting as </a:t>
            </a:r>
            <a:r>
              <a:rPr sz="2000" b="0" i="1">
                <a:solidFill>
                  <a:srgbClr val="222222"/>
                </a:solidFill>
                <a:latin typeface="Helvetica Neue"/>
              </a:rPr>
              <a:t>instruments</a:t>
            </a:r>
            <a:r>
              <a:rPr sz="2000" b="0" i="0">
                <a:solidFill>
                  <a:srgbClr val="222222"/>
                </a:solidFill>
                <a:latin typeface="Helvetica Neue"/>
              </a:rPr>
              <a:t>, not composers. My work proceeds from that position."</a:t>
            </a:r>
          </a:p>
          <a:p>
            <a:pPr>
              <a:buNone/>
            </a:pPr>
            <a:endParaRPr sz="2000" b="0" i="0">
              <a:solidFill>
                <a:srgbClr val="222222"/>
              </a:solidFill>
              <a:latin typeface="Helvetica Neue"/>
            </a:endParaRPr>
          </a:p>
          <a:p>
            <a:pPr algn="l">
              <a:buNone/>
            </a:pPr>
            <a:r>
              <a:rPr sz="2000" b="0" i="0">
                <a:solidFill>
                  <a:srgbClr val="222222"/>
                </a:solidFill>
                <a:latin typeface="Helvetica Neue"/>
              </a:rPr>
              <a:t>A position can be argued with. That's what makes it research.</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Refining: the reverse outline</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A concrete tool for tightening your argument:</a:t>
            </a:r>
          </a:p>
          <a:p>
            <a:pPr>
              <a:buNone/>
            </a:pPr>
            <a:endParaRPr sz="2000" b="0" i="0">
              <a:solidFill>
                <a:srgbClr val="222222"/>
              </a:solidFill>
              <a:latin typeface="Helvetica Neue"/>
            </a:endParaRPr>
          </a:p>
          <a:p>
            <a:pPr marL="342900" algn="l">
              <a:buNone/>
            </a:pPr>
            <a:r>
              <a:rPr sz="2000" b="0" i="0">
                <a:solidFill>
                  <a:srgbClr val="222222"/>
                </a:solidFill>
                <a:latin typeface="Helvetica Neue"/>
              </a:rPr>
              <a:t>1.  Write your draft.</a:t>
            </a:r>
          </a:p>
          <a:p>
            <a:pPr marL="342900" algn="l">
              <a:buNone/>
            </a:pPr>
            <a:r>
              <a:rPr sz="2000" b="0" i="0">
                <a:solidFill>
                  <a:srgbClr val="222222"/>
                </a:solidFill>
                <a:latin typeface="Helvetica Neue"/>
              </a:rPr>
              <a:t>2.  In the margin, summarise each paragraph in </a:t>
            </a:r>
            <a:r>
              <a:rPr sz="2000" b="1" i="0">
                <a:solidFill>
                  <a:srgbClr val="222222"/>
                </a:solidFill>
                <a:latin typeface="Helvetica Neue"/>
              </a:rPr>
              <a:t>one sentence</a:t>
            </a:r>
            <a:r>
              <a:rPr sz="2000" b="0" i="0">
                <a:solidFill>
                  <a:srgbClr val="222222"/>
                </a:solidFill>
                <a:latin typeface="Helvetica Neue"/>
              </a:rPr>
              <a:t> — what does it </a:t>
            </a:r>
            <a:r>
              <a:rPr sz="2000" b="0" i="1">
                <a:solidFill>
                  <a:srgbClr val="222222"/>
                </a:solidFill>
                <a:latin typeface="Helvetica Neue"/>
              </a:rPr>
              <a:t>claim</a:t>
            </a:r>
            <a:r>
              <a:rPr sz="2000" b="0" i="0">
                <a:solidFill>
                  <a:srgbClr val="222222"/>
                </a:solidFill>
                <a:latin typeface="Helvetica Neue"/>
              </a:rPr>
              <a:t>?</a:t>
            </a:r>
          </a:p>
          <a:p>
            <a:pPr marL="342900" algn="l">
              <a:buNone/>
            </a:pPr>
            <a:r>
              <a:rPr sz="2000" b="0" i="0">
                <a:solidFill>
                  <a:srgbClr val="222222"/>
                </a:solidFill>
                <a:latin typeface="Helvetica Neue"/>
              </a:rPr>
              <a:t>3.  Read only the margin notes.</a:t>
            </a:r>
          </a:p>
          <a:p>
            <a:pPr marL="342900" algn="l">
              <a:buNone/>
            </a:pPr>
            <a:r>
              <a:rPr sz="2000" b="0" i="0">
                <a:solidFill>
                  <a:srgbClr val="222222"/>
                </a:solidFill>
                <a:latin typeface="Helvetica Neue"/>
              </a:rPr>
              <a:t>4.  Do they form a logical argument? Or a list of topics?</a:t>
            </a:r>
          </a:p>
          <a:p>
            <a:pPr>
              <a:buNone/>
            </a:pPr>
            <a:endParaRPr sz="2000" b="0" i="0">
              <a:solidFill>
                <a:srgbClr val="222222"/>
              </a:solidFill>
              <a:latin typeface="Helvetica Neue"/>
            </a:endParaRPr>
          </a:p>
          <a:p>
            <a:pPr algn="l">
              <a:buNone/>
            </a:pPr>
            <a:r>
              <a:rPr sz="2000" b="0" i="0">
                <a:solidFill>
                  <a:srgbClr val="222222"/>
                </a:solidFill>
                <a:latin typeface="Helvetica Neue"/>
              </a:rPr>
              <a:t>If the margin notes don't flow, your argument doesn't either — no matter how good the prose.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Argue with yourself</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A strong argument anticipates the strongest objection — and answers it.</a:t>
            </a:r>
          </a:p>
          <a:p>
            <a:pPr>
              <a:buNone/>
            </a:pPr>
            <a:endParaRPr sz="2000" b="0" i="0">
              <a:solidFill>
                <a:srgbClr val="222222"/>
              </a:solidFill>
              <a:latin typeface="Helvetica Neue"/>
            </a:endParaRPr>
          </a:p>
          <a:p>
            <a:pPr algn="l">
              <a:buNone/>
            </a:pPr>
            <a:r>
              <a:rPr sz="2000" b="0" i="0">
                <a:solidFill>
                  <a:srgbClr val="222222"/>
                </a:solidFill>
                <a:latin typeface="Helvetica Neue"/>
              </a:rPr>
              <a:t>Ask of your own work:</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What would a sceptic say?</a:t>
            </a:r>
          </a:p>
          <a:p>
            <a:pPr marL="342900" indent="-342900" algn="l">
              <a:buChar char="•"/>
            </a:pPr>
            <a:r>
              <a:rPr sz="2000" b="0" i="0">
                <a:solidFill>
                  <a:srgbClr val="222222"/>
                </a:solidFill>
                <a:latin typeface="Helvetica Neue"/>
              </a:rPr>
              <a:t>What's the most generous version of the opposing view?</a:t>
            </a:r>
          </a:p>
          <a:p>
            <a:pPr marL="342900" indent="-342900" algn="l">
              <a:buChar char="•"/>
            </a:pPr>
            <a:r>
              <a:rPr sz="2000" b="0" i="0">
                <a:solidFill>
                  <a:srgbClr val="222222"/>
                </a:solidFill>
                <a:latin typeface="Helvetica Neue"/>
              </a:rPr>
              <a:t>Where is my evidence weakest, and how do I handle that honestly?</a:t>
            </a:r>
          </a:p>
          <a:p>
            <a:pPr>
              <a:buNone/>
            </a:pPr>
            <a:endParaRPr sz="2000" b="0" i="0">
              <a:solidFill>
                <a:srgbClr val="222222"/>
              </a:solidFill>
              <a:latin typeface="Helvetica Neue"/>
            </a:endParaRPr>
          </a:p>
          <a:p>
            <a:pPr algn="l">
              <a:buNone/>
            </a:pPr>
            <a:r>
              <a:rPr sz="2000" b="0" i="0">
                <a:solidFill>
                  <a:srgbClr val="222222"/>
                </a:solidFill>
                <a:latin typeface="Helvetica Neue"/>
              </a:rPr>
              <a:t>Naming a limitation is a </a:t>
            </a:r>
            <a:r>
              <a:rPr sz="2000" b="1" i="0">
                <a:solidFill>
                  <a:srgbClr val="222222"/>
                </a:solidFill>
                <a:latin typeface="Helvetica Neue"/>
              </a:rPr>
              <a:t>strength</a:t>
            </a:r>
            <a:r>
              <a:rPr sz="2000" b="0" i="0">
                <a:solidFill>
                  <a:srgbClr val="222222"/>
                </a:solidFill>
                <a:latin typeface="Helvetica Neue"/>
              </a:rPr>
              <a:t>, not a confession.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 worked synthesis: from pieces to claim</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Imagine the components of a finished project:</a:t>
            </a:r>
          </a:p>
          <a:p>
            <a:pPr>
              <a:buNone/>
            </a:pPr>
            <a:endParaRPr sz="1800" b="0" i="0">
              <a:solidFill>
                <a:srgbClr val="222222"/>
              </a:solidFill>
              <a:latin typeface="Helvetica Neue"/>
            </a:endParaRPr>
          </a:p>
          <a:p>
            <a:pPr marL="342900" indent="-342900" algn="l">
              <a:buChar char="•"/>
            </a:pPr>
            <a:r>
              <a:rPr sz="1800" b="1" i="0">
                <a:solidFill>
                  <a:srgbClr val="222222"/>
                </a:solidFill>
                <a:latin typeface="Helvetica Neue"/>
              </a:rPr>
              <a:t>Gap:</a:t>
            </a:r>
            <a:r>
              <a:rPr sz="1800" b="0" i="0">
                <a:solidFill>
                  <a:srgbClr val="222222"/>
                </a:solidFill>
                <a:latin typeface="Helvetica Neue"/>
              </a:rPr>
              <a:t> generative audio is studied offline; real-time embodied control is under-explored.</a:t>
            </a:r>
          </a:p>
          <a:p>
            <a:pPr marL="342900" indent="-342900" algn="l">
              <a:buChar char="•"/>
            </a:pPr>
            <a:r>
              <a:rPr sz="1800" b="1" i="0">
                <a:solidFill>
                  <a:srgbClr val="222222"/>
                </a:solidFill>
                <a:latin typeface="Helvetica Neue"/>
              </a:rPr>
              <a:t>Artefact:</a:t>
            </a:r>
            <a:r>
              <a:rPr sz="1800" b="0" i="0">
                <a:solidFill>
                  <a:srgbClr val="222222"/>
                </a:solidFill>
                <a:latin typeface="Helvetica Neue"/>
              </a:rPr>
              <a:t> a low-latency gesture-to-synthesis system.</a:t>
            </a:r>
          </a:p>
          <a:p>
            <a:pPr marL="342900" indent="-342900" algn="l">
              <a:buChar char="•"/>
            </a:pPr>
            <a:r>
              <a:rPr sz="1800" b="1" i="0">
                <a:solidFill>
                  <a:srgbClr val="222222"/>
                </a:solidFill>
                <a:latin typeface="Helvetica Neue"/>
              </a:rPr>
              <a:t>Method:</a:t>
            </a:r>
            <a:r>
              <a:rPr sz="1800" b="0" i="0">
                <a:solidFill>
                  <a:srgbClr val="222222"/>
                </a:solidFill>
                <a:latin typeface="Helvetica Neue"/>
              </a:rPr>
              <a:t> construction + technical eval (latency) + 3 performers, interviewed.</a:t>
            </a:r>
          </a:p>
          <a:p>
            <a:pPr marL="342900" indent="-342900" algn="l">
              <a:buChar char="•"/>
            </a:pPr>
            <a:r>
              <a:rPr sz="1800" b="1" i="0">
                <a:solidFill>
                  <a:srgbClr val="222222"/>
                </a:solidFill>
                <a:latin typeface="Helvetica Neue"/>
              </a:rPr>
              <a:t>Documentation:</a:t>
            </a:r>
            <a:r>
              <a:rPr sz="1800" b="0" i="0">
                <a:solidFill>
                  <a:srgbClr val="222222"/>
                </a:solidFill>
                <a:latin typeface="Helvetica Neue"/>
              </a:rPr>
              <a:t> process log, annotated portfolio, demo video.</a:t>
            </a:r>
          </a:p>
          <a:p>
            <a:pPr>
              <a:buNone/>
            </a:pPr>
            <a:endParaRPr sz="1800" b="0" i="0">
              <a:solidFill>
                <a:srgbClr val="222222"/>
              </a:solidFill>
              <a:latin typeface="Helvetica Neue"/>
            </a:endParaRPr>
          </a:p>
          <a:p>
            <a:pPr algn="l">
              <a:buNone/>
            </a:pPr>
            <a:r>
              <a:rPr sz="1800" b="1" i="0">
                <a:solidFill>
                  <a:srgbClr val="222222"/>
                </a:solidFill>
                <a:latin typeface="Helvetica Neue"/>
              </a:rPr>
              <a:t>The synthesis (the claim):</a:t>
            </a:r>
            <a:r>
              <a:rPr sz="1800" b="0" i="0">
                <a:solidFill>
                  <a:srgbClr val="222222"/>
                </a:solidFill>
                <a:latin typeface="Helvetica Neue"/>
              </a:rPr>
              <a:t> </a:t>
            </a:r>
            <a:r>
              <a:rPr sz="1800" b="0" i="1">
                <a:solidFill>
                  <a:srgbClr val="222222"/>
                </a:solidFill>
                <a:latin typeface="Helvetica Neue"/>
              </a:rPr>
              <a:t>"Treating generative models as real-time instruments rather than offline composers reveals an embodied, dialogic mode of performance that the dominant offline framing cannot account for — demonstrated by a working low-latency system and performers' consistent reports of 'playing with' rather than 'using' it."</a:t>
            </a:r>
          </a:p>
          <a:p>
            <a:pPr>
              <a:buNone/>
            </a:pPr>
            <a:endParaRPr sz="1800" b="0" i="1">
              <a:solidFill>
                <a:srgbClr val="222222"/>
              </a:solidFill>
              <a:latin typeface="Helvetica Neue"/>
            </a:endParaRPr>
          </a:p>
          <a:p>
            <a:pPr algn="l">
              <a:buNone/>
            </a:pPr>
            <a:r>
              <a:rPr sz="1800" b="0" i="0">
                <a:solidFill>
                  <a:srgbClr val="222222"/>
                </a:solidFill>
                <a:latin typeface="Helvetica Neue"/>
              </a:rPr>
              <a:t>One sentence. Every component earns its place in it.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A second example: a critical/curatorial claim</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Not every contribution is a built system. Consider a project that is mostly </a:t>
            </a:r>
            <a:r>
              <a:rPr sz="2000" b="0" i="1">
                <a:solidFill>
                  <a:srgbClr val="222222"/>
                </a:solidFill>
                <a:latin typeface="Helvetica Neue"/>
              </a:rPr>
              <a:t>analysis through making</a:t>
            </a:r>
            <a:r>
              <a:rPr sz="2000" b="0" i="0">
                <a:solidFill>
                  <a:srgbClr val="222222"/>
                </a:solidFill>
                <a:latin typeface="Helvetica Neue"/>
              </a:rPr>
              <a:t>:</a:t>
            </a:r>
          </a:p>
          <a:p>
            <a:pPr>
              <a:buNone/>
            </a:pPr>
            <a:endParaRPr sz="2000" b="0" i="0">
              <a:solidFill>
                <a:srgbClr val="222222"/>
              </a:solidFill>
              <a:latin typeface="Helvetica Neue"/>
            </a:endParaRPr>
          </a:p>
          <a:p>
            <a:pPr marL="342900" indent="-342900" algn="l">
              <a:buChar char="•"/>
            </a:pPr>
            <a:r>
              <a:rPr sz="2000" b="1" i="0">
                <a:solidFill>
                  <a:srgbClr val="222222"/>
                </a:solidFill>
                <a:latin typeface="Helvetica Neue"/>
              </a:rPr>
              <a:t>Gap:</a:t>
            </a:r>
            <a:r>
              <a:rPr sz="2000" b="0" i="0">
                <a:solidFill>
                  <a:srgbClr val="222222"/>
                </a:solidFill>
                <a:latin typeface="Helvetica Neue"/>
              </a:rPr>
              <a:t> text-to-image models are evaluated technically (bias benchmarks) but rarely interrogated </a:t>
            </a:r>
            <a:r>
              <a:rPr sz="2000" b="0" i="1">
                <a:solidFill>
                  <a:srgbClr val="222222"/>
                </a:solidFill>
                <a:latin typeface="Helvetica Neue"/>
              </a:rPr>
              <a:t>aesthetically</a:t>
            </a:r>
            <a:r>
              <a:rPr sz="2000" b="0" i="0">
                <a:solidFill>
                  <a:srgbClr val="222222"/>
                </a:solidFill>
                <a:latin typeface="Helvetica Neue"/>
              </a:rPr>
              <a:t> through sustained practice.</a:t>
            </a:r>
          </a:p>
          <a:p>
            <a:pPr marL="342900" indent="-342900" algn="l">
              <a:buChar char="•"/>
            </a:pPr>
            <a:r>
              <a:rPr sz="2000" b="1" i="0">
                <a:solidFill>
                  <a:srgbClr val="222222"/>
                </a:solidFill>
                <a:latin typeface="Helvetica Neue"/>
              </a:rPr>
              <a:t>Practice:</a:t>
            </a:r>
            <a:r>
              <a:rPr sz="2000" b="0" i="0">
                <a:solidFill>
                  <a:srgbClr val="222222"/>
                </a:solidFill>
                <a:latin typeface="Helvetica Neue"/>
              </a:rPr>
              <a:t> a series of generated image-sets probing how models render contested subjects.</a:t>
            </a:r>
          </a:p>
          <a:p>
            <a:pPr marL="342900" indent="-342900" algn="l">
              <a:buChar char="•"/>
            </a:pPr>
            <a:r>
              <a:rPr sz="2000" b="1" i="0">
                <a:solidFill>
                  <a:srgbClr val="222222"/>
                </a:solidFill>
                <a:latin typeface="Helvetica Neue"/>
              </a:rPr>
              <a:t>Synthesis:</a:t>
            </a:r>
            <a:r>
              <a:rPr sz="2000" b="0" i="0">
                <a:solidFill>
                  <a:srgbClr val="222222"/>
                </a:solidFill>
                <a:latin typeface="Helvetica Neue"/>
              </a:rPr>
              <a:t> </a:t>
            </a:r>
            <a:r>
              <a:rPr sz="2000" b="0" i="1">
                <a:solidFill>
                  <a:srgbClr val="222222"/>
                </a:solidFill>
                <a:latin typeface="Helvetica Neue"/>
              </a:rPr>
              <a:t>"Systematic artistic prompting functions as a research method that surfaces models' encoded assumptions in ways quantitative benchmarks cannot — the distortions are not noise but evidence."</a:t>
            </a:r>
          </a:p>
          <a:p>
            <a:pPr>
              <a:buNone/>
            </a:pPr>
            <a:endParaRPr sz="2000" b="0" i="1">
              <a:solidFill>
                <a:srgbClr val="222222"/>
              </a:solidFill>
              <a:latin typeface="Helvetica Neue"/>
            </a:endParaRPr>
          </a:p>
          <a:p>
            <a:pPr algn="l">
              <a:buNone/>
            </a:pPr>
            <a:r>
              <a:rPr sz="2000" b="0" i="0">
                <a:solidFill>
                  <a:srgbClr val="222222"/>
                </a:solidFill>
                <a:latin typeface="Helvetica Neue"/>
              </a:rPr>
              <a:t>The contribution here is </a:t>
            </a:r>
            <a:r>
              <a:rPr sz="2000" b="1" i="0">
                <a:solidFill>
                  <a:srgbClr val="222222"/>
                </a:solidFill>
                <a:latin typeface="Helvetica Neue"/>
              </a:rPr>
              <a:t>critical and methodological</a:t>
            </a:r>
            <a:r>
              <a:rPr sz="2000" b="0" i="0">
                <a:solidFill>
                  <a:srgbClr val="222222"/>
                </a:solidFill>
                <a:latin typeface="Helvetica Neue"/>
              </a:rPr>
              <a:t>, not a piece of software.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Reflecting on the process, not just the product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Your write-up should reflect on </a:t>
            </a:r>
            <a:r>
              <a:rPr sz="2000" b="0" i="1">
                <a:solidFill>
                  <a:srgbClr val="222222"/>
                </a:solidFill>
                <a:latin typeface="Helvetica Neue"/>
              </a:rPr>
              <a:t>how the work developed</a:t>
            </a:r>
            <a:r>
              <a:rPr sz="2000" b="0" i="0">
                <a:solidFill>
                  <a:srgbClr val="222222"/>
                </a:solidFill>
                <a:latin typeface="Helvetica Neue"/>
              </a:rPr>
              <a:t>, not only </a:t>
            </a:r>
            <a:r>
              <a:rPr sz="2000" b="0" i="1">
                <a:solidFill>
                  <a:srgbClr val="222222"/>
                </a:solidFill>
                <a:latin typeface="Helvetica Neue"/>
              </a:rPr>
              <a:t>where it ended up</a:t>
            </a:r>
            <a:r>
              <a:rPr sz="2000" b="0" i="0">
                <a:solidFill>
                  <a:srgbClr val="222222"/>
                </a:solidFill>
                <a:latin typeface="Helvetica Neue"/>
              </a:rPr>
              <a:t>.</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What did you believe at the start that turned out to be wrong?</a:t>
            </a:r>
          </a:p>
          <a:p>
            <a:pPr marL="342900" indent="-342900" algn="l">
              <a:buChar char="•"/>
            </a:pPr>
            <a:r>
              <a:rPr sz="2000" b="0" i="0">
                <a:solidFill>
                  <a:srgbClr val="222222"/>
                </a:solidFill>
                <a:latin typeface="Helvetica Neue"/>
              </a:rPr>
              <a:t>Which surprise changed your direction? (Your Week 5–6 notes hold these.)</a:t>
            </a:r>
          </a:p>
          <a:p>
            <a:pPr marL="342900" indent="-342900" algn="l">
              <a:buChar char="•"/>
            </a:pPr>
            <a:r>
              <a:rPr sz="2000" b="0" i="0">
                <a:solidFill>
                  <a:srgbClr val="222222"/>
                </a:solidFill>
                <a:latin typeface="Helvetica Neue"/>
              </a:rPr>
              <a:t>What would you do differently with another three months?</a:t>
            </a:r>
          </a:p>
          <a:p>
            <a:pPr>
              <a:buNone/>
            </a:pPr>
            <a:endParaRPr sz="2000" b="0" i="0">
              <a:solidFill>
                <a:srgbClr val="222222"/>
              </a:solidFill>
              <a:latin typeface="Helvetica Neue"/>
            </a:endParaRPr>
          </a:p>
          <a:p>
            <a:pPr algn="l">
              <a:buNone/>
            </a:pPr>
            <a:r>
              <a:rPr sz="2000" b="0" i="0">
                <a:solidFill>
                  <a:srgbClr val="222222"/>
                </a:solidFill>
                <a:latin typeface="Helvetica Neue"/>
              </a:rPr>
              <a:t>This is the iterative cyclic web (Week 2) made visible — and it's evidence of a researcher who learns.</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Self-assessment: is your argument working?</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1800" b="0" i="0">
                <a:solidFill>
                  <a:srgbClr val="222222"/>
                </a:solidFill>
                <a:latin typeface="Helvetica Neue"/>
              </a:rPr>
              <a:t>Run your draft through these checks:</a:t>
            </a:r>
          </a:p>
          <a:p>
            <a:pPr>
              <a:buNone/>
            </a:pPr>
            <a:endParaRPr sz="1800" b="0" i="0">
              <a:solidFill>
                <a:srgbClr val="222222"/>
              </a:solidFill>
              <a:latin typeface="Helvetica Neue"/>
            </a:endParaRPr>
          </a:p>
          <a:p>
            <a:pPr marL="342900" indent="-342900" algn="l">
              <a:buChar char="•"/>
            </a:pPr>
            <a:r>
              <a:rPr sz="1800" b="0" i="0">
                <a:solidFill>
                  <a:srgbClr val="222222"/>
                </a:solidFill>
                <a:latin typeface="Helvetica Neue"/>
              </a:rPr>
              <a:t>Can I state my claim in </a:t>
            </a:r>
            <a:r>
              <a:rPr sz="1800" b="1" i="0">
                <a:solidFill>
                  <a:srgbClr val="222222"/>
                </a:solidFill>
                <a:latin typeface="Helvetica Neue"/>
              </a:rPr>
              <a:t>one sentence</a:t>
            </a:r>
            <a:r>
              <a:rPr sz="1800" b="0" i="0">
                <a:solidFill>
                  <a:srgbClr val="222222"/>
                </a:solidFill>
                <a:latin typeface="Helvetica Neue"/>
              </a:rPr>
              <a:t>? (Slide 3)</a:t>
            </a:r>
          </a:p>
          <a:p>
            <a:pPr marL="342900" indent="-342900" algn="l">
              <a:buChar char="•"/>
            </a:pPr>
            <a:r>
              <a:rPr sz="1800" b="0" i="0">
                <a:solidFill>
                  <a:srgbClr val="222222"/>
                </a:solidFill>
                <a:latin typeface="Helvetica Neue"/>
              </a:rPr>
              <a:t>Does it survive </a:t>
            </a:r>
            <a:r>
              <a:rPr sz="1800" b="1" i="0">
                <a:solidFill>
                  <a:srgbClr val="222222"/>
                </a:solidFill>
                <a:latin typeface="Helvetica Neue"/>
              </a:rPr>
              <a:t>"so what?"</a:t>
            </a:r>
            <a:r>
              <a:rPr sz="1800" b="0" i="0">
                <a:solidFill>
                  <a:srgbClr val="222222"/>
                </a:solidFill>
                <a:latin typeface="Helvetica Neue"/>
              </a:rPr>
              <a:t> (Slide 4)</a:t>
            </a:r>
          </a:p>
          <a:p>
            <a:pPr marL="342900" indent="-342900" algn="l">
              <a:buChar char="•"/>
            </a:pPr>
            <a:r>
              <a:rPr sz="1800" b="0" i="0">
                <a:solidFill>
                  <a:srgbClr val="222222"/>
                </a:solidFill>
                <a:latin typeface="Helvetica Neue"/>
              </a:rPr>
              <a:t>Is there a </a:t>
            </a:r>
            <a:r>
              <a:rPr sz="1800" b="1" i="0">
                <a:solidFill>
                  <a:srgbClr val="222222"/>
                </a:solidFill>
                <a:latin typeface="Helvetica Neue"/>
              </a:rPr>
              <a:t>warrant</a:t>
            </a:r>
            <a:r>
              <a:rPr sz="1800" b="0" i="0">
                <a:solidFill>
                  <a:srgbClr val="222222"/>
                </a:solidFill>
                <a:latin typeface="Helvetica Neue"/>
              </a:rPr>
              <a:t> linking evidence to claim? (Slide 5)</a:t>
            </a:r>
          </a:p>
          <a:p>
            <a:pPr marL="342900" indent="-342900" algn="l">
              <a:buChar char="•"/>
            </a:pPr>
            <a:r>
              <a:rPr sz="1800" b="0" i="0">
                <a:solidFill>
                  <a:srgbClr val="222222"/>
                </a:solidFill>
                <a:latin typeface="Helvetica Neue"/>
              </a:rPr>
              <a:t>Does my </a:t>
            </a:r>
            <a:r>
              <a:rPr sz="1800" b="1" i="0">
                <a:solidFill>
                  <a:srgbClr val="222222"/>
                </a:solidFill>
                <a:latin typeface="Helvetica Neue"/>
              </a:rPr>
              <a:t>reverse outline</a:t>
            </a:r>
            <a:r>
              <a:rPr sz="1800" b="0" i="0">
                <a:solidFill>
                  <a:srgbClr val="222222"/>
                </a:solidFill>
                <a:latin typeface="Helvetica Neue"/>
              </a:rPr>
              <a:t> flow? (Slide 10)</a:t>
            </a:r>
          </a:p>
          <a:p>
            <a:pPr marL="342900" indent="-342900" algn="l">
              <a:buChar char="•"/>
            </a:pPr>
            <a:r>
              <a:rPr sz="1800" b="0" i="0">
                <a:solidFill>
                  <a:srgbClr val="222222"/>
                </a:solidFill>
                <a:latin typeface="Helvetica Neue"/>
              </a:rPr>
              <a:t>Have I </a:t>
            </a:r>
            <a:r>
              <a:rPr sz="1800" b="1" i="0">
                <a:solidFill>
                  <a:srgbClr val="222222"/>
                </a:solidFill>
                <a:latin typeface="Helvetica Neue"/>
              </a:rPr>
              <a:t>answered the strongest objection</a:t>
            </a:r>
            <a:r>
              <a:rPr sz="1800" b="0" i="0">
                <a:solidFill>
                  <a:srgbClr val="222222"/>
                </a:solidFill>
                <a:latin typeface="Helvetica Neue"/>
              </a:rPr>
              <a:t>? (Slide 11)</a:t>
            </a:r>
          </a:p>
          <a:p>
            <a:pPr marL="342900" indent="-342900" algn="l">
              <a:buChar char="•"/>
            </a:pPr>
            <a:r>
              <a:rPr sz="1800" b="0" i="0">
                <a:solidFill>
                  <a:srgbClr val="222222"/>
                </a:solidFill>
                <a:latin typeface="Helvetica Neue"/>
              </a:rPr>
              <a:t>Is my </a:t>
            </a:r>
            <a:r>
              <a:rPr sz="1800" b="1" i="0">
                <a:solidFill>
                  <a:srgbClr val="222222"/>
                </a:solidFill>
                <a:latin typeface="Helvetica Neue"/>
              </a:rPr>
              <a:t>position</a:t>
            </a:r>
            <a:r>
              <a:rPr sz="1800" b="0" i="0">
                <a:solidFill>
                  <a:srgbClr val="222222"/>
                </a:solidFill>
                <a:latin typeface="Helvetica Neue"/>
              </a:rPr>
              <a:t> clear, not hedged into mush? (Slide 9)</a:t>
            </a:r>
          </a:p>
          <a:p>
            <a:pPr>
              <a:buNone/>
            </a:pPr>
            <a:endParaRPr sz="1800" b="0" i="0">
              <a:solidFill>
                <a:srgbClr val="222222"/>
              </a:solidFill>
              <a:latin typeface="Helvetica Neue"/>
            </a:endParaRPr>
          </a:p>
          <a:p>
            <a:pPr algn="l">
              <a:buNone/>
            </a:pPr>
            <a:r>
              <a:rPr sz="1800" b="0" i="0">
                <a:solidFill>
                  <a:srgbClr val="222222"/>
                </a:solidFill>
                <a:latin typeface="Helvetica Neue"/>
              </a:rPr>
              <a:t>If yes to all six, you have an argument, not just a project.</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Common mistakes at the end</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marL="342900" indent="-342900" algn="l">
              <a:buChar char="•"/>
            </a:pPr>
            <a:r>
              <a:rPr sz="2000" b="1" i="0">
                <a:solidFill>
                  <a:srgbClr val="222222"/>
                </a:solidFill>
                <a:latin typeface="Helvetica Neue"/>
              </a:rPr>
              <a:t>Describing, not claiming.</a:t>
            </a:r>
            <a:r>
              <a:rPr sz="2000" b="0" i="0">
                <a:solidFill>
                  <a:srgbClr val="222222"/>
                </a:solidFill>
                <a:latin typeface="Helvetica Neue"/>
              </a:rPr>
              <a:t> "Here's what I made" with no "so what?"</a:t>
            </a:r>
          </a:p>
          <a:p>
            <a:pPr marL="342900" indent="-342900" algn="l">
              <a:buChar char="•"/>
            </a:pPr>
            <a:r>
              <a:rPr sz="2000" b="1" i="0">
                <a:solidFill>
                  <a:srgbClr val="222222"/>
                </a:solidFill>
                <a:latin typeface="Helvetica Neue"/>
              </a:rPr>
              <a:t>Burying the contribution</a:t>
            </a:r>
            <a:r>
              <a:rPr sz="2000" b="0" i="0">
                <a:solidFill>
                  <a:srgbClr val="222222"/>
                </a:solidFill>
                <a:latin typeface="Helvetica Neue"/>
              </a:rPr>
              <a:t> on page 30 instead of stating it up front.</a:t>
            </a:r>
          </a:p>
          <a:p>
            <a:pPr marL="342900" indent="-342900" algn="l">
              <a:buChar char="•"/>
            </a:pPr>
            <a:r>
              <a:rPr sz="2000" b="1" i="0">
                <a:solidFill>
                  <a:srgbClr val="222222"/>
                </a:solidFill>
                <a:latin typeface="Helvetica Neue"/>
              </a:rPr>
              <a:t>Hedging away your voice</a:t>
            </a:r>
            <a:r>
              <a:rPr sz="2000" b="0" i="0">
                <a:solidFill>
                  <a:srgbClr val="222222"/>
                </a:solidFill>
                <a:latin typeface="Helvetica Neue"/>
              </a:rPr>
              <a:t> until no position remains.</a:t>
            </a:r>
          </a:p>
          <a:p>
            <a:pPr marL="342900" indent="-342900" algn="l">
              <a:buChar char="•"/>
            </a:pPr>
            <a:r>
              <a:rPr sz="2000" b="1" i="0">
                <a:solidFill>
                  <a:srgbClr val="222222"/>
                </a:solidFill>
                <a:latin typeface="Helvetica Neue"/>
              </a:rPr>
              <a:t>Hiding limitations</a:t>
            </a:r>
            <a:r>
              <a:rPr sz="2000" b="0" i="0">
                <a:solidFill>
                  <a:srgbClr val="222222"/>
                </a:solidFill>
                <a:latin typeface="Helvetica Neue"/>
              </a:rPr>
              <a:t> instead of owning them.</a:t>
            </a:r>
          </a:p>
          <a:p>
            <a:pPr marL="342900" indent="-342900" algn="l">
              <a:buChar char="•"/>
            </a:pPr>
            <a:r>
              <a:rPr sz="2000" b="1" i="0">
                <a:solidFill>
                  <a:srgbClr val="222222"/>
                </a:solidFill>
                <a:latin typeface="Helvetica Neue"/>
              </a:rPr>
              <a:t>Listing instead of synthesising</a:t>
            </a:r>
            <a:r>
              <a:rPr sz="2000" b="0" i="0">
                <a:solidFill>
                  <a:srgbClr val="222222"/>
                </a:solidFill>
                <a:latin typeface="Helvetica Neue"/>
              </a:rPr>
              <a:t> — seven components, no through-line.</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Where this goes next</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a:solidFill>
                  <a:srgbClr val="222222"/>
                </a:solidFill>
                <a:latin typeface="Helvetica Neue"/>
              </a:rPr>
              <a:t>The argument you build here is the same shape you'll use for:</a:t>
            </a:r>
          </a:p>
          <a:p>
            <a:pPr>
              <a:buNone/>
            </a:pPr>
            <a:endParaRPr sz="2000" b="0" i="0">
              <a:solidFill>
                <a:srgbClr val="222222"/>
              </a:solidFill>
              <a:latin typeface="Helvetica Neue"/>
            </a:endParaRPr>
          </a:p>
          <a:p>
            <a:pPr marL="342900" indent="-342900" algn="l">
              <a:buChar char="•"/>
            </a:pPr>
            <a:r>
              <a:rPr sz="2000" b="0" i="0">
                <a:solidFill>
                  <a:srgbClr val="222222"/>
                </a:solidFill>
                <a:latin typeface="Helvetica Neue"/>
              </a:rPr>
              <a:t>a </a:t>
            </a:r>
            <a:r>
              <a:rPr sz="2000" b="1" i="0">
                <a:solidFill>
                  <a:srgbClr val="222222"/>
                </a:solidFill>
                <a:latin typeface="Helvetica Neue"/>
              </a:rPr>
              <a:t>conference paper</a:t>
            </a:r>
            <a:r>
              <a:rPr sz="2000" b="0" i="0">
                <a:solidFill>
                  <a:srgbClr val="222222"/>
                </a:solidFill>
                <a:latin typeface="Helvetica Neue"/>
              </a:rPr>
              <a:t> or journal article,</a:t>
            </a:r>
          </a:p>
          <a:p>
            <a:pPr marL="342900" indent="-342900" algn="l">
              <a:buChar char="•"/>
            </a:pPr>
            <a:r>
              <a:rPr sz="2000" b="0" i="0">
                <a:solidFill>
                  <a:srgbClr val="222222"/>
                </a:solidFill>
                <a:latin typeface="Helvetica Neue"/>
              </a:rPr>
              <a:t>a </a:t>
            </a:r>
            <a:r>
              <a:rPr sz="2000" b="1" i="0">
                <a:solidFill>
                  <a:srgbClr val="222222"/>
                </a:solidFill>
                <a:latin typeface="Helvetica Neue"/>
              </a:rPr>
              <a:t>funding application</a:t>
            </a:r>
            <a:r>
              <a:rPr sz="2000" b="0" i="0">
                <a:solidFill>
                  <a:srgbClr val="222222"/>
                </a:solidFill>
                <a:latin typeface="Helvetica Neue"/>
              </a:rPr>
              <a:t>,</a:t>
            </a:r>
          </a:p>
          <a:p>
            <a:pPr marL="342900" indent="-342900" algn="l">
              <a:buChar char="•"/>
            </a:pPr>
            <a:r>
              <a:rPr sz="2000" b="0" i="0">
                <a:solidFill>
                  <a:srgbClr val="222222"/>
                </a:solidFill>
                <a:latin typeface="Helvetica Neue"/>
              </a:rPr>
              <a:t>a </a:t>
            </a:r>
            <a:r>
              <a:rPr sz="2000" b="1" i="0">
                <a:solidFill>
                  <a:srgbClr val="222222"/>
                </a:solidFill>
                <a:latin typeface="Helvetica Neue"/>
              </a:rPr>
              <a:t>portfolio</a:t>
            </a:r>
            <a:r>
              <a:rPr sz="2000" b="0" i="0">
                <a:solidFill>
                  <a:srgbClr val="222222"/>
                </a:solidFill>
                <a:latin typeface="Helvetica Neue"/>
              </a:rPr>
              <a:t> or exhibition statement,</a:t>
            </a:r>
          </a:p>
          <a:p>
            <a:pPr marL="342900" indent="-342900" algn="l">
              <a:buChar char="•"/>
            </a:pPr>
            <a:r>
              <a:rPr sz="2000" b="0" i="0">
                <a:solidFill>
                  <a:srgbClr val="222222"/>
                </a:solidFill>
                <a:latin typeface="Helvetica Neue"/>
              </a:rPr>
              <a:t>a </a:t>
            </a:r>
            <a:r>
              <a:rPr sz="2000" b="1" i="0">
                <a:solidFill>
                  <a:srgbClr val="222222"/>
                </a:solidFill>
                <a:latin typeface="Helvetica Neue"/>
              </a:rPr>
              <a:t>pitch</a:t>
            </a:r>
            <a:r>
              <a:rPr sz="2000" b="0" i="0">
                <a:solidFill>
                  <a:srgbClr val="222222"/>
                </a:solidFill>
                <a:latin typeface="Helvetica Neue"/>
              </a:rPr>
              <a:t> for a job, a commission, or a collaboration.</a:t>
            </a:r>
          </a:p>
          <a:p>
            <a:pPr>
              <a:buNone/>
            </a:pPr>
            <a:endParaRPr sz="2000" b="0" i="0">
              <a:solidFill>
                <a:srgbClr val="222222"/>
              </a:solidFill>
              <a:latin typeface="Helvetica Neue"/>
            </a:endParaRPr>
          </a:p>
          <a:p>
            <a:pPr algn="l">
              <a:buNone/>
            </a:pPr>
            <a:r>
              <a:rPr sz="2000" b="0" i="0">
                <a:solidFill>
                  <a:srgbClr val="222222"/>
                </a:solidFill>
                <a:latin typeface="Helvetica Neue"/>
              </a:rPr>
              <a:t>"I claim X, because Y, as shown by Z" scales from a 60-credit project to a career.</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The whole thing, in one breath</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marL="342900" algn="l">
              <a:buNone/>
            </a:pPr>
            <a:r>
              <a:rPr sz="1800" b="0" i="0">
                <a:solidFill>
                  <a:srgbClr val="222222"/>
                </a:solidFill>
                <a:latin typeface="Helvetica Neue"/>
              </a:rPr>
              <a:t>1.  Find an edge (the gap).</a:t>
            </a:r>
          </a:p>
          <a:p>
            <a:pPr marL="342900" algn="l">
              <a:buNone/>
            </a:pPr>
            <a:r>
              <a:rPr sz="1800" b="0" i="0">
                <a:solidFill>
                  <a:srgbClr val="222222"/>
                </a:solidFill>
                <a:latin typeface="Helvetica Neue"/>
              </a:rPr>
              <a:t>2.  Make something that investigates it.</a:t>
            </a:r>
          </a:p>
          <a:p>
            <a:pPr marL="342900" algn="l">
              <a:buNone/>
            </a:pPr>
            <a:r>
              <a:rPr sz="1800" b="0" i="0">
                <a:solidFill>
                  <a:srgbClr val="222222"/>
                </a:solidFill>
                <a:latin typeface="Helvetica Neue"/>
              </a:rPr>
              <a:t>3.  Pay attention to what making reveals.</a:t>
            </a:r>
          </a:p>
          <a:p>
            <a:pPr marL="342900" algn="l">
              <a:buNone/>
            </a:pPr>
            <a:r>
              <a:rPr sz="1800" b="0" i="0">
                <a:solidFill>
                  <a:srgbClr val="222222"/>
                </a:solidFill>
                <a:latin typeface="Helvetica Neue"/>
              </a:rPr>
              <a:t>4.  Document it so others can follow.</a:t>
            </a:r>
          </a:p>
          <a:p>
            <a:pPr marL="342900" algn="l">
              <a:buNone/>
            </a:pPr>
            <a:r>
              <a:rPr sz="1800" b="0" i="0">
                <a:solidFill>
                  <a:srgbClr val="222222"/>
                </a:solidFill>
                <a:latin typeface="Helvetica Neue"/>
              </a:rPr>
              <a:t>5.  Decide what you now know that the field didn't.</a:t>
            </a:r>
          </a:p>
          <a:p>
            <a:pPr marL="342900" algn="l">
              <a:buNone/>
            </a:pPr>
            <a:r>
              <a:rPr sz="1800" b="0" i="0">
                <a:solidFill>
                  <a:srgbClr val="222222"/>
                </a:solidFill>
                <a:latin typeface="Helvetica Neue"/>
              </a:rPr>
              <a:t>6.  Say it clearly, defend it honestly, and show your evidence.</a:t>
            </a:r>
          </a:p>
          <a:p>
            <a:pPr>
              <a:buNone/>
            </a:pPr>
            <a:endParaRPr sz="1800" b="0" i="0">
              <a:solidFill>
                <a:srgbClr val="222222"/>
              </a:solidFill>
              <a:latin typeface="Helvetica Neue"/>
            </a:endParaRPr>
          </a:p>
          <a:p>
            <a:pPr algn="l">
              <a:buNone/>
            </a:pPr>
            <a:r>
              <a:rPr sz="1800" b="0" i="0">
                <a:solidFill>
                  <a:srgbClr val="222222"/>
                </a:solidFill>
                <a:latin typeface="Helvetica Neue"/>
              </a:rPr>
              <a:t>That's practice as research.</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20040"/>
            <a:ext cx="10911535" cy="1188720"/>
          </a:xfrm>
          <a:prstGeom prst="rect">
            <a:avLst/>
          </a:prstGeom>
          <a:noFill/>
        </p:spPr>
        <p:txBody>
          <a:bodyPr wrap="square">
            <a:spAutoFit/>
          </a:bodyPr>
          <a:lstStyle/>
          <a:p>
            <a:pPr algn="l">
              <a:buNone/>
            </a:pPr>
            <a:r>
              <a:rPr sz="2400" b="1" i="0">
                <a:solidFill>
                  <a:srgbClr val="1A1A2E"/>
                </a:solidFill>
                <a:latin typeface="Helvetica Neue"/>
              </a:rPr>
              <a:t>References</a:t>
            </a:r>
          </a:p>
        </p:txBody>
      </p:sp>
      <p:sp>
        <p:nvSpPr>
          <p:cNvPr id="3" name="Rectangle 2"/>
          <p:cNvSpPr/>
          <p:nvPr/>
        </p:nvSpPr>
        <p:spPr>
          <a:xfrm>
            <a:off x="640080" y="1417320"/>
            <a:ext cx="10911535" cy="3175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17320"/>
            <a:ext cx="10911535" cy="5212080"/>
          </a:xfrm>
          <a:prstGeom prst="rect">
            <a:avLst/>
          </a:prstGeom>
          <a:noFill/>
        </p:spPr>
        <p:txBody>
          <a:bodyPr wrap="square">
            <a:spAutoFit/>
          </a:bodyPr>
          <a:lstStyle/>
          <a:p>
            <a:pPr algn="l">
              <a:buNone/>
            </a:pPr>
            <a:r>
              <a:rPr sz="2000" b="0" i="0" dirty="0">
                <a:solidFill>
                  <a:srgbClr val="222222"/>
                </a:solidFill>
                <a:latin typeface="Helvetica Neue"/>
              </a:rPr>
              <a:t>Booth, W. C., </a:t>
            </a:r>
            <a:r>
              <a:rPr sz="2000" b="0" i="0" dirty="0" err="1">
                <a:solidFill>
                  <a:srgbClr val="222222"/>
                </a:solidFill>
                <a:latin typeface="Helvetica Neue"/>
              </a:rPr>
              <a:t>Colomb</a:t>
            </a:r>
            <a:r>
              <a:rPr sz="2000" b="0" i="0" dirty="0">
                <a:solidFill>
                  <a:srgbClr val="222222"/>
                </a:solidFill>
                <a:latin typeface="Helvetica Neue"/>
              </a:rPr>
              <a:t>, G. G., Williams, J. M., </a:t>
            </a:r>
            <a:r>
              <a:rPr sz="2000" b="0" i="0" dirty="0" err="1">
                <a:solidFill>
                  <a:srgbClr val="222222"/>
                </a:solidFill>
                <a:latin typeface="Helvetica Neue"/>
              </a:rPr>
              <a:t>Bizup</a:t>
            </a:r>
            <a:r>
              <a:rPr sz="2000" b="0" i="0" dirty="0">
                <a:solidFill>
                  <a:srgbClr val="222222"/>
                </a:solidFill>
                <a:latin typeface="Helvetica Neue"/>
              </a:rPr>
              <a:t>, J. &amp; FitzGerald, W. T. (2024). </a:t>
            </a:r>
            <a:r>
              <a:rPr sz="2000" b="0" i="0" dirty="0">
                <a:solidFill>
                  <a:srgbClr val="222222"/>
                </a:solidFill>
                <a:latin typeface="Helvetica Neue"/>
                <a:hlinkClick r:id="rId2"/>
              </a:rPr>
              <a:t>*The Craft of Research*</a:t>
            </a:r>
            <a:r>
              <a:rPr sz="2000" b="0" i="0" dirty="0">
                <a:solidFill>
                  <a:srgbClr val="222222"/>
                </a:solidFill>
                <a:latin typeface="Helvetica Neue"/>
              </a:rPr>
              <a:t>, 5th ed. University of Chicago Press.</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Toulmin, S. (1958). </a:t>
            </a:r>
            <a:r>
              <a:rPr sz="2000" b="0" i="1" dirty="0">
                <a:solidFill>
                  <a:srgbClr val="222222"/>
                </a:solidFill>
                <a:latin typeface="Helvetica Neue"/>
              </a:rPr>
              <a:t>The Uses of Argument.</a:t>
            </a:r>
            <a:r>
              <a:rPr sz="2000" b="0" i="0" dirty="0">
                <a:solidFill>
                  <a:srgbClr val="222222"/>
                </a:solidFill>
                <a:latin typeface="Helvetica Neue"/>
              </a:rPr>
              <a:t> Cambridge University Press.</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Smith, H. &amp; Dean, R. T. (eds.) (2009). </a:t>
            </a:r>
            <a:r>
              <a:rPr sz="2000" b="0" i="0" dirty="0">
                <a:solidFill>
                  <a:srgbClr val="222222"/>
                </a:solidFill>
                <a:latin typeface="Helvetica Neue"/>
                <a:hlinkClick r:id="rId3"/>
              </a:rPr>
              <a:t>*Practice-led Research, Research-led Practice in the Creative Arts.*</a:t>
            </a:r>
            <a:r>
              <a:rPr sz="2000" b="0" i="0" dirty="0">
                <a:solidFill>
                  <a:srgbClr val="222222"/>
                </a:solidFill>
                <a:latin typeface="Helvetica Neue"/>
              </a:rPr>
              <a:t> Edinburgh University Press.</a:t>
            </a:r>
          </a:p>
          <a:p>
            <a:pPr>
              <a:buNone/>
            </a:pPr>
            <a:endParaRPr sz="2000" b="0" i="0" dirty="0">
              <a:solidFill>
                <a:srgbClr val="222222"/>
              </a:solidFill>
              <a:latin typeface="Helvetica Neue"/>
            </a:endParaRPr>
          </a:p>
          <a:p>
            <a:pPr algn="l">
              <a:buNone/>
            </a:pPr>
            <a:r>
              <a:rPr sz="2000" b="0" i="0" dirty="0" err="1">
                <a:solidFill>
                  <a:srgbClr val="222222"/>
                </a:solidFill>
                <a:latin typeface="Helvetica Neue"/>
              </a:rPr>
              <a:t>Borgdorff</a:t>
            </a:r>
            <a:r>
              <a:rPr sz="2000" b="0" i="0" dirty="0">
                <a:solidFill>
                  <a:srgbClr val="222222"/>
                </a:solidFill>
                <a:latin typeface="Helvetica Neue"/>
              </a:rPr>
              <a:t>, H. (2011). "The Production of Knowledge in Artistic Research." In Biggs &amp; Karlsson (eds.), </a:t>
            </a:r>
            <a:r>
              <a:rPr sz="2000" b="0" i="0" dirty="0">
                <a:solidFill>
                  <a:srgbClr val="222222"/>
                </a:solidFill>
                <a:latin typeface="Helvetica Neue"/>
                <a:hlinkClick r:id="rId4"/>
              </a:rPr>
              <a:t>*The Routledge Companion to Research in the Arts.*</a:t>
            </a:r>
            <a:r>
              <a:rPr sz="2000" b="0" i="0" dirty="0">
                <a:solidFill>
                  <a:srgbClr val="222222"/>
                </a:solidFill>
                <a:latin typeface="Helvetica Neue"/>
              </a:rPr>
              <a:t> Routledge.</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Candy, L. (2006). </a:t>
            </a:r>
            <a:r>
              <a:rPr sz="2000" b="0" i="0" dirty="0">
                <a:solidFill>
                  <a:srgbClr val="222222"/>
                </a:solidFill>
                <a:latin typeface="Helvetica Neue"/>
                <a:hlinkClick r:id="rId5"/>
              </a:rPr>
              <a:t>*Practice Based Research: A Guide.*</a:t>
            </a:r>
            <a:r>
              <a:rPr sz="2000" b="0" i="0" dirty="0">
                <a:solidFill>
                  <a:srgbClr val="222222"/>
                </a:solidFill>
                <a:latin typeface="Helvetica Neue"/>
              </a:rPr>
              <a:t> CCS Report, UTS.</a:t>
            </a:r>
          </a:p>
          <a:p>
            <a:pPr>
              <a:buNone/>
            </a:pPr>
            <a:endParaRPr sz="2000" b="0" i="0" dirty="0">
              <a:solidFill>
                <a:srgbClr val="222222"/>
              </a:solidFill>
              <a:latin typeface="Helvetica Neue"/>
            </a:endParaRPr>
          </a:p>
          <a:p>
            <a:pPr algn="l">
              <a:buNone/>
            </a:pPr>
            <a:r>
              <a:rPr sz="2000" b="0" i="0" dirty="0">
                <a:solidFill>
                  <a:srgbClr val="222222"/>
                </a:solidFill>
                <a:latin typeface="Helvetica Neue"/>
              </a:rPr>
              <a:t>Nelson, R. (2013). </a:t>
            </a:r>
            <a:r>
              <a:rPr sz="2000" b="0" i="0" dirty="0">
                <a:solidFill>
                  <a:srgbClr val="222222"/>
                </a:solidFill>
                <a:latin typeface="Helvetica Neue"/>
                <a:hlinkClick r:id="rId6"/>
              </a:rPr>
              <a:t>*Practice as Research in the Arts.*</a:t>
            </a:r>
            <a:r>
              <a:rPr sz="2000" b="0" i="0" dirty="0">
                <a:solidFill>
                  <a:srgbClr val="222222"/>
                </a:solidFill>
                <a:latin typeface="Helvetica Neue"/>
              </a:rPr>
              <a:t> Palgrave Macmillan.</a:t>
            </a:r>
          </a:p>
        </p:txBody>
      </p:sp>
      <p:sp>
        <p:nvSpPr>
          <p:cNvPr id="5" name="TextBox 4"/>
          <p:cNvSpPr txBox="1"/>
          <p:nvPr/>
        </p:nvSpPr>
        <p:spPr>
          <a:xfrm>
            <a:off x="11094415" y="6446520"/>
            <a:ext cx="914400" cy="320040"/>
          </a:xfrm>
          <a:prstGeom prst="rect">
            <a:avLst/>
          </a:prstGeom>
          <a:noFill/>
        </p:spPr>
        <p:txBody>
          <a:bodyPr wrap="square">
            <a:spAutoFit/>
          </a:bodyPr>
          <a:lstStyle/>
          <a:p>
            <a:pPr algn="r">
              <a:buNone/>
            </a:pPr>
            <a:r>
              <a:rPr sz="1000">
                <a:solidFill>
                  <a:srgbClr val="AAAAAA"/>
                </a:solidFill>
                <a:latin typeface="Helvetica Neue"/>
              </a:rPr>
              <a:t>22</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TotalTime>
  <Words>3479</Words>
  <Application>Microsoft Macintosh PowerPoint</Application>
  <PresentationFormat>Widescreen</PresentationFormat>
  <Paragraphs>226</Paragraphs>
  <Slides>22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Calibri Light</vt:lpstr>
      <vt:lpstr>Helvetica Neue</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Mick Grierson</cp:lastModifiedBy>
  <cp:revision>3</cp:revision>
  <dcterms:created xsi:type="dcterms:W3CDTF">2013-01-27T09:14:16Z</dcterms:created>
  <dcterms:modified xsi:type="dcterms:W3CDTF">2026-06-04T10:18:00Z</dcterms:modified>
  <cp:category/>
</cp:coreProperties>
</file>