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4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36F985-EC15-614B-B12B-EFF33F97BE36}"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817B0-2304-184D-8DB4-B04D3DAD3544}" type="slidenum">
              <a:rPr lang="en-US" smtClean="0"/>
              <a:t>‹#›</a:t>
            </a:fld>
            <a:endParaRPr lang="en-US"/>
          </a:p>
        </p:txBody>
      </p:sp>
    </p:spTree>
    <p:extLst>
      <p:ext uri="{BB962C8B-B14F-4D97-AF65-F5344CB8AC3E}">
        <p14:creationId xmlns:p14="http://schemas.microsoft.com/office/powerpoint/2010/main" val="353081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We're halfway through the series. By now students should have a working research question and a draft gap statement. This week we ask: once you know *what* you're investigating, *how* do you investigate it? The word "method" can feel intimidating — it shouldn't. A method is just a principled way of finding things out.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Emphasise the connection: the gap shapes the method, and the method shapes what kind of knowledge you can produce. If your gap is "we don't know how audiences respond to X," you need a method that involves audiences. If your gap is "no system exists that does Y," you need a method that involves building a system. This sounds obvious but students often choose methods that don't match their question.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The tool/method distinction trips up technical students especially. They describe what software they used, not what investigative logic they followed. The method is the *why* and the *how*, not the *with what*. Push on this: "you used PyTorch — great. But what was your experimental design? What were you comparing? How did you know when you'd learned something?"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key message of the lecture: methods are chosen, not given. You choose a method because it's the right tool for your question, not because it's the one you happen to know. That said, practical constraints are real — if you only have 12 weeks and no budget for participants, a large-scale user study isn't realistic. Part of good research design is knowing what's feasible.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Haseman's argument is that neither quantitative nor qualitative methods fully capture what practice-based researchers do. He's not dismissing those paradigms — he's saying there's a third one that the academy hasn't fully recognised. In creative computing, you might build a system (performative), measure its performance (quantitative), and interview people who used it (qualitative). The combination is fine — encouraged, even. But you should know which paradigm your core contribution sits 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Walk through each briefly with an example. Construction: "I built a real-time generative audio system." Technical evaluation: "I measured its latency at 12ms vs 45ms for the baseline." User study: "I had 10 performers use it and interviewed them afterwards." Reflective practice: "I kept a studio log of every design decision and why I made it." Comparative: "I compared the timbral range of my system's output against three existing synthesisers." Critical: "I used Borgdorff's framework to argue that the system produces non-propositional knowledge." Most projects use 2–3 of these.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most important slide for this cohort. Most of them will build things. The temptation is to treat the building as the whole project and the writing as an afterthought. Resist that. The building generates the knowledge; the writing makes the knowledge communicable. Without the writing, you have a demo. With it, you have a contribution.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Technical evaluation is where creative computing overlaps with CS/engineering. Students from art backgrounds may need support here; students from CS backgrounds may over-rely on it. The point is not to produce a benchmark paper — it's to demonstrate that your system does what you claim it does, and to show *how well* it does it relative to alternatives.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If students are doing any kind of user-facing work, point them to Lazar et al. It's comprehensive and practical. Also flag that any study involving participants will need ethical approval — we'll cover that in the next two slides. For sample sizes: in HCI and creative computing, qualitative studies with 5–12 participants are common and legitimate, provided you justify the number and analyse rigorously.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Schön is the foundational reference here. Reflective practice is sometimes dismissed as "just keeping a journal" — it isn't. The journal is the raw material; the reflection is the analytical work you do on it. The annotated portfolio approach (Gaver &amp; Bowers, 2012, in CHI) is especially useful for creative computing — it treats the artefacts themselves as evidence and the annotations as interpretation. If students are building iteratively, their Git history is already a partial process document. Encourage them to use meaningful commit messages.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The point of this slide is to save students time. These are well-cited, well-documented methods with clear procedures. Using them doesn't make your work less original — it makes it more rigorous and easier to assess. If a student says "I did thematic analysis following Braun &amp; Clarke (2006)," an examiner immediately knows what that means and can evaluate whether it was done well. If a student says "I sort of grouped the responses by theme," the examiner has no way to assess the rigour. Name your methods. Cite them.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"Bolted on" is the danger. A user study that doesn't connect to the research question is busywork. A technical evaluation that doesn't relate to the gap is irrelevant. Every method should earn its place by contributing something the others can't. If students are unsure, ask them: "what does this method tell you that the others don't?"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Students often write methods sections that are either too vague ("I tested it with some people") or too detailed about the wrong things ("I used a MacBook Pro M2 with 16GB RAM" — irrelevant unless hardware is part of the contribution). The test is: could someone read this section and understand your investigative logic? Could they, in principle, do something similar?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Be direct: students sometimes see ethics approval as an obstacle. It isn't. It's a design constraint that makes your research better. The process of filling in an ethics application forces you to think through your method carefully — who are your participants, what are you asking of them, how will you protect their data, what happens if something goes wrong? These are questions you should be asking anyway. The form just makes you write the answers down.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Be concrete about the common cases. "I scraped tweets for my training data" — that's secondary human data, needs ethics review. "I had my flatmates test my app" — that's a user study, needs ethics review. "I only used publicly available data" — still needs review, because public availability doesn't mean consent for research use. The pre-screen checklist is not the full application — it's a triage step that determines whether you need the full application. Everyone does the pre-screen. Not everyone needs the full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Don't rush through this. Students need to know these deadlines and links exist, and they need to know that ethics approval takes time — so if they're planning a user study for their final project, they should start the ethics process *now*, not two weeks before they want to run it. Also: the consent form is not just a signature page. It's a document that tells participants exactly what you're doing, why, what data you'll collect, how you'll store it, and how they can withdraw. Writing a good consent form is a research skill.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The two-sentence test is worth doing out loud. "My method is X, because my question is about Y and X is the established way of investigating Y." If students can say that clearly, they're in good shape. If they can't, they need to refine either the method or the question.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in-class exercise. Keep it to 10 minutes of writing, then 5 minutes of discussion. Likely answers — Project A: construction + technical evaluation (latency, audio quality) + reflective practice (design decisions for the installation context). Project B: construction + user study (usability testing with non-programmers) + comparative analysis (how does it compare to existing fine-tuning interfaces?). Project C: construction + critical/theoretical analysis (using gender theory to interpret the outputs) + reflective practice (documenting the artistic decision-making). Accept other reasonable answers — the point is that students can justify their choices.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Week 5 is where process documentation becomes concrete. If students start logging their process *this week*, they'll have material to work with next time. Even rough notes are useful. The habit matters more than the format.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arts.ac.uk/colleges/creative-computing-institute"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usability.gov/how-to-and-tools/methods/system-usability-scale.html" TargetMode="External"/><Relationship Id="rId7" Type="http://schemas.openxmlformats.org/officeDocument/2006/relationships/hyperlink" Target="https://www.cambridge.org/core/books/research-methods-for-humancomputer-interaction/43E95E979117C42DF822673D098474D2"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hyperlink" Target="https://www.sciencedirect.com/book/monograph/9780128053904/research-methods-in-human-computer-interaction" TargetMode="External"/><Relationship Id="rId5" Type="http://schemas.openxmlformats.org/officeDocument/2006/relationships/hyperlink" Target="http://www.attrakdiff.de/" TargetMode="External"/><Relationship Id="rId4" Type="http://schemas.openxmlformats.org/officeDocument/2006/relationships/hyperlink" Target="https://humansystems.arc.nasa.gov/groups/TLX/"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hyperlink" Target="https://link.springer.com/book/10.1057/9781137282910" TargetMode="External"/><Relationship Id="rId3" Type="http://schemas.openxmlformats.org/officeDocument/2006/relationships/hyperlink" Target="https://ixdf.org/literature/book/the-encyclopedia-of-human-computer-interaction-2nd-ed/research-through-design" TargetMode="External"/><Relationship Id="rId7" Type="http://schemas.openxmlformats.org/officeDocument/2006/relationships/hyperlink" Target="https://dl.acm.org/doi/10.1145/2317956.2318036"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hyperlink" Target="https://www.usability.gov/how-to-and-tools/methods/system-usability-scale.html" TargetMode="External"/><Relationship Id="rId5" Type="http://schemas.openxmlformats.org/officeDocument/2006/relationships/hyperlink" Target="https://www.tandfonline.com/doi/abs/10.1191/1478088706qp063oa" TargetMode="External"/><Relationship Id="rId4" Type="http://schemas.openxmlformats.org/officeDocument/2006/relationships/hyperlink" Target="https://link.springer.com/article/10.1007/s10796-006-9048-8"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forms.office.com/e/tDXR4bLikJ?origin=lprLink"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hyperlink" Target="https://wiki.cci.arts.ac.uk/books/research-knowledge-exchange-ethics/page/taught-course-ethics-procedures-aka-educational-ethic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artslondon.sharepoint.com/:w:/t/CCICRESC583/EaNQpsseI85MqPPhu-l3-3AB1c_0aLg3jEmMvdKKSvNPmg?e=lvfHQa"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hyperlink" Target="https://artslondon.sharepoint.com/:w:/t/CCICRESC583/EbWJA-9bvelIo5f-6Wlg02wBkvMc4ny1wKDCNp_Nf2ip6w?e=0yzZQf" TargetMode="External"/><Relationship Id="rId4" Type="http://schemas.openxmlformats.org/officeDocument/2006/relationships/hyperlink" Target="https://artslondon.sharepoint.com/:w:/t/CCICRESC583/EUKGtar3dg9ApSGJO9oaDJoBei5fROENFLLsh5NApzRVRQ?e=nCziHs"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dl.acm.org/doi/10.1145/2317956.2318036"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hyperlink" Target="https://www.sciencedirect.com/book/monograph/9780128053904/research-methods-in-human-computer-interaction" TargetMode="External"/><Relationship Id="rId3" Type="http://schemas.openxmlformats.org/officeDocument/2006/relationships/hyperlink" Target="https://link.springer.com/book/10.1057/9781137282910" TargetMode="External"/><Relationship Id="rId7" Type="http://schemas.openxmlformats.org/officeDocument/2006/relationships/hyperlink" Target="https://link.springer.com/article/10.1007/s10796-006-9048-8" TargetMode="External"/><Relationship Id="rId2" Type="http://schemas.openxmlformats.org/officeDocument/2006/relationships/hyperlink" Target="https://journals.sagepub.com/doi/10.1177/1329878X0611800113" TargetMode="External"/><Relationship Id="rId1" Type="http://schemas.openxmlformats.org/officeDocument/2006/relationships/slideLayout" Target="../slideLayouts/slideLayout7.xml"/><Relationship Id="rId6" Type="http://schemas.openxmlformats.org/officeDocument/2006/relationships/hyperlink" Target="https://dl.acm.org/doi/10.1145/1240624.1240704" TargetMode="External"/><Relationship Id="rId5" Type="http://schemas.openxmlformats.org/officeDocument/2006/relationships/hyperlink" Target="https://dl.acm.org/doi/10.1145/2317956.2318036" TargetMode="External"/><Relationship Id="rId10" Type="http://schemas.openxmlformats.org/officeDocument/2006/relationships/hyperlink" Target="https://artslondon.sharepoint.com/:b:/s/CCI/ERT-H4auVVxFmZPFI3OJCskBnXqpo63uRMWUbgF7qPNv0w?e=n0NocH" TargetMode="External"/><Relationship Id="rId4" Type="http://schemas.openxmlformats.org/officeDocument/2006/relationships/hyperlink" Target="https://www.tandfonline.com/doi/abs/10.1191/1478088706qp063oa" TargetMode="External"/><Relationship Id="rId9" Type="http://schemas.openxmlformats.org/officeDocument/2006/relationships/hyperlink" Target="https://wiki.cci.arts.ac.uk/books/research-knowledge-exchange-ethics/page/taught-course-ethics-procedures-aka-educational-ethic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800" b="1" i="0">
                <a:solidFill>
                  <a:srgbClr val="1A1A2E"/>
                </a:solidFill>
                <a:latin typeface="Helvetica Neue"/>
              </a:rPr>
              <a:t>MSc Creative Computing</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2031325"/>
          </a:xfrm>
          <a:prstGeom prst="rect">
            <a:avLst/>
          </a:prstGeom>
          <a:noFill/>
        </p:spPr>
        <p:txBody>
          <a:bodyPr wrap="square">
            <a:spAutoFit/>
          </a:bodyPr>
          <a:lstStyle/>
          <a:p>
            <a:pPr algn="l">
              <a:buNone/>
            </a:pPr>
            <a:endParaRPr lang="en-GB" sz="2200" b="1" i="0" dirty="0">
              <a:solidFill>
                <a:srgbClr val="1A1A2E"/>
              </a:solidFill>
              <a:latin typeface="Helvetica Neue"/>
            </a:endParaRPr>
          </a:p>
          <a:p>
            <a:pPr algn="l">
              <a:buNone/>
            </a:pPr>
            <a:r>
              <a:rPr sz="2200" b="1" i="0" dirty="0">
                <a:solidFill>
                  <a:srgbClr val="1A1A2E"/>
                </a:solidFill>
                <a:latin typeface="Helvetica Neue"/>
              </a:rPr>
              <a:t>Practice as Research — Lecture 4</a:t>
            </a:r>
          </a:p>
          <a:p>
            <a:pPr algn="l">
              <a:buNone/>
            </a:pPr>
            <a:r>
              <a:rPr sz="2100" b="1" i="0" dirty="0">
                <a:solidFill>
                  <a:srgbClr val="1A1A2E"/>
                </a:solidFill>
                <a:latin typeface="Helvetica Neue"/>
              </a:rPr>
              <a:t>Choosing and designing methods</a:t>
            </a:r>
          </a:p>
          <a:p>
            <a:pPr>
              <a:buNone/>
            </a:pPr>
            <a:endParaRPr sz="2100" b="1" i="0" dirty="0">
              <a:solidFill>
                <a:srgbClr val="1A1A2E"/>
              </a:solidFill>
              <a:latin typeface="Helvetica Neue"/>
            </a:endParaRPr>
          </a:p>
          <a:p>
            <a:pPr algn="l">
              <a:buNone/>
            </a:pPr>
            <a:r>
              <a:rPr sz="2000" b="0" i="0" dirty="0">
                <a:solidFill>
                  <a:srgbClr val="222222"/>
                </a:solidFill>
                <a:latin typeface="Helvetica Neue"/>
              </a:rPr>
              <a:t>Mick Grierson — Creative Computing Institute, UAL</a:t>
            </a:r>
          </a:p>
          <a:p>
            <a:pPr>
              <a:buNone/>
            </a:pPr>
            <a:endParaRPr sz="2000" b="0" i="0" dirty="0">
              <a:solidFill>
                <a:srgbClr val="222222"/>
              </a:solidFill>
              <a:latin typeface="Helvetica Neue"/>
            </a:endParaRP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Practice as Research</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1" i="0">
                <a:solidFill>
                  <a:srgbClr val="222222"/>
                </a:solidFill>
                <a:latin typeface="Helvetica Neue"/>
              </a:rPr>
              <a:t>Choosing and Designing Methods</a:t>
            </a:r>
          </a:p>
          <a:p>
            <a:pPr algn="l">
              <a:buNone/>
            </a:pPr>
            <a:r>
              <a:rPr sz="2000" b="0" i="0">
                <a:solidFill>
                  <a:srgbClr val="222222"/>
                </a:solidFill>
                <a:latin typeface="Helvetica Neue"/>
              </a:rPr>
              <a:t>Lecture 4 of 8 — Practice as Research</a:t>
            </a:r>
          </a:p>
          <a:p>
            <a:pPr>
              <a:buNone/>
            </a:pPr>
            <a:endParaRPr sz="2000" b="0" i="0">
              <a:solidFill>
                <a:srgbClr val="222222"/>
              </a:solidFill>
              <a:latin typeface="Helvetica Neue"/>
            </a:endParaRPr>
          </a:p>
          <a:p>
            <a:pPr algn="l">
              <a:buNone/>
            </a:pPr>
            <a:r>
              <a:rPr sz="2000" b="0" i="0">
                <a:solidFill>
                  <a:srgbClr val="222222"/>
                </a:solidFill>
                <a:latin typeface="Helvetica Neue"/>
              </a:rPr>
              <a:t>Mick Grierson, </a:t>
            </a:r>
            <a:r>
              <a:rPr sz="2000" b="0" i="0">
                <a:solidFill>
                  <a:srgbClr val="222222"/>
                </a:solidFill>
                <a:latin typeface="Helvetica Neue"/>
                <a:hlinkClick r:id="rId3"/>
              </a:rPr>
              <a:t>Creative Computing Institute</a:t>
            </a:r>
            <a:r>
              <a:rPr sz="2000" b="0" i="0">
                <a:solidFill>
                  <a:srgbClr val="222222"/>
                </a:solidFill>
                <a:latin typeface="Helvetica Neue"/>
              </a:rPr>
              <a:t>, UAL</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Recap: where we are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Week 1: Research = edge + hypothesis + test.</a:t>
            </a:r>
          </a:p>
          <a:p>
            <a:pPr algn="l">
              <a:buNone/>
            </a:pPr>
            <a:r>
              <a:rPr sz="2000" b="0" i="0">
                <a:solidFill>
                  <a:srgbClr val="222222"/>
                </a:solidFill>
                <a:latin typeface="Helvetica Neue"/>
              </a:rPr>
              <a:t>Week 2: Practice produces knowledge — procedural, experiential, tacit, propositional, critical.</a:t>
            </a:r>
          </a:p>
          <a:p>
            <a:pPr algn="l">
              <a:buNone/>
            </a:pPr>
            <a:r>
              <a:rPr sz="2000" b="0" i="0">
                <a:solidFill>
                  <a:srgbClr val="222222"/>
                </a:solidFill>
                <a:latin typeface="Helvetica Neue"/>
              </a:rPr>
              <a:t>Week 3: Finding the gap — situating your work in a field.</a:t>
            </a:r>
          </a:p>
          <a:p>
            <a:pPr>
              <a:buNone/>
            </a:pPr>
            <a:endParaRPr sz="2000" b="0" i="0">
              <a:solidFill>
                <a:srgbClr val="222222"/>
              </a:solidFill>
              <a:latin typeface="Helvetica Neue"/>
            </a:endParaRPr>
          </a:p>
          <a:p>
            <a:pPr algn="l">
              <a:buNone/>
            </a:pPr>
            <a:r>
              <a:rPr sz="2000" b="0" i="0">
                <a:solidFill>
                  <a:srgbClr val="222222"/>
                </a:solidFill>
                <a:latin typeface="Helvetica Neue"/>
              </a:rPr>
              <a:t>Today: </a:t>
            </a:r>
            <a:r>
              <a:rPr sz="2000" b="1" i="0">
                <a:solidFill>
                  <a:srgbClr val="222222"/>
                </a:solidFill>
                <a:latin typeface="Helvetica Neue"/>
              </a:rPr>
              <a:t>How do you investigate your gap?</a:t>
            </a:r>
          </a:p>
          <a:p>
            <a:pPr>
              <a:buNone/>
            </a:pPr>
            <a:endParaRPr sz="2000" b="1" i="0">
              <a:solidFill>
                <a:srgbClr val="222222"/>
              </a:solidFill>
              <a:latin typeface="Helvetica Neue"/>
            </a:endParaRPr>
          </a:p>
          <a:p>
            <a:pPr algn="l">
              <a:buNone/>
            </a:pPr>
            <a:r>
              <a:rPr sz="2000" b="0" i="0">
                <a:solidFill>
                  <a:srgbClr val="222222"/>
                </a:solidFill>
                <a:latin typeface="Helvetica Neue"/>
              </a:rPr>
              <a:t>A gap tells you what's missing. A method tells you how you're going to fill it — and why that approach is appropriate.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What is a method?</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A method is a </a:t>
            </a:r>
            <a:r>
              <a:rPr sz="2000" b="1" i="0">
                <a:solidFill>
                  <a:srgbClr val="222222"/>
                </a:solidFill>
                <a:latin typeface="Helvetica Neue"/>
              </a:rPr>
              <a:t>systematic way of doing something that can be described, justified, and repeated</a:t>
            </a:r>
            <a:r>
              <a:rPr sz="2000" b="0" i="0">
                <a:solidFill>
                  <a:srgbClr val="222222"/>
                </a:solidFill>
                <a:latin typeface="Helvetica Neue"/>
              </a:rPr>
              <a:t> (at least in principle).</a:t>
            </a:r>
          </a:p>
          <a:p>
            <a:pPr>
              <a:buNone/>
            </a:pPr>
            <a:endParaRPr sz="2000" b="0" i="0">
              <a:solidFill>
                <a:srgbClr val="222222"/>
              </a:solidFill>
              <a:latin typeface="Helvetica Neue"/>
            </a:endParaRPr>
          </a:p>
          <a:p>
            <a:pPr algn="l">
              <a:buNone/>
            </a:pPr>
            <a:r>
              <a:rPr sz="2000" b="0" i="0">
                <a:solidFill>
                  <a:srgbClr val="222222"/>
                </a:solidFill>
                <a:latin typeface="Helvetica Neue"/>
              </a:rPr>
              <a:t>It is not the same as a tool. Python is not a method. TensorFlow is not a method. A method is the </a:t>
            </a:r>
            <a:r>
              <a:rPr sz="2000" b="0" i="1">
                <a:solidFill>
                  <a:srgbClr val="222222"/>
                </a:solidFill>
                <a:latin typeface="Helvetica Neue"/>
              </a:rPr>
              <a:t>logic</a:t>
            </a:r>
            <a:r>
              <a:rPr sz="2000" b="0" i="0">
                <a:solidFill>
                  <a:srgbClr val="222222"/>
                </a:solidFill>
                <a:latin typeface="Helvetica Neue"/>
              </a:rPr>
              <a:t> behind what you do with those tools.</a:t>
            </a:r>
          </a:p>
          <a:p>
            <a:pPr>
              <a:buNone/>
            </a:pPr>
            <a:endParaRPr sz="2000" b="0" i="0">
              <a:solidFill>
                <a:srgbClr val="222222"/>
              </a:solidFill>
              <a:latin typeface="Helvetica Neue"/>
            </a:endParaRPr>
          </a:p>
          <a:p>
            <a:pPr algn="l">
              <a:buNone/>
            </a:pPr>
            <a:r>
              <a:rPr sz="2000" b="0" i="0">
                <a:solidFill>
                  <a:srgbClr val="222222"/>
                </a:solidFill>
                <a:latin typeface="Helvetica Neue"/>
              </a:rPr>
              <a:t>"I trained a neural network" is not a method.</a:t>
            </a:r>
          </a:p>
          <a:p>
            <a:pPr algn="l">
              <a:buNone/>
            </a:pPr>
            <a:r>
              <a:rPr sz="2000" b="0" i="0">
                <a:solidFill>
                  <a:srgbClr val="222222"/>
                </a:solidFill>
                <a:latin typeface="Helvetica Neue"/>
              </a:rPr>
              <a:t>"I trained a neural network on X data, varied Y parameter, measured Z outcome, and compared against baseline W" — that's closer.</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Methods are not one-size-fits-all</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Different research questions need different methods. The method has to match:</a:t>
            </a:r>
          </a:p>
          <a:p>
            <a:pPr>
              <a:buNone/>
            </a:pPr>
            <a:endParaRPr sz="2000" b="0" i="0">
              <a:solidFill>
                <a:srgbClr val="222222"/>
              </a:solidFill>
              <a:latin typeface="Helvetica Neue"/>
            </a:endParaRPr>
          </a:p>
          <a:p>
            <a:pPr algn="l">
              <a:buNone/>
            </a:pPr>
            <a:r>
              <a:rPr sz="2000" b="1" i="0">
                <a:solidFill>
                  <a:srgbClr val="222222"/>
                </a:solidFill>
                <a:latin typeface="Helvetica Neue"/>
              </a:rPr>
              <a:t>The type of gap</a:t>
            </a:r>
            <a:r>
              <a:rPr sz="2000" b="0" i="0">
                <a:solidFill>
                  <a:srgbClr val="222222"/>
                </a:solidFill>
                <a:latin typeface="Helvetica Neue"/>
              </a:rPr>
              <a:t> — a knowledge gap needs investigation; a method gap needs construction and evaluation; a critical gap needs analysis and argumentation.</a:t>
            </a:r>
          </a:p>
          <a:p>
            <a:pPr>
              <a:buNone/>
            </a:pPr>
            <a:endParaRPr sz="2000" b="0" i="0">
              <a:solidFill>
                <a:srgbClr val="222222"/>
              </a:solidFill>
              <a:latin typeface="Helvetica Neue"/>
            </a:endParaRPr>
          </a:p>
          <a:p>
            <a:pPr algn="l">
              <a:buNone/>
            </a:pPr>
            <a:r>
              <a:rPr sz="2000" b="1" i="0">
                <a:solidFill>
                  <a:srgbClr val="222222"/>
                </a:solidFill>
                <a:latin typeface="Helvetica Neue"/>
              </a:rPr>
              <a:t>The type of knowledge you want to produce</a:t>
            </a:r>
            <a:r>
              <a:rPr sz="2000" b="0" i="0">
                <a:solidFill>
                  <a:srgbClr val="222222"/>
                </a:solidFill>
                <a:latin typeface="Helvetica Neue"/>
              </a:rPr>
              <a:t> — propositional knowledge needs controlled comparison; experiential knowledge needs encounter and documentation; tacit knowledge needs reflective practice.</a:t>
            </a:r>
          </a:p>
          <a:p>
            <a:pPr>
              <a:buNone/>
            </a:pPr>
            <a:endParaRPr sz="2000" b="0" i="0">
              <a:solidFill>
                <a:srgbClr val="222222"/>
              </a:solidFill>
              <a:latin typeface="Helvetica Neue"/>
            </a:endParaRPr>
          </a:p>
          <a:p>
            <a:pPr algn="l">
              <a:buNone/>
            </a:pPr>
            <a:r>
              <a:rPr sz="2000" b="1" i="0">
                <a:solidFill>
                  <a:srgbClr val="222222"/>
                </a:solidFill>
                <a:latin typeface="Helvetica Neue"/>
              </a:rPr>
              <a:t>The practical constraints</a:t>
            </a:r>
            <a:r>
              <a:rPr sz="2000" b="0" i="0">
                <a:solidFill>
                  <a:srgbClr val="222222"/>
                </a:solidFill>
                <a:latin typeface="Helvetica Neue"/>
              </a:rPr>
              <a:t> — time, access, equipment, ethics, your own skills.</a:t>
            </a:r>
          </a:p>
          <a:p>
            <a:pPr>
              <a:buNone/>
            </a:pPr>
            <a:endParaRPr sz="2000" b="0" i="0">
              <a:solidFill>
                <a:srgbClr val="222222"/>
              </a:solidFill>
              <a:latin typeface="Helvetica Neue"/>
            </a:endParaRPr>
          </a:p>
          <a:p>
            <a:pPr algn="l">
              <a:buNone/>
            </a:pPr>
            <a:r>
              <a:rPr sz="2000" b="0" i="0">
                <a:solidFill>
                  <a:srgbClr val="222222"/>
                </a:solidFill>
                <a:latin typeface="Helvetica Neue"/>
              </a:rPr>
              <a:t>There is no single correct method for any project. There are better and worse fits.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Haseman's three paradigms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Haseman (2006) argues that practice-led research doesn't fit neatly into the two established paradigms (Haseman, B. (2006). A Manifesto for Performative Research. Media International Australia, 118(1), 98-106.):</a:t>
            </a:r>
          </a:p>
          <a:p>
            <a:pPr>
              <a:buNone/>
            </a:pPr>
            <a:endParaRPr sz="2000" b="0" i="0">
              <a:solidFill>
                <a:srgbClr val="222222"/>
              </a:solidFill>
              <a:latin typeface="Helvetica Neue"/>
            </a:endParaRPr>
          </a:p>
          <a:p>
            <a:pPr algn="l">
              <a:buNone/>
            </a:pPr>
            <a:r>
              <a:rPr sz="2000" b="1" i="0">
                <a:solidFill>
                  <a:srgbClr val="222222"/>
                </a:solidFill>
                <a:latin typeface="Helvetica Neue"/>
              </a:rPr>
              <a:t>Quantitative</a:t>
            </a:r>
            <a:r>
              <a:rPr sz="2000" b="0" i="0">
                <a:solidFill>
                  <a:srgbClr val="222222"/>
                </a:solidFill>
                <a:latin typeface="Helvetica Neue"/>
              </a:rPr>
              <a:t> — hypothesis testing, controlled variables, statistical analysis. Produces numerical data. Answers "how much" and "how often."</a:t>
            </a:r>
          </a:p>
          <a:p>
            <a:pPr>
              <a:buNone/>
            </a:pPr>
            <a:endParaRPr sz="2000" b="0" i="0">
              <a:solidFill>
                <a:srgbClr val="222222"/>
              </a:solidFill>
              <a:latin typeface="Helvetica Neue"/>
            </a:endParaRPr>
          </a:p>
          <a:p>
            <a:pPr algn="l">
              <a:buNone/>
            </a:pPr>
            <a:r>
              <a:rPr sz="2000" b="1" i="0">
                <a:solidFill>
                  <a:srgbClr val="222222"/>
                </a:solidFill>
                <a:latin typeface="Helvetica Neue"/>
              </a:rPr>
              <a:t>Qualitative</a:t>
            </a:r>
            <a:r>
              <a:rPr sz="2000" b="0" i="0">
                <a:solidFill>
                  <a:srgbClr val="222222"/>
                </a:solidFill>
                <a:latin typeface="Helvetica Neue"/>
              </a:rPr>
              <a:t> — interviews, ethnography, thematic analysis. Produces textual/descriptive data. Answers "what is it like" and "what does it mean."</a:t>
            </a:r>
          </a:p>
          <a:p>
            <a:pPr>
              <a:buNone/>
            </a:pPr>
            <a:endParaRPr sz="2000" b="0" i="0">
              <a:solidFill>
                <a:srgbClr val="222222"/>
              </a:solidFill>
              <a:latin typeface="Helvetica Neue"/>
            </a:endParaRPr>
          </a:p>
          <a:p>
            <a:pPr algn="l">
              <a:buNone/>
            </a:pPr>
            <a:r>
              <a:rPr sz="2000" b="1" i="0">
                <a:solidFill>
                  <a:srgbClr val="222222"/>
                </a:solidFill>
                <a:latin typeface="Helvetica Neue"/>
              </a:rPr>
              <a:t>Performative</a:t>
            </a:r>
            <a:r>
              <a:rPr sz="2000" b="0" i="0">
                <a:solidFill>
                  <a:srgbClr val="222222"/>
                </a:solidFill>
                <a:latin typeface="Helvetica Neue"/>
              </a:rPr>
              <a:t> — Haseman's proposed third paradigm. The research output is not a number or a text — it is a </a:t>
            </a:r>
            <a:r>
              <a:rPr sz="2000" b="1" i="0">
                <a:solidFill>
                  <a:srgbClr val="222222"/>
                </a:solidFill>
                <a:latin typeface="Helvetica Neue"/>
              </a:rPr>
              <a:t>practice</a:t>
            </a:r>
            <a:r>
              <a:rPr sz="2000" b="0" i="0">
                <a:solidFill>
                  <a:srgbClr val="222222"/>
                </a:solidFill>
                <a:latin typeface="Helvetica Neue"/>
              </a:rPr>
              <a:t>, an artefact, a performance. The research is expressed </a:t>
            </a:r>
            <a:r>
              <a:rPr sz="2000" b="0" i="1">
                <a:solidFill>
                  <a:srgbClr val="222222"/>
                </a:solidFill>
                <a:latin typeface="Helvetica Neue"/>
              </a:rPr>
              <a:t>through</a:t>
            </a:r>
            <a:r>
              <a:rPr sz="2000" b="0" i="0">
                <a:solidFill>
                  <a:srgbClr val="222222"/>
                </a:solidFill>
                <a:latin typeface="Helvetica Neue"/>
              </a:rPr>
              <a:t> the doing.</a:t>
            </a:r>
          </a:p>
          <a:p>
            <a:pPr>
              <a:buNone/>
            </a:pPr>
            <a:endParaRPr sz="2000" b="0" i="0">
              <a:solidFill>
                <a:srgbClr val="222222"/>
              </a:solidFill>
              <a:latin typeface="Helvetica Neue"/>
            </a:endParaRPr>
          </a:p>
          <a:p>
            <a:pPr algn="l">
              <a:buNone/>
            </a:pPr>
            <a:r>
              <a:rPr sz="2000" b="0" i="0">
                <a:solidFill>
                  <a:srgbClr val="222222"/>
                </a:solidFill>
                <a:latin typeface="Helvetica Neue"/>
              </a:rPr>
              <a:t>Most creative computing projects involve elements of </a:t>
            </a:r>
            <a:r>
              <a:rPr sz="2000" b="1" i="0">
                <a:solidFill>
                  <a:srgbClr val="222222"/>
                </a:solidFill>
                <a:latin typeface="Helvetica Neue"/>
              </a:rPr>
              <a:t>all three</a:t>
            </a:r>
            <a:r>
              <a:rPr sz="2000" b="0" i="0">
                <a:solidFill>
                  <a:srgbClr val="222222"/>
                </a:solidFill>
                <a:latin typeface="Helvetica Neue"/>
              </a:rPr>
              <a:t>. The question is which is primary and how the others support it.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 toolkit of methods for practice-based research</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Here are methods you are likely to use. You don't need all of them. You need the ones that fit your question.</a:t>
            </a:r>
          </a:p>
          <a:p>
            <a:pPr>
              <a:buNone/>
            </a:pPr>
            <a:endParaRPr sz="1800" b="0" i="0">
              <a:solidFill>
                <a:srgbClr val="222222"/>
              </a:solidFill>
              <a:latin typeface="Helvetica Neue"/>
            </a:endParaRPr>
          </a:p>
          <a:p>
            <a:pPr algn="l">
              <a:buNone/>
            </a:pPr>
            <a:r>
              <a:rPr sz="1800" b="1" i="0">
                <a:solidFill>
                  <a:srgbClr val="222222"/>
                </a:solidFill>
                <a:latin typeface="Helvetica Neue"/>
              </a:rPr>
              <a:t>Construction / system building</a:t>
            </a:r>
            <a:r>
              <a:rPr sz="1800" b="0" i="0">
                <a:solidFill>
                  <a:srgbClr val="222222"/>
                </a:solidFill>
                <a:latin typeface="Helvetica Neue"/>
              </a:rPr>
              <a:t> — you make something. The making </a:t>
            </a:r>
            <a:r>
              <a:rPr sz="1800" b="0" i="1">
                <a:solidFill>
                  <a:srgbClr val="222222"/>
                </a:solidFill>
                <a:latin typeface="Helvetica Neue"/>
              </a:rPr>
              <a:t>is</a:t>
            </a:r>
            <a:r>
              <a:rPr sz="1800" b="0" i="0">
                <a:solidFill>
                  <a:srgbClr val="222222"/>
                </a:solidFill>
                <a:latin typeface="Helvetica Neue"/>
              </a:rPr>
              <a:t> the investigation. This is the core of most practice-based work in creative computing.</a:t>
            </a:r>
          </a:p>
          <a:p>
            <a:pPr>
              <a:buNone/>
            </a:pPr>
            <a:endParaRPr sz="1800" b="0" i="0">
              <a:solidFill>
                <a:srgbClr val="222222"/>
              </a:solidFill>
              <a:latin typeface="Helvetica Neue"/>
            </a:endParaRPr>
          </a:p>
          <a:p>
            <a:pPr algn="l">
              <a:buNone/>
            </a:pPr>
            <a:r>
              <a:rPr sz="1800" b="1" i="0">
                <a:solidFill>
                  <a:srgbClr val="222222"/>
                </a:solidFill>
                <a:latin typeface="Helvetica Neue"/>
              </a:rPr>
              <a:t>Technical evaluation</a:t>
            </a:r>
            <a:r>
              <a:rPr sz="1800" b="0" i="0">
                <a:solidFill>
                  <a:srgbClr val="222222"/>
                </a:solidFill>
                <a:latin typeface="Helvetica Neue"/>
              </a:rPr>
              <a:t> — you measure your system's performance against a baseline or benchmark. Latency, accuracy, perceptual quality, computational cost.</a:t>
            </a:r>
          </a:p>
          <a:p>
            <a:pPr>
              <a:buNone/>
            </a:pPr>
            <a:endParaRPr sz="1800" b="0" i="0">
              <a:solidFill>
                <a:srgbClr val="222222"/>
              </a:solidFill>
              <a:latin typeface="Helvetica Neue"/>
            </a:endParaRPr>
          </a:p>
          <a:p>
            <a:pPr algn="l">
              <a:buNone/>
            </a:pPr>
            <a:r>
              <a:rPr sz="1800" b="1" i="0">
                <a:solidFill>
                  <a:srgbClr val="222222"/>
                </a:solidFill>
                <a:latin typeface="Helvetica Neue"/>
              </a:rPr>
              <a:t>User study / participant evaluation</a:t>
            </a:r>
            <a:r>
              <a:rPr sz="1800" b="0" i="0">
                <a:solidFill>
                  <a:srgbClr val="222222"/>
                </a:solidFill>
                <a:latin typeface="Helvetica Neue"/>
              </a:rPr>
              <a:t> — you put your system in front of people and gather data on how they experience, use, or respond to it.</a:t>
            </a:r>
          </a:p>
          <a:p>
            <a:pPr>
              <a:buNone/>
            </a:pPr>
            <a:endParaRPr sz="1800" b="0" i="0">
              <a:solidFill>
                <a:srgbClr val="222222"/>
              </a:solidFill>
              <a:latin typeface="Helvetica Neue"/>
            </a:endParaRPr>
          </a:p>
          <a:p>
            <a:pPr algn="l">
              <a:buNone/>
            </a:pPr>
            <a:r>
              <a:rPr sz="1800" b="1" i="0">
                <a:solidFill>
                  <a:srgbClr val="222222"/>
                </a:solidFill>
                <a:latin typeface="Helvetica Neue"/>
              </a:rPr>
              <a:t>Reflective practice</a:t>
            </a:r>
            <a:r>
              <a:rPr sz="1800" b="0" i="0">
                <a:solidFill>
                  <a:srgbClr val="222222"/>
                </a:solidFill>
                <a:latin typeface="Helvetica Neue"/>
              </a:rPr>
              <a:t> — you document your own process of making, noting decisions, surprises, dead ends, and discoveries. This is where tacit knowledge becomes (partially) explicit.</a:t>
            </a:r>
          </a:p>
          <a:p>
            <a:pPr>
              <a:buNone/>
            </a:pPr>
            <a:endParaRPr sz="1800" b="0" i="0">
              <a:solidFill>
                <a:srgbClr val="222222"/>
              </a:solidFill>
              <a:latin typeface="Helvetica Neue"/>
            </a:endParaRPr>
          </a:p>
          <a:p>
            <a:pPr algn="l">
              <a:buNone/>
            </a:pPr>
            <a:r>
              <a:rPr sz="1800" b="1" i="0">
                <a:solidFill>
                  <a:srgbClr val="222222"/>
                </a:solidFill>
                <a:latin typeface="Helvetica Neue"/>
              </a:rPr>
              <a:t>Comparative analysis</a:t>
            </a:r>
            <a:r>
              <a:rPr sz="1800" b="0" i="0">
                <a:solidFill>
                  <a:srgbClr val="222222"/>
                </a:solidFill>
                <a:latin typeface="Helvetica Neue"/>
              </a:rPr>
              <a:t> — you compare your approach to existing approaches, technically or critically.</a:t>
            </a:r>
          </a:p>
          <a:p>
            <a:pPr>
              <a:buNone/>
            </a:pPr>
            <a:endParaRPr sz="1800" b="0" i="0">
              <a:solidFill>
                <a:srgbClr val="222222"/>
              </a:solidFill>
              <a:latin typeface="Helvetica Neue"/>
            </a:endParaRPr>
          </a:p>
          <a:p>
            <a:pPr algn="l">
              <a:buNone/>
            </a:pPr>
            <a:r>
              <a:rPr sz="1800" b="1" i="0">
                <a:solidFill>
                  <a:srgbClr val="222222"/>
                </a:solidFill>
                <a:latin typeface="Helvetica Neue"/>
              </a:rPr>
              <a:t>Critical/theoretical analysis</a:t>
            </a:r>
            <a:r>
              <a:rPr sz="1800" b="0" i="0">
                <a:solidFill>
                  <a:srgbClr val="222222"/>
                </a:solidFill>
                <a:latin typeface="Helvetica Neue"/>
              </a:rPr>
              <a:t> — you use theory to interpret what your artefact does or reveals.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Construction as method</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In creative computing, </a:t>
            </a:r>
            <a:r>
              <a:rPr sz="1800" b="1" i="0">
                <a:solidFill>
                  <a:srgbClr val="222222"/>
                </a:solidFill>
                <a:latin typeface="Helvetica Neue"/>
              </a:rPr>
              <a:t>building something is itself a research method</a:t>
            </a:r>
            <a:r>
              <a:rPr sz="1800" b="0" i="0">
                <a:solidFill>
                  <a:srgbClr val="222222"/>
                </a:solidFill>
                <a:latin typeface="Helvetica Neue"/>
              </a:rPr>
              <a:t> — not a preliminary to research.</a:t>
            </a:r>
          </a:p>
          <a:p>
            <a:pPr>
              <a:buNone/>
            </a:pPr>
            <a:endParaRPr sz="1800" b="0" i="0">
              <a:solidFill>
                <a:srgbClr val="222222"/>
              </a:solidFill>
              <a:latin typeface="Helvetica Neue"/>
            </a:endParaRPr>
          </a:p>
          <a:p>
            <a:pPr algn="l">
              <a:buNone/>
            </a:pPr>
            <a:r>
              <a:rPr sz="1800" b="0" i="0">
                <a:solidFill>
                  <a:srgbClr val="222222"/>
                </a:solidFill>
                <a:latin typeface="Helvetica Neue"/>
              </a:rPr>
              <a:t>This is what Borgdorff means by research </a:t>
            </a:r>
            <a:r>
              <a:rPr sz="1800" b="0" i="1">
                <a:solidFill>
                  <a:srgbClr val="222222"/>
                </a:solidFill>
                <a:latin typeface="Helvetica Neue"/>
              </a:rPr>
              <a:t>in and through</a:t>
            </a:r>
            <a:r>
              <a:rPr sz="1800" b="0" i="0">
                <a:solidFill>
                  <a:srgbClr val="222222"/>
                </a:solidFill>
                <a:latin typeface="Helvetica Neue"/>
              </a:rPr>
              <a:t> the arts, and what Smith &amp; Dean's iterative cyclic web describes: the building process generates knowledge that couldn't have been produced any other way.</a:t>
            </a:r>
          </a:p>
          <a:p>
            <a:pPr>
              <a:buNone/>
            </a:pPr>
            <a:endParaRPr sz="1800" b="0" i="0">
              <a:solidFill>
                <a:srgbClr val="222222"/>
              </a:solidFill>
              <a:latin typeface="Helvetica Neue"/>
            </a:endParaRPr>
          </a:p>
          <a:p>
            <a:pPr algn="l">
              <a:buNone/>
            </a:pPr>
            <a:r>
              <a:rPr sz="1800" b="0" i="0">
                <a:solidFill>
                  <a:srgbClr val="222222"/>
                </a:solidFill>
                <a:latin typeface="Helvetica Neue"/>
              </a:rPr>
              <a:t>But construction alone is not sufficient. You also need to:</a:t>
            </a:r>
          </a:p>
          <a:p>
            <a:pPr>
              <a:buNone/>
            </a:pPr>
            <a:endParaRPr sz="1800" b="0" i="0">
              <a:solidFill>
                <a:srgbClr val="222222"/>
              </a:solidFill>
              <a:latin typeface="Helvetica Neue"/>
            </a:endParaRPr>
          </a:p>
          <a:p>
            <a:pPr marL="342900" algn="l">
              <a:buNone/>
            </a:pPr>
            <a:r>
              <a:rPr sz="1800" b="0" i="0">
                <a:solidFill>
                  <a:srgbClr val="222222"/>
                </a:solidFill>
                <a:latin typeface="Helvetica Neue"/>
              </a:rPr>
              <a:t>1.  </a:t>
            </a:r>
            <a:r>
              <a:rPr sz="1800" b="1" i="0">
                <a:solidFill>
                  <a:srgbClr val="222222"/>
                </a:solidFill>
                <a:latin typeface="Helvetica Neue"/>
              </a:rPr>
              <a:t>Document</a:t>
            </a:r>
            <a:r>
              <a:rPr sz="1800" b="0" i="0">
                <a:solidFill>
                  <a:srgbClr val="222222"/>
                </a:solidFill>
                <a:latin typeface="Helvetica Neue"/>
              </a:rPr>
              <a:t> what you built and why — the design decisions, the architecture, the constraints.</a:t>
            </a:r>
          </a:p>
          <a:p>
            <a:pPr marL="342900" algn="l">
              <a:buNone/>
            </a:pPr>
            <a:r>
              <a:rPr sz="1800" b="0" i="0">
                <a:solidFill>
                  <a:srgbClr val="222222"/>
                </a:solidFill>
                <a:latin typeface="Helvetica Neue"/>
              </a:rPr>
              <a:t>2.  </a:t>
            </a:r>
            <a:r>
              <a:rPr sz="1800" b="1" i="0">
                <a:solidFill>
                  <a:srgbClr val="222222"/>
                </a:solidFill>
                <a:latin typeface="Helvetica Neue"/>
              </a:rPr>
              <a:t>Contextualise</a:t>
            </a:r>
            <a:r>
              <a:rPr sz="1800" b="0" i="0">
                <a:solidFill>
                  <a:srgbClr val="222222"/>
                </a:solidFill>
                <a:latin typeface="Helvetica Neue"/>
              </a:rPr>
              <a:t> it — how does it relate to what already exists?</a:t>
            </a:r>
          </a:p>
          <a:p>
            <a:pPr marL="342900" algn="l">
              <a:buNone/>
            </a:pPr>
            <a:r>
              <a:rPr sz="1800" b="0" i="0">
                <a:solidFill>
                  <a:srgbClr val="222222"/>
                </a:solidFill>
                <a:latin typeface="Helvetica Neue"/>
              </a:rPr>
              <a:t>3.  </a:t>
            </a:r>
            <a:r>
              <a:rPr sz="1800" b="1" i="0">
                <a:solidFill>
                  <a:srgbClr val="222222"/>
                </a:solidFill>
                <a:latin typeface="Helvetica Neue"/>
              </a:rPr>
              <a:t>Evaluate</a:t>
            </a:r>
            <a:r>
              <a:rPr sz="1800" b="0" i="0">
                <a:solidFill>
                  <a:srgbClr val="222222"/>
                </a:solidFill>
                <a:latin typeface="Helvetica Neue"/>
              </a:rPr>
              <a:t> it — does it do what you hoped? What did it reveal? What surprised you?</a:t>
            </a:r>
          </a:p>
          <a:p>
            <a:pPr>
              <a:buNone/>
            </a:pPr>
            <a:endParaRPr sz="1800" b="0" i="0">
              <a:solidFill>
                <a:srgbClr val="222222"/>
              </a:solidFill>
              <a:latin typeface="Helvetica Neue"/>
            </a:endParaRPr>
          </a:p>
          <a:p>
            <a:pPr algn="l">
              <a:buNone/>
            </a:pPr>
            <a:r>
              <a:rPr sz="1800" b="0" i="0">
                <a:solidFill>
                  <a:srgbClr val="222222"/>
                </a:solidFill>
                <a:latin typeface="Helvetica Neue"/>
              </a:rPr>
              <a:t>Construction + documentation + contextualisation + evaluation = a research contribution.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Technical evaluation: what to measure and how</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4401205"/>
          </a:xfrm>
          <a:prstGeom prst="rect">
            <a:avLst/>
          </a:prstGeom>
          <a:noFill/>
        </p:spPr>
        <p:txBody>
          <a:bodyPr wrap="square">
            <a:spAutoFit/>
          </a:bodyPr>
          <a:lstStyle/>
          <a:p>
            <a:pPr algn="l">
              <a:buNone/>
            </a:pPr>
            <a:r>
              <a:rPr sz="2000" b="0" i="0" dirty="0">
                <a:solidFill>
                  <a:srgbClr val="222222"/>
                </a:solidFill>
                <a:latin typeface="Helvetica Neue"/>
              </a:rPr>
              <a:t>If your project involves building a system, you will probably need some form of technical evaluation. Common approaches:</a:t>
            </a:r>
          </a:p>
          <a:p>
            <a:pPr>
              <a:buNone/>
            </a:pPr>
            <a:endParaRPr sz="2000" b="0" i="0" dirty="0">
              <a:solidFill>
                <a:srgbClr val="222222"/>
              </a:solidFill>
              <a:latin typeface="Helvetica Neue"/>
            </a:endParaRPr>
          </a:p>
          <a:p>
            <a:pPr algn="l">
              <a:buNone/>
            </a:pPr>
            <a:r>
              <a:rPr sz="2000" b="1" i="0" dirty="0">
                <a:solidFill>
                  <a:srgbClr val="222222"/>
                </a:solidFill>
                <a:latin typeface="Helvetica Neue"/>
              </a:rPr>
              <a:t>Benchmarking</a:t>
            </a:r>
            <a:r>
              <a:rPr sz="2000" b="0" i="0" dirty="0">
                <a:solidFill>
                  <a:srgbClr val="222222"/>
                </a:solidFill>
                <a:latin typeface="Helvetica Neue"/>
              </a:rPr>
              <a:t> — compare your system's output to established baselines using standard metrics (e.g. FID for image generation, PESQ/POLQA for audio quality, latency measurements for real-time systems).</a:t>
            </a:r>
          </a:p>
          <a:p>
            <a:pPr algn="l">
              <a:buNone/>
            </a:pPr>
            <a:r>
              <a:rPr sz="2000" b="1" i="0" dirty="0">
                <a:solidFill>
                  <a:srgbClr val="222222"/>
                </a:solidFill>
                <a:latin typeface="Helvetica Neue"/>
              </a:rPr>
              <a:t>Ablation studies</a:t>
            </a:r>
            <a:r>
              <a:rPr sz="2000" b="0" i="0" dirty="0">
                <a:solidFill>
                  <a:srgbClr val="222222"/>
                </a:solidFill>
                <a:latin typeface="Helvetica Neue"/>
              </a:rPr>
              <a:t> — remove or change components of your system to show what each part contributes.</a:t>
            </a:r>
          </a:p>
          <a:p>
            <a:pPr algn="l">
              <a:buNone/>
            </a:pPr>
            <a:r>
              <a:rPr sz="2000" b="1" i="0" dirty="0">
                <a:solidFill>
                  <a:srgbClr val="222222"/>
                </a:solidFill>
                <a:latin typeface="Helvetica Neue"/>
              </a:rPr>
              <a:t>Stress testing</a:t>
            </a:r>
            <a:r>
              <a:rPr sz="2000" b="0" i="0" dirty="0">
                <a:solidFill>
                  <a:srgbClr val="222222"/>
                </a:solidFill>
                <a:latin typeface="Helvetica Neue"/>
              </a:rPr>
              <a:t> — push the system to its limits. Where does it break? What are the failure modes?</a:t>
            </a:r>
          </a:p>
          <a:p>
            <a:pPr algn="l">
              <a:buNone/>
            </a:pPr>
            <a:r>
              <a:rPr sz="2000" b="1" i="0" dirty="0">
                <a:solidFill>
                  <a:srgbClr val="222222"/>
                </a:solidFill>
                <a:latin typeface="Helvetica Neue"/>
              </a:rPr>
              <a:t>Reproducibility</a:t>
            </a:r>
            <a:r>
              <a:rPr sz="2000" b="0" i="0" dirty="0">
                <a:solidFill>
                  <a:srgbClr val="222222"/>
                </a:solidFill>
                <a:latin typeface="Helvetica Neue"/>
              </a:rPr>
              <a:t> — can someone else run your code and get comparable results? Releasing code and data is part of the method.</a:t>
            </a:r>
          </a:p>
          <a:p>
            <a:pPr algn="l">
              <a:buNone/>
            </a:pPr>
            <a:r>
              <a:rPr sz="2000" b="0" i="0" dirty="0">
                <a:solidFill>
                  <a:srgbClr val="222222"/>
                </a:solidFill>
                <a:latin typeface="Helvetica Neue"/>
              </a:rPr>
              <a:t>Not all of these will apply to your project. Choose the ones that address your research question.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User studies and participant evaluation</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355312"/>
          </a:xfrm>
          <a:prstGeom prst="rect">
            <a:avLst/>
          </a:prstGeom>
          <a:noFill/>
        </p:spPr>
        <p:txBody>
          <a:bodyPr wrap="square">
            <a:spAutoFit/>
          </a:bodyPr>
          <a:lstStyle/>
          <a:p>
            <a:pPr algn="l">
              <a:buNone/>
            </a:pPr>
            <a:r>
              <a:rPr sz="1800" b="0" i="0" dirty="0">
                <a:solidFill>
                  <a:srgbClr val="222222"/>
                </a:solidFill>
                <a:latin typeface="Helvetica Neue"/>
              </a:rPr>
              <a:t>If your project involves people experiencing, using, or responding to your work, you need a user study. Common approaches in creative computing:</a:t>
            </a:r>
          </a:p>
          <a:p>
            <a:pPr>
              <a:buNone/>
            </a:pPr>
            <a:endParaRPr sz="1800" b="0" i="0" dirty="0">
              <a:solidFill>
                <a:srgbClr val="222222"/>
              </a:solidFill>
              <a:latin typeface="Helvetica Neue"/>
            </a:endParaRPr>
          </a:p>
          <a:p>
            <a:pPr algn="l">
              <a:buNone/>
            </a:pPr>
            <a:r>
              <a:rPr sz="1800" b="1" i="0" dirty="0">
                <a:solidFill>
                  <a:srgbClr val="222222"/>
                </a:solidFill>
                <a:latin typeface="Helvetica Neue"/>
              </a:rPr>
              <a:t>Structured interviews</a:t>
            </a:r>
            <a:r>
              <a:rPr sz="1800" b="0" i="0" dirty="0">
                <a:solidFill>
                  <a:srgbClr val="222222"/>
                </a:solidFill>
                <a:latin typeface="Helvetica Neue"/>
              </a:rPr>
              <a:t> — you ask participants predefined questions about their experience. Good for depth.</a:t>
            </a:r>
          </a:p>
          <a:p>
            <a:pPr algn="l">
              <a:buNone/>
            </a:pPr>
            <a:r>
              <a:rPr sz="1800" b="1" i="0" dirty="0">
                <a:solidFill>
                  <a:srgbClr val="222222"/>
                </a:solidFill>
                <a:latin typeface="Helvetica Neue"/>
              </a:rPr>
              <a:t>Questionnaires / surveys</a:t>
            </a:r>
            <a:r>
              <a:rPr sz="1800" b="0" i="0" dirty="0">
                <a:solidFill>
                  <a:srgbClr val="222222"/>
                </a:solidFill>
                <a:latin typeface="Helvetica Neue"/>
              </a:rPr>
              <a:t> — </a:t>
            </a:r>
            <a:r>
              <a:rPr sz="1800" b="0" i="0" dirty="0" err="1">
                <a:solidFill>
                  <a:srgbClr val="222222"/>
                </a:solidFill>
                <a:latin typeface="Helvetica Neue"/>
              </a:rPr>
              <a:t>standardised</a:t>
            </a:r>
            <a:r>
              <a:rPr sz="1800" b="0" i="0" dirty="0">
                <a:solidFill>
                  <a:srgbClr val="222222"/>
                </a:solidFill>
                <a:latin typeface="Helvetica Neue"/>
              </a:rPr>
              <a:t> instruments (e.g. </a:t>
            </a:r>
            <a:r>
              <a:rPr sz="1800" b="0" i="0" dirty="0">
                <a:solidFill>
                  <a:srgbClr val="222222"/>
                </a:solidFill>
                <a:latin typeface="Helvetica Neue"/>
                <a:hlinkClick r:id="rId3"/>
              </a:rPr>
              <a:t>SUS</a:t>
            </a:r>
            <a:r>
              <a:rPr sz="1800" b="0" i="0" dirty="0">
                <a:solidFill>
                  <a:srgbClr val="222222"/>
                </a:solidFill>
                <a:latin typeface="Helvetica Neue"/>
              </a:rPr>
              <a:t> for usability, </a:t>
            </a:r>
            <a:r>
              <a:rPr sz="1800" b="0" i="0" dirty="0">
                <a:solidFill>
                  <a:srgbClr val="222222"/>
                </a:solidFill>
                <a:latin typeface="Helvetica Neue"/>
                <a:hlinkClick r:id="rId4"/>
              </a:rPr>
              <a:t>NASA-TLX</a:t>
            </a:r>
            <a:r>
              <a:rPr sz="1800" b="0" i="0" dirty="0">
                <a:solidFill>
                  <a:srgbClr val="222222"/>
                </a:solidFill>
                <a:latin typeface="Helvetica Neue"/>
              </a:rPr>
              <a:t> for cognitive load, </a:t>
            </a:r>
            <a:r>
              <a:rPr sz="1800" b="0" i="0" dirty="0">
                <a:solidFill>
                  <a:srgbClr val="222222"/>
                </a:solidFill>
                <a:latin typeface="Helvetica Neue"/>
                <a:hlinkClick r:id="rId5"/>
              </a:rPr>
              <a:t>AttrakDiff</a:t>
            </a:r>
            <a:r>
              <a:rPr sz="1800" b="0" i="0" dirty="0">
                <a:solidFill>
                  <a:srgbClr val="222222"/>
                </a:solidFill>
                <a:latin typeface="Helvetica Neue"/>
              </a:rPr>
              <a:t> for user experience). Good for breadth and comparability.</a:t>
            </a:r>
          </a:p>
          <a:p>
            <a:pPr algn="l">
              <a:buNone/>
            </a:pPr>
            <a:r>
              <a:rPr sz="1800" b="1" i="0" dirty="0">
                <a:solidFill>
                  <a:srgbClr val="222222"/>
                </a:solidFill>
                <a:latin typeface="Helvetica Neue"/>
              </a:rPr>
              <a:t>Think-aloud protocols</a:t>
            </a:r>
            <a:r>
              <a:rPr sz="1800" b="0" i="0" dirty="0">
                <a:solidFill>
                  <a:srgbClr val="222222"/>
                </a:solidFill>
                <a:latin typeface="Helvetica Neue"/>
              </a:rPr>
              <a:t> — participants narrate their experience while using your system. Good for understanding process.</a:t>
            </a:r>
          </a:p>
          <a:p>
            <a:pPr algn="l">
              <a:buNone/>
            </a:pPr>
            <a:r>
              <a:rPr sz="1800" b="1" i="0" dirty="0">
                <a:solidFill>
                  <a:srgbClr val="222222"/>
                </a:solidFill>
                <a:latin typeface="Helvetica Neue"/>
              </a:rPr>
              <a:t>Observation</a:t>
            </a:r>
            <a:r>
              <a:rPr sz="1800" b="0" i="0" dirty="0">
                <a:solidFill>
                  <a:srgbClr val="222222"/>
                </a:solidFill>
                <a:latin typeface="Helvetica Neue"/>
              </a:rPr>
              <a:t> — you watch people interact with your work and note what happens. Good for </a:t>
            </a:r>
            <a:r>
              <a:rPr sz="1800" b="0" i="0" dirty="0" err="1">
                <a:solidFill>
                  <a:srgbClr val="222222"/>
                </a:solidFill>
                <a:latin typeface="Helvetica Neue"/>
              </a:rPr>
              <a:t>behaviour</a:t>
            </a:r>
            <a:r>
              <a:rPr sz="1800" b="0" i="0" dirty="0">
                <a:solidFill>
                  <a:srgbClr val="222222"/>
                </a:solidFill>
                <a:latin typeface="Helvetica Neue"/>
              </a:rPr>
              <a:t> you can't self-report.</a:t>
            </a:r>
          </a:p>
          <a:p>
            <a:pPr>
              <a:buNone/>
            </a:pPr>
            <a:endParaRPr sz="1800" b="0" i="0" dirty="0">
              <a:solidFill>
                <a:srgbClr val="222222"/>
              </a:solidFill>
              <a:latin typeface="Helvetica Neue"/>
            </a:endParaRPr>
          </a:p>
          <a:p>
            <a:pPr algn="l">
              <a:buNone/>
            </a:pPr>
            <a:r>
              <a:rPr sz="1800" b="1" i="0" dirty="0">
                <a:solidFill>
                  <a:srgbClr val="222222"/>
                </a:solidFill>
                <a:latin typeface="Helvetica Neue"/>
              </a:rPr>
              <a:t>Workshops / co-design sessions</a:t>
            </a:r>
            <a:r>
              <a:rPr sz="1800" b="0" i="0" dirty="0">
                <a:solidFill>
                  <a:srgbClr val="222222"/>
                </a:solidFill>
                <a:latin typeface="Helvetica Neue"/>
              </a:rPr>
              <a:t> — participants contribute to the design process itself. Good for participatory and speculative projects.</a:t>
            </a:r>
          </a:p>
          <a:p>
            <a:pPr algn="l">
              <a:buNone/>
            </a:pPr>
            <a:r>
              <a:rPr sz="1800" b="0" i="0" dirty="0">
                <a:solidFill>
                  <a:srgbClr val="222222"/>
                </a:solidFill>
                <a:latin typeface="Helvetica Neue"/>
              </a:rPr>
              <a:t>Key resources:</a:t>
            </a:r>
          </a:p>
          <a:p>
            <a:pPr marL="342900" indent="-342900" algn="l">
              <a:buChar char="•"/>
            </a:pPr>
            <a:r>
              <a:rPr sz="1800" b="0" i="0" dirty="0">
                <a:solidFill>
                  <a:srgbClr val="222222"/>
                </a:solidFill>
                <a:latin typeface="Helvetica Neue"/>
              </a:rPr>
              <a:t>Lazar, Feng &amp; Hochheiser (2017). </a:t>
            </a:r>
            <a:r>
              <a:rPr sz="1800" b="0" i="0" dirty="0">
                <a:solidFill>
                  <a:srgbClr val="222222"/>
                </a:solidFill>
                <a:latin typeface="Helvetica Neue"/>
                <a:hlinkClick r:id="rId6"/>
              </a:rPr>
              <a:t>*Research Methods in Human-Computer Interaction*</a:t>
            </a:r>
            <a:r>
              <a:rPr sz="1800" b="0" i="0" dirty="0">
                <a:solidFill>
                  <a:srgbClr val="222222"/>
                </a:solidFill>
                <a:latin typeface="Helvetica Neue"/>
              </a:rPr>
              <a:t>, 2nd ed. Morgan Kaufmann. — The standard HCI methods textbook.</a:t>
            </a:r>
          </a:p>
          <a:p>
            <a:pPr marL="342900" indent="-342900" algn="l">
              <a:buChar char="•"/>
            </a:pPr>
            <a:r>
              <a:rPr sz="1800" b="0" i="0" dirty="0">
                <a:solidFill>
                  <a:srgbClr val="222222"/>
                </a:solidFill>
                <a:latin typeface="Helvetica Neue"/>
              </a:rPr>
              <a:t>Cairns &amp; Cox (eds.) (2008). </a:t>
            </a:r>
            <a:r>
              <a:rPr sz="1800" b="0" i="0" dirty="0">
                <a:solidFill>
                  <a:srgbClr val="222222"/>
                </a:solidFill>
                <a:latin typeface="Helvetica Neue"/>
                <a:hlinkClick r:id="rId7"/>
              </a:rPr>
              <a:t>*Research Methods for Human-Computer Interaction*</a:t>
            </a:r>
            <a:r>
              <a:rPr sz="1800" b="0" i="0" dirty="0">
                <a:solidFill>
                  <a:srgbClr val="222222"/>
                </a:solidFill>
                <a:latin typeface="Helvetica Neue"/>
              </a:rPr>
              <a:t>. Cambridge University Press.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Reflective practice as method</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Reflective practice means </a:t>
            </a:r>
            <a:r>
              <a:rPr sz="1800" b="1" i="0">
                <a:solidFill>
                  <a:srgbClr val="222222"/>
                </a:solidFill>
                <a:latin typeface="Helvetica Neue"/>
              </a:rPr>
              <a:t>systematically documenting your own process of making</a:t>
            </a:r>
            <a:r>
              <a:rPr sz="1800" b="0" i="0">
                <a:solidFill>
                  <a:srgbClr val="222222"/>
                </a:solidFill>
                <a:latin typeface="Helvetica Neue"/>
              </a:rPr>
              <a:t> — not as a diary, but as evidence.</a:t>
            </a:r>
          </a:p>
          <a:p>
            <a:pPr>
              <a:buNone/>
            </a:pPr>
            <a:endParaRPr sz="1800" b="0" i="0">
              <a:solidFill>
                <a:srgbClr val="222222"/>
              </a:solidFill>
              <a:latin typeface="Helvetica Neue"/>
            </a:endParaRPr>
          </a:p>
          <a:p>
            <a:pPr algn="l">
              <a:buNone/>
            </a:pPr>
            <a:r>
              <a:rPr sz="1800" b="0" i="0">
                <a:solidFill>
                  <a:srgbClr val="222222"/>
                </a:solidFill>
                <a:latin typeface="Helvetica Neue"/>
              </a:rPr>
              <a:t>This draws on Donald Schön's (1983) concept of the </a:t>
            </a:r>
            <a:r>
              <a:rPr sz="1800" b="1" i="0">
                <a:solidFill>
                  <a:srgbClr val="222222"/>
                </a:solidFill>
                <a:latin typeface="Helvetica Neue"/>
              </a:rPr>
              <a:t>reflective practitioner</a:t>
            </a:r>
            <a:r>
              <a:rPr sz="1800" b="0" i="0">
                <a:solidFill>
                  <a:srgbClr val="222222"/>
                </a:solidFill>
                <a:latin typeface="Helvetica Neue"/>
              </a:rPr>
              <a:t>: someone who thinks about what they're doing </a:t>
            </a:r>
            <a:r>
              <a:rPr sz="1800" b="0" i="1">
                <a:solidFill>
                  <a:srgbClr val="222222"/>
                </a:solidFill>
                <a:latin typeface="Helvetica Neue"/>
              </a:rPr>
              <a:t>while they're doing it</a:t>
            </a:r>
            <a:r>
              <a:rPr sz="1800" b="0" i="0">
                <a:solidFill>
                  <a:srgbClr val="222222"/>
                </a:solidFill>
                <a:latin typeface="Helvetica Neue"/>
              </a:rPr>
              <a:t>, and uses that reflection to steer the next action.</a:t>
            </a:r>
          </a:p>
          <a:p>
            <a:pPr>
              <a:buNone/>
            </a:pPr>
            <a:endParaRPr sz="1800" b="0" i="0">
              <a:solidFill>
                <a:srgbClr val="222222"/>
              </a:solidFill>
              <a:latin typeface="Helvetica Neue"/>
            </a:endParaRPr>
          </a:p>
          <a:p>
            <a:pPr algn="l">
              <a:buNone/>
            </a:pPr>
            <a:r>
              <a:rPr sz="1800" b="0" i="0">
                <a:solidFill>
                  <a:srgbClr val="222222"/>
                </a:solidFill>
                <a:latin typeface="Helvetica Neue"/>
              </a:rPr>
              <a:t>Practical forms:</a:t>
            </a:r>
          </a:p>
          <a:p>
            <a:pPr>
              <a:buNone/>
            </a:pPr>
            <a:endParaRPr sz="1800" b="0" i="0">
              <a:solidFill>
                <a:srgbClr val="222222"/>
              </a:solidFill>
              <a:latin typeface="Helvetica Neue"/>
            </a:endParaRPr>
          </a:p>
          <a:p>
            <a:pPr algn="l">
              <a:buNone/>
            </a:pPr>
            <a:r>
              <a:rPr sz="1800" b="1" i="0">
                <a:solidFill>
                  <a:srgbClr val="222222"/>
                </a:solidFill>
                <a:latin typeface="Helvetica Neue"/>
              </a:rPr>
              <a:t>Studio/lab log</a:t>
            </a:r>
            <a:r>
              <a:rPr sz="1800" b="0" i="0">
                <a:solidFill>
                  <a:srgbClr val="222222"/>
                </a:solidFill>
                <a:latin typeface="Helvetica Neue"/>
              </a:rPr>
              <a:t> — regular dated entries recording what you did, what happened, what you decided, and why. Digital or physical.</a:t>
            </a:r>
          </a:p>
          <a:p>
            <a:pPr>
              <a:buNone/>
            </a:pPr>
            <a:endParaRPr sz="1800" b="0" i="0">
              <a:solidFill>
                <a:srgbClr val="222222"/>
              </a:solidFill>
              <a:latin typeface="Helvetica Neue"/>
            </a:endParaRPr>
          </a:p>
          <a:p>
            <a:pPr algn="l">
              <a:buNone/>
            </a:pPr>
            <a:r>
              <a:rPr sz="1800" b="1" i="0">
                <a:solidFill>
                  <a:srgbClr val="222222"/>
                </a:solidFill>
                <a:latin typeface="Helvetica Neue"/>
              </a:rPr>
              <a:t>Annotated portfolio</a:t>
            </a:r>
            <a:r>
              <a:rPr sz="1800" b="0" i="0">
                <a:solidFill>
                  <a:srgbClr val="222222"/>
                </a:solidFill>
                <a:latin typeface="Helvetica Neue"/>
              </a:rPr>
              <a:t> — a curated set of artefacts (prototypes, sketches, outputs, screenshots) with written commentary explaining what each reveals.</a:t>
            </a:r>
          </a:p>
          <a:p>
            <a:pPr>
              <a:buNone/>
            </a:pPr>
            <a:endParaRPr sz="1800" b="0" i="0">
              <a:solidFill>
                <a:srgbClr val="222222"/>
              </a:solidFill>
              <a:latin typeface="Helvetica Neue"/>
            </a:endParaRPr>
          </a:p>
          <a:p>
            <a:pPr algn="l">
              <a:buNone/>
            </a:pPr>
            <a:r>
              <a:rPr sz="1800" b="1" i="0">
                <a:solidFill>
                  <a:srgbClr val="222222"/>
                </a:solidFill>
                <a:latin typeface="Helvetica Neue"/>
              </a:rPr>
              <a:t>Process documentation</a:t>
            </a:r>
            <a:r>
              <a:rPr sz="1800" b="0" i="0">
                <a:solidFill>
                  <a:srgbClr val="222222"/>
                </a:solidFill>
                <a:latin typeface="Helvetica Neue"/>
              </a:rPr>
              <a:t> — video, screen recordings, version histories, commit logs with meaningful messages.</a:t>
            </a:r>
          </a:p>
          <a:p>
            <a:pPr>
              <a:buNone/>
            </a:pPr>
            <a:endParaRPr sz="1800" b="0" i="0">
              <a:solidFill>
                <a:srgbClr val="222222"/>
              </a:solidFill>
              <a:latin typeface="Helvetica Neue"/>
            </a:endParaRPr>
          </a:p>
          <a:p>
            <a:pPr algn="l">
              <a:buNone/>
            </a:pPr>
            <a:r>
              <a:rPr sz="1800" b="0" i="0">
                <a:solidFill>
                  <a:srgbClr val="222222"/>
                </a:solidFill>
                <a:latin typeface="Helvetica Neue"/>
              </a:rPr>
              <a:t>The key: reflective practice is not "I did X." It is "I did X, expecting Y, but Z happened, which led me to revise my understanding of W."</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Methods you can use without reinventing the wheel</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4616648"/>
          </a:xfrm>
          <a:prstGeom prst="rect">
            <a:avLst/>
          </a:prstGeom>
          <a:noFill/>
        </p:spPr>
        <p:txBody>
          <a:bodyPr wrap="square">
            <a:spAutoFit/>
          </a:bodyPr>
          <a:lstStyle/>
          <a:p>
            <a:pPr algn="l">
              <a:buNone/>
            </a:pPr>
            <a:r>
              <a:rPr sz="1400" b="0" i="0" dirty="0">
                <a:solidFill>
                  <a:srgbClr val="222222"/>
                </a:solidFill>
                <a:latin typeface="Helvetica Neue"/>
              </a:rPr>
              <a:t>You don't need to invent a new method. Established frameworks exist and are there to be used:</a:t>
            </a:r>
          </a:p>
          <a:p>
            <a:pPr>
              <a:buNone/>
            </a:pPr>
            <a:endParaRPr sz="1400" b="0" i="0" dirty="0">
              <a:solidFill>
                <a:srgbClr val="222222"/>
              </a:solidFill>
              <a:latin typeface="Helvetica Neue"/>
            </a:endParaRPr>
          </a:p>
          <a:p>
            <a:pPr algn="l">
              <a:buNone/>
            </a:pPr>
            <a:r>
              <a:rPr sz="1400" b="1" i="0" dirty="0">
                <a:solidFill>
                  <a:srgbClr val="222222"/>
                </a:solidFill>
                <a:latin typeface="Helvetica Neue"/>
              </a:rPr>
              <a:t>For building + evaluating interactive systems:</a:t>
            </a:r>
          </a:p>
          <a:p>
            <a:pPr marL="342900" indent="-342900" algn="l">
              <a:buChar char="•"/>
            </a:pPr>
            <a:r>
              <a:rPr sz="1400" b="0" i="0" dirty="0">
                <a:solidFill>
                  <a:srgbClr val="222222"/>
                </a:solidFill>
                <a:latin typeface="Helvetica Neue"/>
                <a:hlinkClick r:id="rId3"/>
              </a:rPr>
              <a:t>Research through Design (RtD)</a:t>
            </a:r>
            <a:r>
              <a:rPr sz="1400" b="0" i="0" dirty="0">
                <a:solidFill>
                  <a:srgbClr val="222222"/>
                </a:solidFill>
                <a:latin typeface="Helvetica Neue"/>
              </a:rPr>
              <a:t> — Zimmerman, </a:t>
            </a:r>
            <a:r>
              <a:rPr sz="1400" b="0" i="0" dirty="0" err="1">
                <a:solidFill>
                  <a:srgbClr val="222222"/>
                </a:solidFill>
                <a:latin typeface="Helvetica Neue"/>
              </a:rPr>
              <a:t>Stolterman</a:t>
            </a:r>
            <a:r>
              <a:rPr sz="1400" b="0" i="0" dirty="0">
                <a:solidFill>
                  <a:srgbClr val="222222"/>
                </a:solidFill>
                <a:latin typeface="Helvetica Neue"/>
              </a:rPr>
              <a:t>, and others. Design process as research inquiry. Well established in HCI.</a:t>
            </a:r>
          </a:p>
          <a:p>
            <a:pPr marL="342900" indent="-342900" algn="l">
              <a:buChar char="•"/>
            </a:pPr>
            <a:r>
              <a:rPr sz="1400" b="0" i="0" dirty="0">
                <a:solidFill>
                  <a:srgbClr val="222222"/>
                </a:solidFill>
                <a:latin typeface="Helvetica Neue"/>
                <a:hlinkClick r:id="rId4"/>
              </a:rPr>
              <a:t>Design Science Research</a:t>
            </a:r>
            <a:r>
              <a:rPr sz="1400" b="0" i="0" dirty="0">
                <a:solidFill>
                  <a:srgbClr val="222222"/>
                </a:solidFill>
                <a:latin typeface="Helvetica Neue"/>
              </a:rPr>
              <a:t> — Hevner et al. (2004). Build an artefact, evaluate it, articulate the contribution. Common in information systems.</a:t>
            </a:r>
          </a:p>
          <a:p>
            <a:pPr>
              <a:buNone/>
            </a:pPr>
            <a:endParaRPr sz="1400" b="0" i="0" dirty="0">
              <a:solidFill>
                <a:srgbClr val="222222"/>
              </a:solidFill>
              <a:latin typeface="Helvetica Neue"/>
            </a:endParaRPr>
          </a:p>
          <a:p>
            <a:pPr algn="l">
              <a:buNone/>
            </a:pPr>
            <a:r>
              <a:rPr sz="1400" b="1" i="0" dirty="0">
                <a:solidFill>
                  <a:srgbClr val="222222"/>
                </a:solidFill>
                <a:latin typeface="Helvetica Neue"/>
              </a:rPr>
              <a:t>For understanding user experience:</a:t>
            </a:r>
          </a:p>
          <a:p>
            <a:pPr marL="342900" indent="-342900" algn="l">
              <a:buChar char="•"/>
            </a:pPr>
            <a:r>
              <a:rPr sz="1400" b="0" i="0" dirty="0">
                <a:solidFill>
                  <a:srgbClr val="222222"/>
                </a:solidFill>
                <a:latin typeface="Helvetica Neue"/>
                <a:hlinkClick r:id="rId5"/>
              </a:rPr>
              <a:t>Thematic Analysis</a:t>
            </a:r>
            <a:r>
              <a:rPr sz="1400" b="0" i="0" dirty="0">
                <a:solidFill>
                  <a:srgbClr val="222222"/>
                </a:solidFill>
                <a:latin typeface="Helvetica Neue"/>
              </a:rPr>
              <a:t> — Braun &amp; Clarke (2006). The standard method for </a:t>
            </a:r>
            <a:r>
              <a:rPr sz="1400" b="0" i="0" dirty="0" err="1">
                <a:solidFill>
                  <a:srgbClr val="222222"/>
                </a:solidFill>
                <a:latin typeface="Helvetica Neue"/>
              </a:rPr>
              <a:t>analysing</a:t>
            </a:r>
            <a:r>
              <a:rPr sz="1400" b="0" i="0" dirty="0">
                <a:solidFill>
                  <a:srgbClr val="222222"/>
                </a:solidFill>
                <a:latin typeface="Helvetica Neue"/>
              </a:rPr>
              <a:t> qualitative data (interviews, open-ended responses). Widely used, well documented, citable.</a:t>
            </a:r>
          </a:p>
          <a:p>
            <a:pPr marL="342900" indent="-342900" algn="l">
              <a:buChar char="•"/>
            </a:pPr>
            <a:r>
              <a:rPr sz="1400" b="0" i="0" dirty="0">
                <a:solidFill>
                  <a:srgbClr val="222222"/>
                </a:solidFill>
                <a:latin typeface="Helvetica Neue"/>
                <a:hlinkClick r:id="rId6"/>
              </a:rPr>
              <a:t>System Usability Scale (SUS)</a:t>
            </a:r>
            <a:r>
              <a:rPr sz="1400" b="0" i="0" dirty="0">
                <a:solidFill>
                  <a:srgbClr val="222222"/>
                </a:solidFill>
                <a:latin typeface="Helvetica Neue"/>
              </a:rPr>
              <a:t> — Brooke (1996). A 10-item questionnaire for quick usability assessment. Free, validated, takes 2 minutes to administer.</a:t>
            </a:r>
          </a:p>
          <a:p>
            <a:pPr>
              <a:buNone/>
            </a:pPr>
            <a:endParaRPr sz="1400" b="0" i="0" dirty="0">
              <a:solidFill>
                <a:srgbClr val="222222"/>
              </a:solidFill>
              <a:latin typeface="Helvetica Neue"/>
            </a:endParaRPr>
          </a:p>
          <a:p>
            <a:pPr algn="l">
              <a:buNone/>
            </a:pPr>
            <a:r>
              <a:rPr sz="1400" b="1" i="0" dirty="0">
                <a:solidFill>
                  <a:srgbClr val="222222"/>
                </a:solidFill>
                <a:latin typeface="Helvetica Neue"/>
              </a:rPr>
              <a:t>For documenting creative process:</a:t>
            </a:r>
          </a:p>
          <a:p>
            <a:pPr marL="342900" indent="-342900" algn="l">
              <a:buChar char="•"/>
            </a:pPr>
            <a:r>
              <a:rPr sz="1400" b="0" i="0" dirty="0">
                <a:solidFill>
                  <a:srgbClr val="222222"/>
                </a:solidFill>
                <a:latin typeface="Helvetica Neue"/>
                <a:hlinkClick r:id="rId7"/>
              </a:rPr>
              <a:t>Annotated Portfolios</a:t>
            </a:r>
            <a:r>
              <a:rPr sz="1400" b="0" i="0" dirty="0">
                <a:solidFill>
                  <a:srgbClr val="222222"/>
                </a:solidFill>
                <a:latin typeface="Helvetica Neue"/>
              </a:rPr>
              <a:t> — Gaver &amp; Bowers (2012). A method for presenting design artefacts as research contributions.</a:t>
            </a:r>
          </a:p>
          <a:p>
            <a:pPr marL="342900" indent="-342900" algn="l">
              <a:buChar char="•"/>
            </a:pPr>
            <a:r>
              <a:rPr sz="1400" b="0" i="0" dirty="0">
                <a:solidFill>
                  <a:srgbClr val="222222"/>
                </a:solidFill>
                <a:latin typeface="Helvetica Neue"/>
              </a:rPr>
              <a:t>Nelson, R. (2013). </a:t>
            </a:r>
            <a:r>
              <a:rPr sz="1400" b="0" i="0" dirty="0">
                <a:solidFill>
                  <a:srgbClr val="222222"/>
                </a:solidFill>
                <a:latin typeface="Helvetica Neue"/>
                <a:hlinkClick r:id="rId8"/>
              </a:rPr>
              <a:t>*Practice as Research in the Arts*</a:t>
            </a:r>
            <a:r>
              <a:rPr sz="1400" b="0" i="0" dirty="0">
                <a:solidFill>
                  <a:srgbClr val="222222"/>
                </a:solidFill>
                <a:latin typeface="Helvetica Neue"/>
              </a:rPr>
              <a:t>. Palgrave Macmillan. — Chapter 3 on "multi-mode epistemological model" for </a:t>
            </a:r>
            <a:r>
              <a:rPr sz="1400" b="0" i="0" dirty="0" err="1">
                <a:solidFill>
                  <a:srgbClr val="222222"/>
                </a:solidFill>
                <a:latin typeface="Helvetica Neue"/>
              </a:rPr>
              <a:t>PaR.</a:t>
            </a:r>
            <a:endParaRPr sz="1400" b="0" i="0" dirty="0">
              <a:solidFill>
                <a:srgbClr val="222222"/>
              </a:solidFill>
              <a:latin typeface="Helvetica Neue"/>
            </a:endParaRPr>
          </a:p>
          <a:p>
            <a:pPr>
              <a:buNone/>
            </a:pPr>
            <a:endParaRPr sz="1400" b="0" i="0" dirty="0">
              <a:solidFill>
                <a:srgbClr val="222222"/>
              </a:solidFill>
              <a:latin typeface="Helvetica Neue"/>
            </a:endParaRPr>
          </a:p>
          <a:p>
            <a:pPr algn="l">
              <a:buNone/>
            </a:pPr>
            <a:r>
              <a:rPr sz="1400" b="1" i="0" dirty="0">
                <a:solidFill>
                  <a:srgbClr val="222222"/>
                </a:solidFill>
                <a:latin typeface="Helvetica Neue"/>
              </a:rPr>
              <a:t>For technical comparison:</a:t>
            </a:r>
          </a:p>
          <a:p>
            <a:pPr marL="342900" indent="-342900" algn="l">
              <a:buChar char="•"/>
            </a:pPr>
            <a:r>
              <a:rPr sz="1400" b="0" i="0" dirty="0">
                <a:solidFill>
                  <a:srgbClr val="222222"/>
                </a:solidFill>
                <a:latin typeface="Helvetica Neue"/>
              </a:rPr>
              <a:t>Standard ML evaluation protocols — train/test splits, cross-validation, ablation. Any good ML textbook covers these.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Combining methods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Most practice-based projects in creative computing use a </a:t>
            </a:r>
            <a:r>
              <a:rPr sz="1800" b="1" i="0">
                <a:solidFill>
                  <a:srgbClr val="222222"/>
                </a:solidFill>
                <a:latin typeface="Helvetica Neue"/>
              </a:rPr>
              <a:t>mixed-methods</a:t>
            </a:r>
            <a:r>
              <a:rPr sz="1800" b="0" i="0">
                <a:solidFill>
                  <a:srgbClr val="222222"/>
                </a:solidFill>
                <a:latin typeface="Helvetica Neue"/>
              </a:rPr>
              <a:t> approach:</a:t>
            </a:r>
          </a:p>
          <a:p>
            <a:pPr>
              <a:buNone/>
            </a:pPr>
            <a:endParaRPr sz="1800" b="0" i="0">
              <a:solidFill>
                <a:srgbClr val="222222"/>
              </a:solidFill>
              <a:latin typeface="Helvetica Neue"/>
            </a:endParaRPr>
          </a:p>
          <a:p>
            <a:pPr algn="l">
              <a:buNone/>
            </a:pPr>
            <a:r>
              <a:rPr sz="1800" b="0" i="0">
                <a:solidFill>
                  <a:srgbClr val="222222"/>
                </a:solidFill>
                <a:latin typeface="Helvetica Neue"/>
              </a:rPr>
              <a:t>A typical structure might be:</a:t>
            </a:r>
          </a:p>
          <a:p>
            <a:pPr>
              <a:buNone/>
            </a:pPr>
            <a:endParaRPr sz="1800" b="0" i="0">
              <a:solidFill>
                <a:srgbClr val="222222"/>
              </a:solidFill>
              <a:latin typeface="Helvetica Neue"/>
            </a:endParaRPr>
          </a:p>
          <a:p>
            <a:pPr marL="342900" algn="l">
              <a:buNone/>
            </a:pPr>
            <a:r>
              <a:rPr sz="1800" b="0" i="0">
                <a:solidFill>
                  <a:srgbClr val="222222"/>
                </a:solidFill>
                <a:latin typeface="Helvetica Neue"/>
              </a:rPr>
              <a:t>1.  </a:t>
            </a:r>
            <a:r>
              <a:rPr sz="1800" b="1" i="0">
                <a:solidFill>
                  <a:srgbClr val="222222"/>
                </a:solidFill>
                <a:latin typeface="Helvetica Neue"/>
              </a:rPr>
              <a:t>Construction</a:t>
            </a:r>
            <a:r>
              <a:rPr sz="1800" b="0" i="0">
                <a:solidFill>
                  <a:srgbClr val="222222"/>
                </a:solidFill>
                <a:latin typeface="Helvetica Neue"/>
              </a:rPr>
              <a:t> — build the system.</a:t>
            </a:r>
          </a:p>
          <a:p>
            <a:pPr marL="342900" algn="l">
              <a:buNone/>
            </a:pPr>
            <a:r>
              <a:rPr sz="1800" b="0" i="0">
                <a:solidFill>
                  <a:srgbClr val="222222"/>
                </a:solidFill>
                <a:latin typeface="Helvetica Neue"/>
              </a:rPr>
              <a:t>2.  </a:t>
            </a:r>
            <a:r>
              <a:rPr sz="1800" b="1" i="0">
                <a:solidFill>
                  <a:srgbClr val="222222"/>
                </a:solidFill>
                <a:latin typeface="Helvetica Neue"/>
              </a:rPr>
              <a:t>Technical evaluation</a:t>
            </a:r>
            <a:r>
              <a:rPr sz="1800" b="0" i="0">
                <a:solidFill>
                  <a:srgbClr val="222222"/>
                </a:solidFill>
                <a:latin typeface="Helvetica Neue"/>
              </a:rPr>
              <a:t> — measure its performance.</a:t>
            </a:r>
          </a:p>
          <a:p>
            <a:pPr marL="342900" algn="l">
              <a:buNone/>
            </a:pPr>
            <a:r>
              <a:rPr sz="1800" b="0" i="0">
                <a:solidFill>
                  <a:srgbClr val="222222"/>
                </a:solidFill>
                <a:latin typeface="Helvetica Neue"/>
              </a:rPr>
              <a:t>3.  </a:t>
            </a:r>
            <a:r>
              <a:rPr sz="1800" b="1" i="0">
                <a:solidFill>
                  <a:srgbClr val="222222"/>
                </a:solidFill>
                <a:latin typeface="Helvetica Neue"/>
              </a:rPr>
              <a:t>User study</a:t>
            </a:r>
            <a:r>
              <a:rPr sz="1800" b="0" i="0">
                <a:solidFill>
                  <a:srgbClr val="222222"/>
                </a:solidFill>
                <a:latin typeface="Helvetica Neue"/>
              </a:rPr>
              <a:t> — have people use it and gather their responses.</a:t>
            </a:r>
          </a:p>
          <a:p>
            <a:pPr marL="342900" algn="l">
              <a:buNone/>
            </a:pPr>
            <a:r>
              <a:rPr sz="1800" b="0" i="0">
                <a:solidFill>
                  <a:srgbClr val="222222"/>
                </a:solidFill>
                <a:latin typeface="Helvetica Neue"/>
              </a:rPr>
              <a:t>4.  </a:t>
            </a:r>
            <a:r>
              <a:rPr sz="1800" b="1" i="0">
                <a:solidFill>
                  <a:srgbClr val="222222"/>
                </a:solidFill>
                <a:latin typeface="Helvetica Neue"/>
              </a:rPr>
              <a:t>Reflective practice</a:t>
            </a:r>
            <a:r>
              <a:rPr sz="1800" b="0" i="0">
                <a:solidFill>
                  <a:srgbClr val="222222"/>
                </a:solidFill>
                <a:latin typeface="Helvetica Neue"/>
              </a:rPr>
              <a:t> — document the design process and what you learned from it.</a:t>
            </a:r>
          </a:p>
          <a:p>
            <a:pPr marL="342900" algn="l">
              <a:buNone/>
            </a:pPr>
            <a:r>
              <a:rPr sz="1800" b="0" i="0">
                <a:solidFill>
                  <a:srgbClr val="222222"/>
                </a:solidFill>
                <a:latin typeface="Helvetica Neue"/>
              </a:rPr>
              <a:t>5.  </a:t>
            </a:r>
            <a:r>
              <a:rPr sz="1800" b="1" i="0">
                <a:solidFill>
                  <a:srgbClr val="222222"/>
                </a:solidFill>
                <a:latin typeface="Helvetica Neue"/>
              </a:rPr>
              <a:t>Critical framing</a:t>
            </a:r>
            <a:r>
              <a:rPr sz="1800" b="0" i="0">
                <a:solidFill>
                  <a:srgbClr val="222222"/>
                </a:solidFill>
                <a:latin typeface="Helvetica Neue"/>
              </a:rPr>
              <a:t> — use theory to interpret the results.</a:t>
            </a:r>
          </a:p>
          <a:p>
            <a:pPr>
              <a:buNone/>
            </a:pPr>
            <a:endParaRPr sz="1800" b="0" i="0">
              <a:solidFill>
                <a:srgbClr val="222222"/>
              </a:solidFill>
              <a:latin typeface="Helvetica Neue"/>
            </a:endParaRPr>
          </a:p>
          <a:p>
            <a:pPr algn="l">
              <a:buNone/>
            </a:pPr>
            <a:r>
              <a:rPr sz="1800" b="0" i="0">
                <a:solidFill>
                  <a:srgbClr val="222222"/>
                </a:solidFill>
                <a:latin typeface="Helvetica Neue"/>
              </a:rPr>
              <a:t>You don't need all five. But you almost certainly need more than one.</a:t>
            </a:r>
          </a:p>
          <a:p>
            <a:pPr>
              <a:buNone/>
            </a:pPr>
            <a:endParaRPr sz="1800" b="0" i="0">
              <a:solidFill>
                <a:srgbClr val="222222"/>
              </a:solidFill>
              <a:latin typeface="Helvetica Neue"/>
            </a:endParaRPr>
          </a:p>
          <a:p>
            <a:pPr algn="l">
              <a:buNone/>
            </a:pPr>
            <a:r>
              <a:rPr sz="1800" b="0" i="0">
                <a:solidFill>
                  <a:srgbClr val="222222"/>
                </a:solidFill>
                <a:latin typeface="Helvetica Neue"/>
              </a:rPr>
              <a:t>The methods should be </a:t>
            </a:r>
            <a:r>
              <a:rPr sz="1800" b="1" i="0">
                <a:solidFill>
                  <a:srgbClr val="222222"/>
                </a:solidFill>
                <a:latin typeface="Helvetica Neue"/>
              </a:rPr>
              <a:t>integrated, not bolted on</a:t>
            </a:r>
            <a:r>
              <a:rPr sz="1800" b="0" i="0">
                <a:solidFill>
                  <a:srgbClr val="222222"/>
                </a:solidFill>
                <a:latin typeface="Helvetica Neue"/>
              </a:rPr>
              <a:t>. Each method should address a different aspect of the research question, and together they should produce a richer answer than any one method alone.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Writing a methods section</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Your written submission will need a methods section. It should cover:</a:t>
            </a:r>
          </a:p>
          <a:p>
            <a:pPr>
              <a:buNone/>
            </a:pPr>
            <a:endParaRPr sz="1800" b="0" i="0">
              <a:solidFill>
                <a:srgbClr val="222222"/>
              </a:solidFill>
              <a:latin typeface="Helvetica Neue"/>
            </a:endParaRPr>
          </a:p>
          <a:p>
            <a:pPr marL="342900" algn="l">
              <a:buNone/>
            </a:pPr>
            <a:r>
              <a:rPr sz="1800" b="0" i="0">
                <a:solidFill>
                  <a:srgbClr val="222222"/>
                </a:solidFill>
                <a:latin typeface="Helvetica Neue"/>
              </a:rPr>
              <a:t>1.  </a:t>
            </a:r>
            <a:r>
              <a:rPr sz="1800" b="1" i="0">
                <a:solidFill>
                  <a:srgbClr val="222222"/>
                </a:solidFill>
                <a:latin typeface="Helvetica Neue"/>
              </a:rPr>
              <a:t>What methods you used</a:t>
            </a:r>
            <a:r>
              <a:rPr sz="1800" b="0" i="0">
                <a:solidFill>
                  <a:srgbClr val="222222"/>
                </a:solidFill>
                <a:latin typeface="Helvetica Neue"/>
              </a:rPr>
              <a:t> — named and cited.</a:t>
            </a:r>
          </a:p>
          <a:p>
            <a:pPr marL="342900" algn="l">
              <a:buNone/>
            </a:pPr>
            <a:r>
              <a:rPr sz="1800" b="0" i="0">
                <a:solidFill>
                  <a:srgbClr val="222222"/>
                </a:solidFill>
                <a:latin typeface="Helvetica Neue"/>
              </a:rPr>
              <a:t>2.  </a:t>
            </a:r>
            <a:r>
              <a:rPr sz="1800" b="1" i="0">
                <a:solidFill>
                  <a:srgbClr val="222222"/>
                </a:solidFill>
                <a:latin typeface="Helvetica Neue"/>
              </a:rPr>
              <a:t>Why you chose them</a:t>
            </a:r>
            <a:r>
              <a:rPr sz="1800" b="0" i="0">
                <a:solidFill>
                  <a:srgbClr val="222222"/>
                </a:solidFill>
                <a:latin typeface="Helvetica Neue"/>
              </a:rPr>
              <a:t> — how they match your research question and gap.</a:t>
            </a:r>
          </a:p>
          <a:p>
            <a:pPr marL="342900" algn="l">
              <a:buNone/>
            </a:pPr>
            <a:r>
              <a:rPr sz="1800" b="0" i="0">
                <a:solidFill>
                  <a:srgbClr val="222222"/>
                </a:solidFill>
                <a:latin typeface="Helvetica Neue"/>
              </a:rPr>
              <a:t>3.  </a:t>
            </a:r>
            <a:r>
              <a:rPr sz="1800" b="1" i="0">
                <a:solidFill>
                  <a:srgbClr val="222222"/>
                </a:solidFill>
                <a:latin typeface="Helvetica Neue"/>
              </a:rPr>
              <a:t>How you applied them</a:t>
            </a:r>
            <a:r>
              <a:rPr sz="1800" b="0" i="0">
                <a:solidFill>
                  <a:srgbClr val="222222"/>
                </a:solidFill>
                <a:latin typeface="Helvetica Neue"/>
              </a:rPr>
              <a:t> — enough detail that someone could follow your process.</a:t>
            </a:r>
          </a:p>
          <a:p>
            <a:pPr marL="342900" algn="l">
              <a:buNone/>
            </a:pPr>
            <a:r>
              <a:rPr sz="1800" b="0" i="0">
                <a:solidFill>
                  <a:srgbClr val="222222"/>
                </a:solidFill>
                <a:latin typeface="Helvetica Neue"/>
              </a:rPr>
              <a:t>4.  </a:t>
            </a:r>
            <a:r>
              <a:rPr sz="1800" b="1" i="0">
                <a:solidFill>
                  <a:srgbClr val="222222"/>
                </a:solidFill>
                <a:latin typeface="Helvetica Neue"/>
              </a:rPr>
              <a:t>What data they produced</a:t>
            </a:r>
            <a:r>
              <a:rPr sz="1800" b="0" i="0">
                <a:solidFill>
                  <a:srgbClr val="222222"/>
                </a:solidFill>
                <a:latin typeface="Helvetica Neue"/>
              </a:rPr>
              <a:t> — what kind of evidence you gathered.</a:t>
            </a:r>
          </a:p>
          <a:p>
            <a:pPr marL="342900" algn="l">
              <a:buNone/>
            </a:pPr>
            <a:r>
              <a:rPr sz="1800" b="0" i="0">
                <a:solidFill>
                  <a:srgbClr val="222222"/>
                </a:solidFill>
                <a:latin typeface="Helvetica Neue"/>
              </a:rPr>
              <a:t>5.  </a:t>
            </a:r>
            <a:r>
              <a:rPr sz="1800" b="1" i="0">
                <a:solidFill>
                  <a:srgbClr val="222222"/>
                </a:solidFill>
                <a:latin typeface="Helvetica Neue"/>
              </a:rPr>
              <a:t>How you analysed that data</a:t>
            </a:r>
            <a:r>
              <a:rPr sz="1800" b="0" i="0">
                <a:solidFill>
                  <a:srgbClr val="222222"/>
                </a:solidFill>
                <a:latin typeface="Helvetica Neue"/>
              </a:rPr>
              <a:t> — the analytical framework.</a:t>
            </a:r>
          </a:p>
          <a:p>
            <a:pPr>
              <a:buNone/>
            </a:pPr>
            <a:endParaRPr sz="1800" b="0" i="0">
              <a:solidFill>
                <a:srgbClr val="222222"/>
              </a:solidFill>
              <a:latin typeface="Helvetica Neue"/>
            </a:endParaRPr>
          </a:p>
          <a:p>
            <a:pPr algn="l">
              <a:buNone/>
            </a:pPr>
            <a:r>
              <a:rPr sz="1800" b="0" i="0">
                <a:solidFill>
                  <a:srgbClr val="222222"/>
                </a:solidFill>
                <a:latin typeface="Helvetica Neue"/>
              </a:rPr>
              <a:t>A good methods section is specific and honest. It includes limitations: "I had 8 participants rather than 20 because of time constraints. This limits the generalisability of the findings but is sufficient for a qualitative exploration."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Ethics: why this matters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Any research that involves other people, their data, or potential risks requires </a:t>
            </a:r>
            <a:r>
              <a:rPr sz="1800" b="1" i="0">
                <a:solidFill>
                  <a:srgbClr val="222222"/>
                </a:solidFill>
                <a:latin typeface="Helvetica Neue"/>
              </a:rPr>
              <a:t>ethical approval before you begin</a:t>
            </a:r>
            <a:r>
              <a:rPr sz="1800" b="0" i="0">
                <a:solidFill>
                  <a:srgbClr val="222222"/>
                </a:solidFill>
                <a:latin typeface="Helvetica Neue"/>
              </a:rPr>
              <a:t>.</a:t>
            </a:r>
          </a:p>
          <a:p>
            <a:pPr>
              <a:buNone/>
            </a:pPr>
            <a:endParaRPr sz="1800" b="0" i="0">
              <a:solidFill>
                <a:srgbClr val="222222"/>
              </a:solidFill>
              <a:latin typeface="Helvetica Neue"/>
            </a:endParaRPr>
          </a:p>
          <a:p>
            <a:pPr algn="l">
              <a:buNone/>
            </a:pPr>
            <a:r>
              <a:rPr sz="1800" b="0" i="0">
                <a:solidFill>
                  <a:srgbClr val="222222"/>
                </a:solidFill>
                <a:latin typeface="Helvetica Neue"/>
              </a:rPr>
              <a:t>This is not bureaucracy for its own sake. It exists to protect:</a:t>
            </a:r>
          </a:p>
          <a:p>
            <a:pPr>
              <a:buNone/>
            </a:pPr>
            <a:endParaRPr sz="1800" b="0" i="0">
              <a:solidFill>
                <a:srgbClr val="222222"/>
              </a:solidFill>
              <a:latin typeface="Helvetica Neue"/>
            </a:endParaRPr>
          </a:p>
          <a:p>
            <a:pPr marL="342900" indent="-342900" algn="l">
              <a:buChar char="•"/>
            </a:pPr>
            <a:r>
              <a:rPr sz="1800" b="1" i="0">
                <a:solidFill>
                  <a:srgbClr val="222222"/>
                </a:solidFill>
                <a:latin typeface="Helvetica Neue"/>
              </a:rPr>
              <a:t>Participants</a:t>
            </a:r>
            <a:r>
              <a:rPr sz="1800" b="0" i="0">
                <a:solidFill>
                  <a:srgbClr val="222222"/>
                </a:solidFill>
                <a:latin typeface="Helvetica Neue"/>
              </a:rPr>
              <a:t> — from harm, deception, or exploitation.</a:t>
            </a:r>
          </a:p>
          <a:p>
            <a:pPr marL="342900" indent="-342900" algn="l">
              <a:buChar char="•"/>
            </a:pPr>
            <a:r>
              <a:rPr sz="1800" b="1" i="0">
                <a:solidFill>
                  <a:srgbClr val="222222"/>
                </a:solidFill>
                <a:latin typeface="Helvetica Neue"/>
              </a:rPr>
              <a:t>You</a:t>
            </a:r>
            <a:r>
              <a:rPr sz="1800" b="0" i="0">
                <a:solidFill>
                  <a:srgbClr val="222222"/>
                </a:solidFill>
                <a:latin typeface="Helvetica Neue"/>
              </a:rPr>
              <a:t> — from doing something that causes harm you didn't anticipate.</a:t>
            </a:r>
          </a:p>
          <a:p>
            <a:pPr marL="342900" indent="-342900" algn="l">
              <a:buChar char="•"/>
            </a:pPr>
            <a:r>
              <a:rPr sz="1800" b="1" i="0">
                <a:solidFill>
                  <a:srgbClr val="222222"/>
                </a:solidFill>
                <a:latin typeface="Helvetica Neue"/>
              </a:rPr>
              <a:t>The institution</a:t>
            </a:r>
            <a:r>
              <a:rPr sz="1800" b="0" i="0">
                <a:solidFill>
                  <a:srgbClr val="222222"/>
                </a:solidFill>
                <a:latin typeface="Helvetica Neue"/>
              </a:rPr>
              <a:t> — from liability.</a:t>
            </a:r>
          </a:p>
          <a:p>
            <a:pPr marL="342900" indent="-342900" algn="l">
              <a:buChar char="•"/>
            </a:pPr>
            <a:r>
              <a:rPr sz="1800" b="1" i="0">
                <a:solidFill>
                  <a:srgbClr val="222222"/>
                </a:solidFill>
                <a:latin typeface="Helvetica Neue"/>
              </a:rPr>
              <a:t>The field</a:t>
            </a:r>
            <a:r>
              <a:rPr sz="1800" b="0" i="0">
                <a:solidFill>
                  <a:srgbClr val="222222"/>
                </a:solidFill>
                <a:latin typeface="Helvetica Neue"/>
              </a:rPr>
              <a:t> — from losing public trust.</a:t>
            </a:r>
          </a:p>
          <a:p>
            <a:pPr>
              <a:buNone/>
            </a:pPr>
            <a:endParaRPr sz="1800" b="0" i="0">
              <a:solidFill>
                <a:srgbClr val="222222"/>
              </a:solidFill>
              <a:latin typeface="Helvetica Neue"/>
            </a:endParaRPr>
          </a:p>
          <a:p>
            <a:pPr algn="l">
              <a:buNone/>
            </a:pPr>
            <a:r>
              <a:rPr sz="1800" b="0" i="0">
                <a:solidFill>
                  <a:srgbClr val="222222"/>
                </a:solidFill>
                <a:latin typeface="Helvetica Neue"/>
              </a:rPr>
              <a:t>If your project involves human participants, secondary human data, external collaborators, or any of the categories we're about to discuss — you need to go through the ethics process. And you need to do it </a:t>
            </a:r>
            <a:r>
              <a:rPr sz="1800" b="1" i="0">
                <a:solidFill>
                  <a:srgbClr val="222222"/>
                </a:solidFill>
                <a:latin typeface="Helvetica Neue"/>
              </a:rPr>
              <a:t>before you collect any data</a:t>
            </a:r>
            <a:r>
              <a:rPr sz="1800" b="0" i="0">
                <a:solidFill>
                  <a:srgbClr val="222222"/>
                </a:solidFill>
                <a:latin typeface="Helvetica Neue"/>
              </a:rPr>
              <a:t>, not after.</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CCI ethics procedures: what you need to do</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All MSc students at CCI must complete the </a:t>
            </a:r>
            <a:r>
              <a:rPr sz="1800" b="1" i="0">
                <a:solidFill>
                  <a:srgbClr val="222222"/>
                </a:solidFill>
                <a:latin typeface="Helvetica Neue"/>
              </a:rPr>
              <a:t>ethics pre-screen checklist</a:t>
            </a:r>
            <a:r>
              <a:rPr sz="1800" b="0" i="0">
                <a:solidFill>
                  <a:srgbClr val="222222"/>
                </a:solidFill>
                <a:latin typeface="Helvetica Neue"/>
              </a:rPr>
              <a:t> before any data gathering begins.</a:t>
            </a:r>
          </a:p>
          <a:p>
            <a:pPr>
              <a:buNone/>
            </a:pPr>
            <a:endParaRPr sz="1800" b="0" i="0">
              <a:solidFill>
                <a:srgbClr val="222222"/>
              </a:solidFill>
              <a:latin typeface="Helvetica Neue"/>
            </a:endParaRPr>
          </a:p>
          <a:p>
            <a:pPr algn="l">
              <a:buNone/>
            </a:pPr>
            <a:r>
              <a:rPr sz="1800" b="0" i="0">
                <a:solidFill>
                  <a:srgbClr val="222222"/>
                </a:solidFill>
                <a:latin typeface="Helvetica Neue"/>
              </a:rPr>
              <a:t>The checklist is here: </a:t>
            </a:r>
            <a:r>
              <a:rPr sz="1800" b="0" i="0">
                <a:solidFill>
                  <a:srgbClr val="222222"/>
                </a:solidFill>
                <a:latin typeface="Helvetica Neue"/>
                <a:hlinkClick r:id="rId3"/>
              </a:rPr>
              <a:t>CCI Ethics Pre-Screen Checklist</a:t>
            </a:r>
          </a:p>
          <a:p>
            <a:pPr>
              <a:buNone/>
            </a:pPr>
            <a:endParaRPr sz="1800" b="0" i="0">
              <a:solidFill>
                <a:srgbClr val="222222"/>
              </a:solidFill>
              <a:latin typeface="Helvetica Neue"/>
              <a:hlinkClick r:id="rId3"/>
            </a:endParaRPr>
          </a:p>
          <a:p>
            <a:pPr algn="l">
              <a:buNone/>
            </a:pPr>
            <a:r>
              <a:rPr sz="1800" b="0" i="0">
                <a:solidFill>
                  <a:srgbClr val="222222"/>
                </a:solidFill>
                <a:latin typeface="Helvetica Neue"/>
              </a:rPr>
              <a:t>Full details: </a:t>
            </a:r>
            <a:r>
              <a:rPr sz="1800" b="0" i="0">
                <a:solidFill>
                  <a:srgbClr val="222222"/>
                </a:solidFill>
                <a:latin typeface="Helvetica Neue"/>
                <a:hlinkClick r:id="rId4"/>
              </a:rPr>
              <a:t>CCI Taught Course Ethics Procedures</a:t>
            </a:r>
          </a:p>
          <a:p>
            <a:pPr>
              <a:buNone/>
            </a:pPr>
            <a:endParaRPr sz="1800" b="0" i="0">
              <a:solidFill>
                <a:srgbClr val="222222"/>
              </a:solidFill>
              <a:latin typeface="Helvetica Neue"/>
              <a:hlinkClick r:id="rId4"/>
            </a:endParaRPr>
          </a:p>
          <a:p>
            <a:pPr algn="l">
              <a:buNone/>
            </a:pPr>
            <a:r>
              <a:rPr sz="1800" b="1" i="0">
                <a:solidFill>
                  <a:srgbClr val="222222"/>
                </a:solidFill>
                <a:latin typeface="Helvetica Neue"/>
              </a:rPr>
              <a:t>Your project is likely to have an ethical dimension if it involves:</a:t>
            </a:r>
          </a:p>
          <a:p>
            <a:pPr>
              <a:buNone/>
            </a:pPr>
            <a:endParaRPr sz="1800" b="1" i="0">
              <a:solidFill>
                <a:srgbClr val="222222"/>
              </a:solidFill>
              <a:latin typeface="Helvetica Neue"/>
            </a:endParaRPr>
          </a:p>
          <a:p>
            <a:pPr marL="342900" indent="-342900" algn="l">
              <a:buChar char="•"/>
            </a:pPr>
            <a:r>
              <a:rPr sz="1800" b="0" i="0">
                <a:solidFill>
                  <a:srgbClr val="222222"/>
                </a:solidFill>
                <a:latin typeface="Helvetica Neue"/>
              </a:rPr>
              <a:t>Other people — as participants, users, testers, or subjects of observation (including in a professional capacity)</a:t>
            </a:r>
          </a:p>
          <a:p>
            <a:pPr marL="342900" indent="-342900" algn="l">
              <a:buChar char="•"/>
            </a:pPr>
            <a:r>
              <a:rPr sz="1800" b="0" i="0">
                <a:solidFill>
                  <a:srgbClr val="222222"/>
                </a:solidFill>
                <a:latin typeface="Helvetica Neue"/>
              </a:rPr>
              <a:t>Human data — whether you collect it yourself (primary) or use existing datasets (secondary, e.g. social media posts, medical records)</a:t>
            </a:r>
          </a:p>
          <a:p>
            <a:pPr marL="342900" indent="-342900" algn="l">
              <a:buChar char="•"/>
            </a:pPr>
            <a:r>
              <a:rPr sz="1800" b="0" i="0">
                <a:solidFill>
                  <a:srgbClr val="222222"/>
                </a:solidFill>
                <a:latin typeface="Helvetica Neue"/>
              </a:rPr>
              <a:t>External collaborators — companies, organisations, community groups</a:t>
            </a:r>
          </a:p>
          <a:p>
            <a:pPr marL="342900" indent="-342900" algn="l">
              <a:buChar char="•"/>
            </a:pPr>
            <a:r>
              <a:rPr sz="1800" b="0" i="0">
                <a:solidFill>
                  <a:srgbClr val="222222"/>
                </a:solidFill>
                <a:latin typeface="Helvetica Neue"/>
              </a:rPr>
              <a:t>Animals, human tissue, or environmental impact</a:t>
            </a:r>
          </a:p>
          <a:p>
            <a:pPr marL="342900" indent="-342900" algn="l">
              <a:buChar char="•"/>
            </a:pPr>
            <a:r>
              <a:rPr sz="1800" b="0" i="0">
                <a:solidFill>
                  <a:srgbClr val="222222"/>
                </a:solidFill>
                <a:latin typeface="Helvetica Neue"/>
              </a:rPr>
              <a:t>Health and safety risks beyond everyday life</a:t>
            </a:r>
          </a:p>
          <a:p>
            <a:pPr>
              <a:buNone/>
            </a:pPr>
            <a:endParaRPr sz="1800" b="0" i="0">
              <a:solidFill>
                <a:srgbClr val="222222"/>
              </a:solidFill>
              <a:latin typeface="Helvetica Neue"/>
            </a:endParaRPr>
          </a:p>
          <a:p>
            <a:pPr algn="l">
              <a:buNone/>
            </a:pPr>
            <a:r>
              <a:rPr sz="1800" b="0" i="0">
                <a:solidFill>
                  <a:srgbClr val="222222"/>
                </a:solidFill>
                <a:latin typeface="Helvetica Neue"/>
              </a:rPr>
              <a:t>The most common scenario for this cohort: </a:t>
            </a:r>
            <a:r>
              <a:rPr sz="1800" b="1" i="0">
                <a:solidFill>
                  <a:srgbClr val="222222"/>
                </a:solidFill>
                <a:latin typeface="Helvetica Neue"/>
              </a:rPr>
              <a:t>you're building something and asking people to use it</a:t>
            </a:r>
            <a:r>
              <a:rPr sz="1800" b="0" i="0">
                <a:solidFill>
                  <a:srgbClr val="222222"/>
                </a:solidFill>
                <a:latin typeface="Helvetica Neue"/>
              </a:rPr>
              <a:t>, or </a:t>
            </a:r>
            <a:r>
              <a:rPr sz="1800" b="1" i="0">
                <a:solidFill>
                  <a:srgbClr val="222222"/>
                </a:solidFill>
                <a:latin typeface="Helvetica Neue"/>
              </a:rPr>
              <a:t>you're using a dataset that contains human-generated content</a:t>
            </a:r>
            <a:r>
              <a:rPr sz="1800" b="0" i="0">
                <a:solidFill>
                  <a:srgbClr val="222222"/>
                </a:solidFill>
                <a:latin typeface="Helvetica Neue"/>
              </a:rPr>
              <a:t>. Both require ethical consideration.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If the pre-screen says you need full approval</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If the pre-screen identifies that your project has ethical dimensions requiring approval, you will need to:</a:t>
            </a:r>
          </a:p>
          <a:p>
            <a:pPr>
              <a:buNone/>
            </a:pPr>
            <a:endParaRPr sz="1800" b="0" i="0">
              <a:solidFill>
                <a:srgbClr val="222222"/>
              </a:solidFill>
              <a:latin typeface="Helvetica Neue"/>
            </a:endParaRPr>
          </a:p>
          <a:p>
            <a:pPr marL="342900" algn="l">
              <a:buNone/>
            </a:pPr>
            <a:r>
              <a:rPr sz="1800" b="0" i="0">
                <a:solidFill>
                  <a:srgbClr val="222222"/>
                </a:solidFill>
                <a:latin typeface="Helvetica Neue"/>
              </a:rPr>
              <a:t>1.  Complete the </a:t>
            </a:r>
            <a:r>
              <a:rPr sz="1800" b="0" i="0">
                <a:solidFill>
                  <a:srgbClr val="222222"/>
                </a:solidFill>
                <a:latin typeface="Helvetica Neue"/>
                <a:hlinkClick r:id="rId3"/>
              </a:rPr>
              <a:t>ethics application form</a:t>
            </a:r>
            <a:r>
              <a:rPr sz="1800" b="0" i="0">
                <a:solidFill>
                  <a:srgbClr val="222222"/>
                </a:solidFill>
                <a:latin typeface="Helvetica Neue"/>
              </a:rPr>
              <a:t> with your supervisor.</a:t>
            </a:r>
          </a:p>
          <a:p>
            <a:pPr marL="342900" algn="l">
              <a:buNone/>
            </a:pPr>
            <a:r>
              <a:rPr sz="1800" b="0" i="0">
                <a:solidFill>
                  <a:srgbClr val="222222"/>
                </a:solidFill>
                <a:latin typeface="Helvetica Neue"/>
              </a:rPr>
              <a:t>2.  Prepare a </a:t>
            </a:r>
            <a:r>
              <a:rPr sz="1800" b="0" i="0">
                <a:solidFill>
                  <a:srgbClr val="222222"/>
                </a:solidFill>
                <a:latin typeface="Helvetica Neue"/>
                <a:hlinkClick r:id="rId4"/>
              </a:rPr>
              <a:t>Participant Information &amp; Consent Form</a:t>
            </a:r>
            <a:r>
              <a:rPr sz="1800" b="0" i="0">
                <a:solidFill>
                  <a:srgbClr val="222222"/>
                </a:solidFill>
                <a:latin typeface="Helvetica Neue"/>
              </a:rPr>
              <a:t>.</a:t>
            </a:r>
          </a:p>
          <a:p>
            <a:pPr marL="342900" algn="l">
              <a:buNone/>
            </a:pPr>
            <a:r>
              <a:rPr sz="1800" b="0" i="0">
                <a:solidFill>
                  <a:srgbClr val="222222"/>
                </a:solidFill>
                <a:latin typeface="Helvetica Neue"/>
              </a:rPr>
              <a:t>3.  Submit both to </a:t>
            </a:r>
            <a:r>
              <a:rPr sz="1800" b="1" i="0">
                <a:solidFill>
                  <a:srgbClr val="222222"/>
                </a:solidFill>
                <a:latin typeface="Helvetica Neue"/>
              </a:rPr>
              <a:t>cci-cresc@arts.ac.uk</a:t>
            </a:r>
            <a:r>
              <a:rPr sz="1800" b="0" i="0">
                <a:solidFill>
                  <a:srgbClr val="222222"/>
                </a:solidFill>
                <a:latin typeface="Helvetica Neue"/>
              </a:rPr>
              <a:t> with the subject line: </a:t>
            </a:r>
            <a:r>
              <a:rPr sz="1800" b="1" i="0">
                <a:solidFill>
                  <a:srgbClr val="222222"/>
                </a:solidFill>
                <a:latin typeface="Helvetica Neue"/>
              </a:rPr>
              <a:t>MSc project ethics application</a:t>
            </a:r>
            <a:r>
              <a:rPr sz="1800" b="0" i="0">
                <a:solidFill>
                  <a:srgbClr val="222222"/>
                </a:solidFill>
                <a:latin typeface="Helvetica Neue"/>
              </a:rPr>
              <a:t>.</a:t>
            </a:r>
          </a:p>
          <a:p>
            <a:pPr>
              <a:buNone/>
            </a:pPr>
            <a:endParaRPr sz="1800" b="0" i="0">
              <a:solidFill>
                <a:srgbClr val="222222"/>
              </a:solidFill>
              <a:latin typeface="Helvetica Neue"/>
            </a:endParaRPr>
          </a:p>
          <a:p>
            <a:pPr algn="l">
              <a:buNone/>
            </a:pPr>
            <a:r>
              <a:rPr sz="1800" b="1" i="0">
                <a:solidFill>
                  <a:srgbClr val="222222"/>
                </a:solidFill>
                <a:latin typeface="Helvetica Neue"/>
              </a:rPr>
              <a:t>Minimise risk.</a:t>
            </a:r>
            <a:r>
              <a:rPr sz="1800" b="0" i="0">
                <a:solidFill>
                  <a:srgbClr val="222222"/>
                </a:solidFill>
                <a:latin typeface="Helvetica Neue"/>
              </a:rPr>
              <a:t> Most student projects should be </a:t>
            </a:r>
            <a:r>
              <a:rPr sz="1800" b="1" i="0">
                <a:solidFill>
                  <a:srgbClr val="222222"/>
                </a:solidFill>
                <a:latin typeface="Helvetica Neue"/>
              </a:rPr>
              <a:t>minimal risk</a:t>
            </a:r>
            <a:r>
              <a:rPr sz="1800" b="0" i="0">
                <a:solidFill>
                  <a:srgbClr val="222222"/>
                </a:solidFill>
                <a:latin typeface="Helvetica Neue"/>
              </a:rPr>
              <a:t> — defined as risk no greater than what participants encounter in everyday life. If your project goes above minimal risk (vulnerable participants, sensitive topics, deception, confidential records), it will be reviewed by the UAL educational ethics sub-committee, which takes longer.</a:t>
            </a:r>
          </a:p>
          <a:p>
            <a:pPr>
              <a:buNone/>
            </a:pPr>
            <a:endParaRPr sz="1800" b="0" i="0">
              <a:solidFill>
                <a:srgbClr val="222222"/>
              </a:solidFill>
              <a:latin typeface="Helvetica Neue"/>
            </a:endParaRPr>
          </a:p>
          <a:p>
            <a:pPr algn="l">
              <a:buNone/>
            </a:pPr>
            <a:r>
              <a:rPr sz="1800" b="1" i="0">
                <a:solidFill>
                  <a:srgbClr val="222222"/>
                </a:solidFill>
                <a:latin typeface="Helvetica Neue"/>
              </a:rPr>
              <a:t>If your project changes</a:t>
            </a:r>
            <a:r>
              <a:rPr sz="1800" b="0" i="0">
                <a:solidFill>
                  <a:srgbClr val="222222"/>
                </a:solidFill>
                <a:latin typeface="Helvetica Neue"/>
              </a:rPr>
              <a:t> after approval, submit a </a:t>
            </a:r>
            <a:r>
              <a:rPr sz="1800" b="0" i="0">
                <a:solidFill>
                  <a:srgbClr val="222222"/>
                </a:solidFill>
                <a:latin typeface="Helvetica Neue"/>
                <a:hlinkClick r:id="rId5"/>
              </a:rPr>
              <a:t>Notice of Amendment</a:t>
            </a:r>
            <a:r>
              <a:rPr sz="1800" b="0" i="0">
                <a:solidFill>
                  <a:srgbClr val="222222"/>
                </a:solidFill>
                <a:latin typeface="Helvetica Neue"/>
              </a:rPr>
              <a:t>. Substantial changes may require a new application.</a:t>
            </a:r>
          </a:p>
          <a:p>
            <a:pPr>
              <a:buNone/>
            </a:pPr>
            <a:endParaRPr sz="1800" b="0" i="0">
              <a:solidFill>
                <a:srgbClr val="222222"/>
              </a:solidFill>
              <a:latin typeface="Helvetica Neue"/>
            </a:endParaRPr>
          </a:p>
          <a:p>
            <a:pPr algn="l">
              <a:buNone/>
            </a:pPr>
            <a:r>
              <a:rPr sz="1800" b="0" i="0">
                <a:solidFill>
                  <a:srgbClr val="222222"/>
                </a:solidFill>
                <a:latin typeface="Helvetica Neue"/>
              </a:rPr>
              <a:t>Questions? Contact </a:t>
            </a:r>
            <a:r>
              <a:rPr sz="1800" b="1" i="0">
                <a:solidFill>
                  <a:srgbClr val="222222"/>
                </a:solidFill>
                <a:latin typeface="Helvetica Neue"/>
              </a:rPr>
              <a:t>cci-cresc@arts.ac.uk</a:t>
            </a:r>
            <a:r>
              <a:rPr sz="1800" b="0" i="0">
                <a:solidFill>
                  <a:srgbClr val="222222"/>
                </a:solidFill>
                <a:latin typeface="Helvetica Neue"/>
              </a:rPr>
              <a:t> or </a:t>
            </a:r>
            <a:r>
              <a:rPr sz="1800" b="1" i="0">
                <a:solidFill>
                  <a:srgbClr val="222222"/>
                </a:solidFill>
                <a:latin typeface="Helvetica Neue"/>
              </a:rPr>
              <a:t>#research-ethics</a:t>
            </a:r>
            <a:r>
              <a:rPr sz="1800" b="0" i="0">
                <a:solidFill>
                  <a:srgbClr val="222222"/>
                </a:solidFill>
                <a:latin typeface="Helvetica Neue"/>
              </a:rPr>
              <a:t> on Slack.</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Method design as research design</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Choosing methods is not a box-ticking exercise. It is </a:t>
            </a:r>
            <a:r>
              <a:rPr sz="1800" b="1" i="0">
                <a:solidFill>
                  <a:srgbClr val="222222"/>
                </a:solidFill>
                <a:latin typeface="Helvetica Neue"/>
              </a:rPr>
              <a:t>research design</a:t>
            </a:r>
            <a:r>
              <a:rPr sz="1800" b="0" i="0">
                <a:solidFill>
                  <a:srgbClr val="222222"/>
                </a:solidFill>
                <a:latin typeface="Helvetica Neue"/>
              </a:rPr>
              <a:t> — the architecture of your investigation.</a:t>
            </a:r>
          </a:p>
          <a:p>
            <a:pPr>
              <a:buNone/>
            </a:pPr>
            <a:endParaRPr sz="1800" b="0" i="0">
              <a:solidFill>
                <a:srgbClr val="222222"/>
              </a:solidFill>
              <a:latin typeface="Helvetica Neue"/>
            </a:endParaRPr>
          </a:p>
          <a:p>
            <a:pPr algn="l">
              <a:buNone/>
            </a:pPr>
            <a:r>
              <a:rPr sz="1800" b="0" i="0">
                <a:solidFill>
                  <a:srgbClr val="222222"/>
                </a:solidFill>
                <a:latin typeface="Helvetica Neue"/>
              </a:rPr>
              <a:t>Good research design means:</a:t>
            </a:r>
          </a:p>
          <a:p>
            <a:pPr>
              <a:buNone/>
            </a:pPr>
            <a:endParaRPr sz="1800" b="0" i="0">
              <a:solidFill>
                <a:srgbClr val="222222"/>
              </a:solidFill>
              <a:latin typeface="Helvetica Neue"/>
            </a:endParaRPr>
          </a:p>
          <a:p>
            <a:pPr marL="342900" indent="-342900" algn="l">
              <a:buChar char="•"/>
            </a:pPr>
            <a:r>
              <a:rPr sz="1800" b="0" i="0">
                <a:solidFill>
                  <a:srgbClr val="222222"/>
                </a:solidFill>
                <a:latin typeface="Helvetica Neue"/>
              </a:rPr>
              <a:t>Your methods </a:t>
            </a:r>
            <a:r>
              <a:rPr sz="1800" b="1" i="0">
                <a:solidFill>
                  <a:srgbClr val="222222"/>
                </a:solidFill>
                <a:latin typeface="Helvetica Neue"/>
              </a:rPr>
              <a:t>match your question</a:t>
            </a:r>
            <a:r>
              <a:rPr sz="1800" b="0" i="0">
                <a:solidFill>
                  <a:srgbClr val="222222"/>
                </a:solidFill>
                <a:latin typeface="Helvetica Neue"/>
              </a:rPr>
              <a:t>. (Don't run a user study if your question is about computational efficiency.)</a:t>
            </a:r>
          </a:p>
          <a:p>
            <a:pPr marL="342900" indent="-342900" algn="l">
              <a:buChar char="•"/>
            </a:pPr>
            <a:r>
              <a:rPr sz="1800" b="0" i="0">
                <a:solidFill>
                  <a:srgbClr val="222222"/>
                </a:solidFill>
                <a:latin typeface="Helvetica Neue"/>
              </a:rPr>
              <a:t>Your methods </a:t>
            </a:r>
            <a:r>
              <a:rPr sz="1800" b="1" i="0">
                <a:solidFill>
                  <a:srgbClr val="222222"/>
                </a:solidFill>
                <a:latin typeface="Helvetica Neue"/>
              </a:rPr>
              <a:t>produce the right kind of evidence</a:t>
            </a:r>
            <a:r>
              <a:rPr sz="1800" b="0" i="0">
                <a:solidFill>
                  <a:srgbClr val="222222"/>
                </a:solidFill>
                <a:latin typeface="Helvetica Neue"/>
              </a:rPr>
              <a:t>. (Don't use a questionnaire if you need rich descriptions of experience.)</a:t>
            </a:r>
          </a:p>
          <a:p>
            <a:pPr marL="342900" indent="-342900" algn="l">
              <a:buChar char="•"/>
            </a:pPr>
            <a:r>
              <a:rPr sz="1800" b="0" i="0">
                <a:solidFill>
                  <a:srgbClr val="222222"/>
                </a:solidFill>
                <a:latin typeface="Helvetica Neue"/>
              </a:rPr>
              <a:t>Your methods are </a:t>
            </a:r>
            <a:r>
              <a:rPr sz="1800" b="1" i="0">
                <a:solidFill>
                  <a:srgbClr val="222222"/>
                </a:solidFill>
                <a:latin typeface="Helvetica Neue"/>
              </a:rPr>
              <a:t>feasible</a:t>
            </a:r>
            <a:r>
              <a:rPr sz="1800" b="0" i="0">
                <a:solidFill>
                  <a:srgbClr val="222222"/>
                </a:solidFill>
                <a:latin typeface="Helvetica Neue"/>
              </a:rPr>
              <a:t>. (Don't plan for 50 participants if you have 6 weeks.)</a:t>
            </a:r>
          </a:p>
          <a:p>
            <a:pPr marL="342900" indent="-342900" algn="l">
              <a:buChar char="•"/>
            </a:pPr>
            <a:r>
              <a:rPr sz="1800" b="0" i="0">
                <a:solidFill>
                  <a:srgbClr val="222222"/>
                </a:solidFill>
                <a:latin typeface="Helvetica Neue"/>
              </a:rPr>
              <a:t>Your methods are </a:t>
            </a:r>
            <a:r>
              <a:rPr sz="1800" b="1" i="0">
                <a:solidFill>
                  <a:srgbClr val="222222"/>
                </a:solidFill>
                <a:latin typeface="Helvetica Neue"/>
              </a:rPr>
              <a:t>ethical</a:t>
            </a:r>
            <a:r>
              <a:rPr sz="1800" b="0" i="0">
                <a:solidFill>
                  <a:srgbClr val="222222"/>
                </a:solidFill>
                <a:latin typeface="Helvetica Neue"/>
              </a:rPr>
              <a:t>. (Don't collect data you don't need. Don't expose participants to unnecessary risk.)</a:t>
            </a:r>
          </a:p>
          <a:p>
            <a:pPr marL="342900" indent="-342900" algn="l">
              <a:buChar char="•"/>
            </a:pPr>
            <a:r>
              <a:rPr sz="1800" b="0" i="0">
                <a:solidFill>
                  <a:srgbClr val="222222"/>
                </a:solidFill>
                <a:latin typeface="Helvetica Neue"/>
              </a:rPr>
              <a:t>Your methods are </a:t>
            </a:r>
            <a:r>
              <a:rPr sz="1800" b="1" i="0">
                <a:solidFill>
                  <a:srgbClr val="222222"/>
                </a:solidFill>
                <a:latin typeface="Helvetica Neue"/>
              </a:rPr>
              <a:t>documented and justified</a:t>
            </a:r>
            <a:r>
              <a:rPr sz="1800" b="0" i="0">
                <a:solidFill>
                  <a:srgbClr val="222222"/>
                </a:solidFill>
                <a:latin typeface="Helvetica Neue"/>
              </a:rPr>
              <a:t> in your writing.</a:t>
            </a:r>
          </a:p>
          <a:p>
            <a:pPr>
              <a:buNone/>
            </a:pPr>
            <a:endParaRPr sz="1800" b="0" i="0">
              <a:solidFill>
                <a:srgbClr val="222222"/>
              </a:solidFill>
              <a:latin typeface="Helvetica Neue"/>
            </a:endParaRPr>
          </a:p>
          <a:p>
            <a:pPr algn="l">
              <a:buNone/>
            </a:pPr>
            <a:r>
              <a:rPr sz="1800" b="0" i="0">
                <a:solidFill>
                  <a:srgbClr val="222222"/>
                </a:solidFill>
                <a:latin typeface="Helvetica Neue"/>
              </a:rPr>
              <a:t>The test: can you explain, in two sentences, what your method is and why it's the right one for your question?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An exercise: method matching</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Here are three fictional project descriptions. For each, identify which methods from slide 6 would be appropriate, and why.</a:t>
            </a:r>
          </a:p>
          <a:p>
            <a:pPr>
              <a:buNone/>
            </a:pPr>
            <a:endParaRPr sz="2000" b="0" i="0">
              <a:solidFill>
                <a:srgbClr val="222222"/>
              </a:solidFill>
              <a:latin typeface="Helvetica Neue"/>
            </a:endParaRPr>
          </a:p>
          <a:p>
            <a:pPr algn="l">
              <a:buNone/>
            </a:pPr>
            <a:r>
              <a:rPr sz="2000" b="1" i="0">
                <a:solidFill>
                  <a:srgbClr val="222222"/>
                </a:solidFill>
                <a:latin typeface="Helvetica Neue"/>
              </a:rPr>
              <a:t>Project A:</a:t>
            </a:r>
            <a:r>
              <a:rPr sz="2000" b="0" i="0">
                <a:solidFill>
                  <a:srgbClr val="222222"/>
                </a:solidFill>
                <a:latin typeface="Helvetica Neue"/>
              </a:rPr>
              <a:t> A real-time system that generates ambient soundscapes from weather data, intended for public installation.</a:t>
            </a:r>
          </a:p>
          <a:p>
            <a:pPr algn="l">
              <a:buNone/>
            </a:pPr>
            <a:r>
              <a:rPr sz="2000" b="1" i="0">
                <a:solidFill>
                  <a:srgbClr val="222222"/>
                </a:solidFill>
                <a:latin typeface="Helvetica Neue"/>
              </a:rPr>
              <a:t>Project B:</a:t>
            </a:r>
            <a:r>
              <a:rPr sz="2000" b="0" i="0">
                <a:solidFill>
                  <a:srgbClr val="222222"/>
                </a:solidFill>
                <a:latin typeface="Helvetica Neue"/>
              </a:rPr>
              <a:t> A tool that helps non-programmers fine-tune image generation models, with the goal of making the process more accessible.</a:t>
            </a:r>
          </a:p>
          <a:p>
            <a:pPr algn="l">
              <a:buNone/>
            </a:pPr>
            <a:r>
              <a:rPr sz="2000" b="1" i="0">
                <a:solidFill>
                  <a:srgbClr val="222222"/>
                </a:solidFill>
                <a:latin typeface="Helvetica Neue"/>
              </a:rPr>
              <a:t>Project C:</a:t>
            </a:r>
            <a:r>
              <a:rPr sz="2000" b="0" i="0">
                <a:solidFill>
                  <a:srgbClr val="222222"/>
                </a:solidFill>
                <a:latin typeface="Helvetica Neue"/>
              </a:rPr>
              <a:t> An artistic investigation of how language models represent gender, expressed as a series of generated text-and-image compositions.</a:t>
            </a:r>
          </a:p>
          <a:p>
            <a:pPr>
              <a:buNone/>
            </a:pPr>
            <a:endParaRPr sz="2000" b="0" i="0">
              <a:solidFill>
                <a:srgbClr val="222222"/>
              </a:solidFill>
              <a:latin typeface="Helvetica Neue"/>
            </a:endParaRPr>
          </a:p>
          <a:p>
            <a:pPr algn="l">
              <a:buNone/>
            </a:pPr>
            <a:r>
              <a:rPr sz="2000" b="0" i="0">
                <a:solidFill>
                  <a:srgbClr val="222222"/>
                </a:solidFill>
                <a:latin typeface="Helvetica Neue"/>
              </a:rPr>
              <a:t>Take 10 minutes. For each project, name 2–3 methods and write one sentence explaining why each is appropriate.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For next week</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Week 5: </a:t>
            </a:r>
            <a:r>
              <a:rPr sz="2000" b="1" i="0">
                <a:solidFill>
                  <a:srgbClr val="222222"/>
                </a:solidFill>
                <a:latin typeface="Helvetica Neue"/>
              </a:rPr>
              <a:t>Documentation — what to document and how.</a:t>
            </a:r>
          </a:p>
          <a:p>
            <a:pPr>
              <a:buNone/>
            </a:pPr>
            <a:endParaRPr sz="2000" b="1" i="0">
              <a:solidFill>
                <a:srgbClr val="222222"/>
              </a:solidFill>
              <a:latin typeface="Helvetica Neue"/>
            </a:endParaRPr>
          </a:p>
          <a:p>
            <a:pPr algn="l">
              <a:buNone/>
            </a:pPr>
            <a:r>
              <a:rPr sz="2000" b="0" i="0">
                <a:solidFill>
                  <a:srgbClr val="222222"/>
                </a:solidFill>
                <a:latin typeface="Helvetica Neue"/>
              </a:rPr>
              <a:t>You've now got a question, a gap, and a method. Next week we ask: what counts as evidence in practice-based research, and how do you capture it?</a:t>
            </a:r>
          </a:p>
          <a:p>
            <a:pPr>
              <a:buNone/>
            </a:pPr>
            <a:endParaRPr sz="2000" b="0" i="0">
              <a:solidFill>
                <a:srgbClr val="222222"/>
              </a:solidFill>
              <a:latin typeface="Helvetica Neue"/>
            </a:endParaRPr>
          </a:p>
          <a:p>
            <a:pPr algn="l">
              <a:buNone/>
            </a:pPr>
            <a:r>
              <a:rPr sz="2000" b="0" i="0">
                <a:solidFill>
                  <a:srgbClr val="222222"/>
                </a:solidFill>
                <a:latin typeface="Helvetica Neue"/>
              </a:rPr>
              <a:t>No required reading — but if you want to get ahead:</a:t>
            </a:r>
          </a:p>
          <a:p>
            <a:pPr>
              <a:buNone/>
            </a:pPr>
            <a:endParaRPr sz="2000" b="0" i="0">
              <a:solidFill>
                <a:srgbClr val="222222"/>
              </a:solidFill>
              <a:latin typeface="Helvetica Neue"/>
            </a:endParaRPr>
          </a:p>
          <a:p>
            <a:pPr marL="342900" indent="-342900" algn="l">
              <a:buChar char="•"/>
            </a:pPr>
            <a:r>
              <a:rPr sz="2000" b="0" i="0">
                <a:solidFill>
                  <a:srgbClr val="222222"/>
                </a:solidFill>
                <a:latin typeface="Helvetica Neue"/>
              </a:rPr>
              <a:t>Gaver, W. &amp; Bowers, J. (2012). </a:t>
            </a:r>
            <a:r>
              <a:rPr sz="2000" b="0" i="0">
                <a:solidFill>
                  <a:srgbClr val="222222"/>
                </a:solidFill>
                <a:latin typeface="Helvetica Neue"/>
                <a:hlinkClick r:id="rId3"/>
              </a:rPr>
              <a:t>Annotated Portfolios</a:t>
            </a:r>
            <a:r>
              <a:rPr sz="2000" b="0" i="0">
                <a:solidFill>
                  <a:srgbClr val="222222"/>
                </a:solidFill>
                <a:latin typeface="Helvetica Neue"/>
              </a:rPr>
              <a:t>. </a:t>
            </a:r>
            <a:r>
              <a:rPr sz="2000" b="0" i="1">
                <a:solidFill>
                  <a:srgbClr val="222222"/>
                </a:solidFill>
                <a:latin typeface="Helvetica Neue"/>
              </a:rPr>
              <a:t>Interactions</a:t>
            </a:r>
            <a:r>
              <a:rPr sz="2000" b="0" i="0">
                <a:solidFill>
                  <a:srgbClr val="222222"/>
                </a:solidFill>
                <a:latin typeface="Helvetica Neue"/>
              </a:rPr>
              <a:t>, 19(4), 40–49.</a:t>
            </a:r>
          </a:p>
          <a:p>
            <a:pPr marL="342900" indent="-342900" algn="l">
              <a:buChar char="•"/>
            </a:pPr>
            <a:r>
              <a:rPr sz="2000" b="0" i="0">
                <a:solidFill>
                  <a:srgbClr val="222222"/>
                </a:solidFill>
                <a:latin typeface="Helvetica Neue"/>
              </a:rPr>
              <a:t>Keep a process log this week. Just notes — what you're doing, why, what's happening. We'll use these in Week 5.</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References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4801314"/>
          </a:xfrm>
          <a:prstGeom prst="rect">
            <a:avLst/>
          </a:prstGeom>
          <a:noFill/>
        </p:spPr>
        <p:txBody>
          <a:bodyPr wrap="square">
            <a:spAutoFit/>
          </a:bodyPr>
          <a:lstStyle/>
          <a:p>
            <a:pPr marL="285750" indent="-285750" algn="l">
              <a:buFont typeface="Arial" panose="020B0604020202020204" pitchFamily="34" charset="0"/>
              <a:buChar char="•"/>
            </a:pPr>
            <a:r>
              <a:rPr b="0" i="0" dirty="0">
                <a:solidFill>
                  <a:srgbClr val="222222"/>
                </a:solidFill>
                <a:latin typeface="Helvetica Neue"/>
              </a:rPr>
              <a:t>Haseman, B. (2006). </a:t>
            </a:r>
            <a:r>
              <a:rPr b="0" i="0" dirty="0">
                <a:solidFill>
                  <a:srgbClr val="222222"/>
                </a:solidFill>
                <a:latin typeface="Helvetica Neue"/>
                <a:hlinkClick r:id="rId2"/>
              </a:rPr>
              <a:t>"A Manifesto for Performative Research."</a:t>
            </a:r>
            <a:r>
              <a:rPr b="0" i="0" dirty="0">
                <a:solidFill>
                  <a:srgbClr val="222222"/>
                </a:solidFill>
                <a:latin typeface="Helvetica Neue"/>
              </a:rPr>
              <a:t> </a:t>
            </a:r>
            <a:r>
              <a:rPr b="0" i="1" dirty="0">
                <a:solidFill>
                  <a:srgbClr val="222222"/>
                </a:solidFill>
                <a:latin typeface="Helvetica Neue"/>
              </a:rPr>
              <a:t>Media International Australia</a:t>
            </a:r>
            <a:r>
              <a:rPr b="0" i="0" dirty="0">
                <a:solidFill>
                  <a:srgbClr val="222222"/>
                </a:solidFill>
                <a:latin typeface="Helvetica Neue"/>
              </a:rPr>
              <a:t>, 118(1), 98–106.</a:t>
            </a:r>
          </a:p>
          <a:p>
            <a:pPr marL="285750" indent="-285750" algn="l">
              <a:buFont typeface="Arial" panose="020B0604020202020204" pitchFamily="34" charset="0"/>
              <a:buChar char="•"/>
            </a:pPr>
            <a:r>
              <a:rPr b="0" i="0" dirty="0">
                <a:solidFill>
                  <a:srgbClr val="222222"/>
                </a:solidFill>
                <a:latin typeface="Helvetica Neue"/>
              </a:rPr>
              <a:t>Nelson, R. (2013). </a:t>
            </a:r>
            <a:r>
              <a:rPr b="0" i="0" dirty="0">
                <a:solidFill>
                  <a:srgbClr val="222222"/>
                </a:solidFill>
                <a:latin typeface="Helvetica Neue"/>
                <a:hlinkClick r:id="rId3"/>
              </a:rPr>
              <a:t>*Practice as Research in the Arts.*</a:t>
            </a:r>
            <a:r>
              <a:rPr b="0" i="0" dirty="0">
                <a:solidFill>
                  <a:srgbClr val="222222"/>
                </a:solidFill>
                <a:latin typeface="Helvetica Neue"/>
              </a:rPr>
              <a:t> Palgrave Macmillan.</a:t>
            </a:r>
          </a:p>
          <a:p>
            <a:pPr marL="285750" indent="-285750" algn="l">
              <a:buFont typeface="Arial" panose="020B0604020202020204" pitchFamily="34" charset="0"/>
              <a:buChar char="•"/>
            </a:pPr>
            <a:r>
              <a:rPr b="0" i="0" dirty="0">
                <a:solidFill>
                  <a:srgbClr val="222222"/>
                </a:solidFill>
                <a:latin typeface="Helvetica Neue"/>
              </a:rPr>
              <a:t>Schön, D. (1983). </a:t>
            </a:r>
            <a:r>
              <a:rPr b="0" i="1" dirty="0">
                <a:solidFill>
                  <a:srgbClr val="222222"/>
                </a:solidFill>
                <a:latin typeface="Helvetica Neue"/>
              </a:rPr>
              <a:t>The Reflective Practitioner.</a:t>
            </a:r>
            <a:r>
              <a:rPr b="0" i="0" dirty="0">
                <a:solidFill>
                  <a:srgbClr val="222222"/>
                </a:solidFill>
                <a:latin typeface="Helvetica Neue"/>
              </a:rPr>
              <a:t> Basic Books.</a:t>
            </a:r>
          </a:p>
          <a:p>
            <a:pPr marL="285750" indent="-285750" algn="l">
              <a:buFont typeface="Arial" panose="020B0604020202020204" pitchFamily="34" charset="0"/>
              <a:buChar char="•"/>
            </a:pPr>
            <a:r>
              <a:rPr b="0" i="0" dirty="0">
                <a:solidFill>
                  <a:srgbClr val="222222"/>
                </a:solidFill>
                <a:latin typeface="Helvetica Neue"/>
              </a:rPr>
              <a:t>Braun, V. &amp; Clarke, V. (2006). </a:t>
            </a:r>
            <a:r>
              <a:rPr b="0" i="0" dirty="0">
                <a:solidFill>
                  <a:srgbClr val="222222"/>
                </a:solidFill>
                <a:latin typeface="Helvetica Neue"/>
                <a:hlinkClick r:id="rId4"/>
              </a:rPr>
              <a:t>"Using Thematic Analysis in Psychology."</a:t>
            </a:r>
            <a:r>
              <a:rPr b="0" i="0" dirty="0">
                <a:solidFill>
                  <a:srgbClr val="222222"/>
                </a:solidFill>
                <a:latin typeface="Helvetica Neue"/>
              </a:rPr>
              <a:t> </a:t>
            </a:r>
            <a:r>
              <a:rPr b="0" i="1" dirty="0">
                <a:solidFill>
                  <a:srgbClr val="222222"/>
                </a:solidFill>
                <a:latin typeface="Helvetica Neue"/>
              </a:rPr>
              <a:t>Qualitative Research in Psychology</a:t>
            </a:r>
            <a:r>
              <a:rPr b="0" i="0" dirty="0">
                <a:solidFill>
                  <a:srgbClr val="222222"/>
                </a:solidFill>
                <a:latin typeface="Helvetica Neue"/>
              </a:rPr>
              <a:t>, 3(2), 77–101.</a:t>
            </a:r>
          </a:p>
          <a:p>
            <a:pPr marL="285750" indent="-285750" algn="l">
              <a:buFont typeface="Arial" panose="020B0604020202020204" pitchFamily="34" charset="0"/>
              <a:buChar char="•"/>
            </a:pPr>
            <a:r>
              <a:rPr b="0" i="0" dirty="0">
                <a:solidFill>
                  <a:srgbClr val="222222"/>
                </a:solidFill>
                <a:latin typeface="Helvetica Neue"/>
              </a:rPr>
              <a:t>Gaver, W. &amp; Bowers, J. (2012). </a:t>
            </a:r>
            <a:r>
              <a:rPr b="0" i="0" dirty="0">
                <a:solidFill>
                  <a:srgbClr val="222222"/>
                </a:solidFill>
                <a:latin typeface="Helvetica Neue"/>
                <a:hlinkClick r:id="rId5"/>
              </a:rPr>
              <a:t>"Annotated Portfolios."</a:t>
            </a:r>
            <a:r>
              <a:rPr b="0" i="0" dirty="0">
                <a:solidFill>
                  <a:srgbClr val="222222"/>
                </a:solidFill>
                <a:latin typeface="Helvetica Neue"/>
              </a:rPr>
              <a:t> </a:t>
            </a:r>
            <a:r>
              <a:rPr b="0" i="1" dirty="0">
                <a:solidFill>
                  <a:srgbClr val="222222"/>
                </a:solidFill>
                <a:latin typeface="Helvetica Neue"/>
              </a:rPr>
              <a:t>Interactions</a:t>
            </a:r>
            <a:r>
              <a:rPr b="0" i="0" dirty="0">
                <a:solidFill>
                  <a:srgbClr val="222222"/>
                </a:solidFill>
                <a:latin typeface="Helvetica Neue"/>
              </a:rPr>
              <a:t>, 19(4), 40–49.</a:t>
            </a:r>
          </a:p>
          <a:p>
            <a:pPr marL="285750" indent="-285750" algn="l">
              <a:buFont typeface="Arial" panose="020B0604020202020204" pitchFamily="34" charset="0"/>
              <a:buChar char="•"/>
            </a:pPr>
            <a:r>
              <a:rPr b="0" i="0" dirty="0">
                <a:solidFill>
                  <a:srgbClr val="222222"/>
                </a:solidFill>
                <a:latin typeface="Helvetica Neue"/>
              </a:rPr>
              <a:t>Zimmerman, J., Forlizzi, J. &amp; Evenson, S. (2007). </a:t>
            </a:r>
            <a:r>
              <a:rPr b="0" i="0" dirty="0">
                <a:solidFill>
                  <a:srgbClr val="222222"/>
                </a:solidFill>
                <a:latin typeface="Helvetica Neue"/>
                <a:hlinkClick r:id="rId6"/>
              </a:rPr>
              <a:t>"Research through Design as a Method for Interaction Design Research in HCI."</a:t>
            </a:r>
            <a:r>
              <a:rPr b="0" i="0" dirty="0">
                <a:solidFill>
                  <a:srgbClr val="222222"/>
                </a:solidFill>
                <a:latin typeface="Helvetica Neue"/>
              </a:rPr>
              <a:t> </a:t>
            </a:r>
            <a:r>
              <a:rPr b="0" i="1" dirty="0">
                <a:solidFill>
                  <a:srgbClr val="222222"/>
                </a:solidFill>
                <a:latin typeface="Helvetica Neue"/>
              </a:rPr>
              <a:t>CHI '07</a:t>
            </a:r>
            <a:r>
              <a:rPr b="0" i="0" dirty="0">
                <a:solidFill>
                  <a:srgbClr val="222222"/>
                </a:solidFill>
                <a:latin typeface="Helvetica Neue"/>
              </a:rPr>
              <a:t>, 493–502.</a:t>
            </a:r>
          </a:p>
          <a:p>
            <a:pPr marL="285750" indent="-285750" algn="l">
              <a:buFont typeface="Arial" panose="020B0604020202020204" pitchFamily="34" charset="0"/>
              <a:buChar char="•"/>
            </a:pPr>
            <a:r>
              <a:rPr b="0" i="0" dirty="0">
                <a:solidFill>
                  <a:srgbClr val="222222"/>
                </a:solidFill>
                <a:latin typeface="Helvetica Neue"/>
              </a:rPr>
              <a:t>Hevner, A. et al. (2004). </a:t>
            </a:r>
            <a:r>
              <a:rPr b="0" i="0" dirty="0">
                <a:solidFill>
                  <a:srgbClr val="222222"/>
                </a:solidFill>
                <a:latin typeface="Helvetica Neue"/>
                <a:hlinkClick r:id="rId7"/>
              </a:rPr>
              <a:t>"Design Science in Information Systems Research."</a:t>
            </a:r>
            <a:r>
              <a:rPr b="0" i="0" dirty="0">
                <a:solidFill>
                  <a:srgbClr val="222222"/>
                </a:solidFill>
                <a:latin typeface="Helvetica Neue"/>
              </a:rPr>
              <a:t> </a:t>
            </a:r>
            <a:r>
              <a:rPr b="0" i="1" dirty="0">
                <a:solidFill>
                  <a:srgbClr val="222222"/>
                </a:solidFill>
                <a:latin typeface="Helvetica Neue"/>
              </a:rPr>
              <a:t>MIS Quarterly</a:t>
            </a:r>
            <a:r>
              <a:rPr b="0" i="0" dirty="0">
                <a:solidFill>
                  <a:srgbClr val="222222"/>
                </a:solidFill>
                <a:latin typeface="Helvetica Neue"/>
              </a:rPr>
              <a:t>, 28(1), 75–105.</a:t>
            </a:r>
          </a:p>
          <a:p>
            <a:pPr marL="285750" indent="-285750" algn="l">
              <a:buFont typeface="Arial" panose="020B0604020202020204" pitchFamily="34" charset="0"/>
              <a:buChar char="•"/>
            </a:pPr>
            <a:r>
              <a:rPr b="0" i="0" dirty="0">
                <a:solidFill>
                  <a:srgbClr val="222222"/>
                </a:solidFill>
                <a:latin typeface="Helvetica Neue"/>
              </a:rPr>
              <a:t>Lazar, J., Feng, J. H. &amp; Hochheiser, H. (2017). </a:t>
            </a:r>
            <a:r>
              <a:rPr b="0" i="0" dirty="0">
                <a:solidFill>
                  <a:srgbClr val="222222"/>
                </a:solidFill>
                <a:latin typeface="Helvetica Neue"/>
                <a:hlinkClick r:id="rId8"/>
              </a:rPr>
              <a:t>*Research Methods in Human-Computer Interaction*</a:t>
            </a:r>
            <a:r>
              <a:rPr b="0" i="0" dirty="0">
                <a:solidFill>
                  <a:srgbClr val="222222"/>
                </a:solidFill>
                <a:latin typeface="Helvetica Neue"/>
              </a:rPr>
              <a:t>, 2nd ed. Morgan Kaufmann.</a:t>
            </a:r>
          </a:p>
          <a:p>
            <a:pPr marL="285750" indent="-285750" algn="l">
              <a:buFont typeface="Arial" panose="020B0604020202020204" pitchFamily="34" charset="0"/>
              <a:buChar char="•"/>
            </a:pPr>
            <a:r>
              <a:rPr b="0" i="0" dirty="0">
                <a:solidFill>
                  <a:srgbClr val="222222"/>
                </a:solidFill>
                <a:latin typeface="Helvetica Neue"/>
              </a:rPr>
              <a:t>Brooke, J. (1996). "SUS: A 'Quick and Dirty' Usability Scale." In Jordan et al. (eds.), </a:t>
            </a:r>
            <a:r>
              <a:rPr b="0" i="1" dirty="0">
                <a:solidFill>
                  <a:srgbClr val="222222"/>
                </a:solidFill>
                <a:latin typeface="Helvetica Neue"/>
              </a:rPr>
              <a:t>Usability Evaluation in Industry</a:t>
            </a:r>
            <a:r>
              <a:rPr b="0" i="0" dirty="0">
                <a:solidFill>
                  <a:srgbClr val="222222"/>
                </a:solidFill>
                <a:latin typeface="Helvetica Neue"/>
              </a:rPr>
              <a:t>. Taylor &amp; Francis, 189–194.</a:t>
            </a:r>
          </a:p>
          <a:p>
            <a:pPr marL="285750" indent="-285750" algn="l">
              <a:buFont typeface="Arial" panose="020B0604020202020204" pitchFamily="34" charset="0"/>
              <a:buChar char="•"/>
            </a:pPr>
            <a:r>
              <a:rPr b="0" i="0" dirty="0">
                <a:solidFill>
                  <a:srgbClr val="222222"/>
                </a:solidFill>
                <a:latin typeface="Helvetica Neue"/>
                <a:hlinkClick r:id="rId9"/>
              </a:rPr>
              <a:t>CCI Taught Course Ethics Procedures</a:t>
            </a:r>
          </a:p>
          <a:p>
            <a:pPr marL="285750" indent="-285750" algn="l">
              <a:buFont typeface="Arial" panose="020B0604020202020204" pitchFamily="34" charset="0"/>
              <a:buChar char="•"/>
            </a:pPr>
            <a:r>
              <a:rPr b="0" i="0" dirty="0">
                <a:solidFill>
                  <a:srgbClr val="222222"/>
                </a:solidFill>
                <a:latin typeface="Helvetica Neue"/>
                <a:hlinkClick r:id="rId10"/>
              </a:rPr>
              <a:t>UAL Research Ethics Policy</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Questions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What method are you leaning towards?</a:t>
            </a:r>
          </a:p>
          <a:p>
            <a:pPr algn="l">
              <a:buNone/>
            </a:pPr>
            <a:r>
              <a:rPr sz="2000" b="0" i="0">
                <a:solidFill>
                  <a:srgbClr val="222222"/>
                </a:solidFill>
                <a:latin typeface="Helvetica Neue"/>
              </a:rPr>
              <a:t>What's stopping you from starting?</a:t>
            </a:r>
          </a:p>
          <a:p>
            <a:pPr algn="l">
              <a:buNone/>
            </a:pPr>
            <a:r>
              <a:rPr sz="2000" b="0" i="0">
                <a:solidFill>
                  <a:srgbClr val="222222"/>
                </a:solidFill>
                <a:latin typeface="Helvetica Neue"/>
              </a:rPr>
              <a:t>Does your project involve participants — and have you started the ethics process?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4438</Words>
  <Application>Microsoft Macintosh PowerPoint</Application>
  <PresentationFormat>Widescreen</PresentationFormat>
  <Paragraphs>272</Paragraphs>
  <Slides>22</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Mick Grierson</cp:lastModifiedBy>
  <cp:revision>5</cp:revision>
  <dcterms:created xsi:type="dcterms:W3CDTF">2013-01-27T09:14:16Z</dcterms:created>
  <dcterms:modified xsi:type="dcterms:W3CDTF">2026-05-06T11:11:10Z</dcterms:modified>
  <cp:category/>
</cp:coreProperties>
</file>