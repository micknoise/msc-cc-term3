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This lecture combines two closely related topics from the schedule: reflection as a research method, and what to document and why. They're a pair because reflection without documentation is invisible, and documentation without reflection is just a log. Together they're the mechanism by which your making becomes legible as research. We're now past the halfway point — students should have a question, a gap, and a method. This week is about how they capture what happens when they start 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These are not afterthoughts. They are core research activities. If you don't reflect, you don't learn from your own process. If you don't document, nobody else can learn from it either. The strongest practice-based submissions are the ones where the maker clearly paid attention to what was happening while they were working, and captured it in a form that others can engage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Connect back to Borgdorff (Lecture 2): the artefact carries epistemic content that isn't fully reducible to propositions. Your job is not to drain the artefact of all its knowledge and pour it into text. Your job is to articulate what you can, and to present the artefact alongside the text so that the reader/examiner can encounter both. Reflection is how you figure out what you *can* articulate.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Schön's framework comes from studying architects, engineers, and other professionals — people who think through making. It maps directly onto what creative computing students do. The problem is that reflection-in-action is often invisible even to the person doing it. You adjust a parameter because it "feels right" — but there's knowledge in that judgement. Reflection-on-action is where you try to unpack what "feels right" actually meant. Both matter, but you need habits and tools to capture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Read both versions aloud. The difference is stark. The first tells you what happened; the second tells you what it *meant*. The reflection identifies a surprise, interprets it, and connects it to the research question. That's the move students need to learn. Not every log entry will contain a revelation like this — but if you're not writing entries detailed enough to *allow* for one, you'll miss the revelations when they 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These four questions are a simplified version of Kolb's experiential learning cycle filtered through Schön. Students don't need to cite Kolb — they need to ask the questions. Suggest they keep these four questions taped to their monitor or written at the top of their log. Not every session will produce meaningful answers to all four, but the habit of asking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"future self" argument is the one that lands most immediately with students. Anyone who's ever returned to an old project and found they can't remember why the code is structured the way it is knows this pain. Research documentation is just good engineering practice taken seriously. The examiner argument is the one that matters most for assessment. The field argument is the one that matters most for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Walk through each layer with a concrete example. Layer 1: "here's the system running." Layer 2: "here's the README with architecture details and how to run the code." Layer 3: "here's my process log showing that I tried three different loss functions before settling on this one." Layer 4: "here's my reflective note explaining that the spectral loss produced more musically interesting results than the waveform loss, which surprised me because the literature favours waveform loss for perceptual quality." Layer 5: "here's my argument that this reveals a tension between perceptual fidelity and aesthetic interest in neural audio synthesis." Each layer builds on the ones below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practical detail matters here. Students know they "should" document, but they don't know what that looks like day to day. Be specific: "after every significant working session, spend 10 minutes writing in your log." On commit messages: a message that says "fixed stuff" is useless as process documentation. A message that says "replaced MSE loss with multi-resolution STFT loss — MSE was producing smooth but lifeless outputs" is a reflective note embedded in your version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annotated portfolio is especially powerful for creative computing because so much of the work is iterative — students produce many versions, prototypes, and experiments on the way to a final system. Without annotation, these are just a pile of files. With annotation, they become evidence of a research process. Gaver &amp; Bowers originally published this in Interactions (ACM) and it's been widely adopted in design research and HCI. It's a legitimate, citable method.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Walk through this slowly. The trajectory is the key — it's not three disconnected experiments, it's a directed path where each iteration was informed by what the previous one revealed. That's the iterative cyclic web made visible through documentation. The annotations are doing the reflective work: they don't just say what was built, they say what was *learned*. The final annotation connects the making back to existing literature — that's layer 5 (critical framing) entering the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Students are often reluctant to include failures because they think it makes them look incompetent. The opposite is true. A project with no documented failures looks like the student got lucky on the first try — or, more likely, that they didn't try anything ambitious enough to fail. Failure is where the interesting learning happens. Document it. Explain it. Show how it shaped what came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concentric rings model is practical. Students don't need to write beautifully in their process log — they need to write *enough* that they can later extract the good bits. The middle ring is where the curation happens: you select the moments, artefacts, and reflections that support your research argument. The outer ring is about generosity to the field — if your code is on GitHub with a decent README, you've made a contribution even if nobody reads your thesis.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Emphasise the "15 minutes per session" point. Students imagine documentation as a separate, enormous task. It isn't — it's a small habit embedded in the working process. The alternative is trying to reconstruct six months of work from memory in the final two weeks. Nobody writes a good reflective account retrospectively. You write it as you go, and then you edit it into shape.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This is the conceptual integration point of the lecture: documentation operationalises the iterative cyclic web. It's not a separate activity bolted onto research — it *is* how research gets recorded. The trace of the cycle is the evidence base from which the final written submission is constructed. Without it, the writing becomes speculation about what you think happened, rather than analysis of what actually did.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This timeline is realistic for a taught MSc. The important thing is that documentation is distributed across the whole project, not crammed into the end. Students who log as they go will find the final writing much easier — they're editing and curating existing material, not generating it from scratch. Students who don't log will spend their last two weeks trying to remember what they did in week 4. Don't be that person.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last point is worth emphasising. Students sometimes confuse reflection with introspection. Emotional responses can be starting points — frustration, delight, surprise are all signals that something worth examining has happened. But the reflection is the examination, not the emotion. "I was surprised" opens a door; the reflection walks through it and reports what's on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This is the in-class exercise. Keep it to 10 minutes of writing, then 5 minutes hearing 2–3 examples. The point is to experience how quickly reflection becomes productive once you have a structure. Students who say "nothing surprised me" are either not looking carefully enough or working on something too safe. Push gently: "really? Nothing went differently from what you expected?" Surprise is everywhere if you're paying attention.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Helvetica Neue"/>
              </a:rPr>
              <a:t>The homework is deliberately lightweight: just start the habit. The exercise they just did proves they can write a reflective note in 10 minutes. Now do it after every session. By next week they'll have 2–3 entries, and by the end of the module they'll have enough material to draw on for their final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rts.ac.uk/colleges/creative-computing-institute" TargetMode="Externa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cknoise.github.io/MSc-CC-Term3/audiences.html" TargetMode="Externa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cknoise.github.io/MSc-CC-Term3/five-layers.html" TargetMode="Externa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l.acm.org/doi/10.1145/2317956.2318036" TargetMode="External"/><Relationship Id="rId3" Type="http://schemas.openxmlformats.org/officeDocument/2006/relationships/hyperlink" Target="https://edinburghuniversitypress.com/book-practice-led-research-research-led-practice-in-the-creative-arts.html" TargetMode="External"/><Relationship Id="rId4" Type="http://schemas.openxmlformats.org/officeDocument/2006/relationships/hyperlink" Target="https://www.routledge.com/The-Routledge-Companion-to-Research-in-the-Arts/Biggs-Karlsson/p/book/9780415697941" TargetMode="External"/><Relationship Id="rId5" Type="http://schemas.openxmlformats.org/officeDocument/2006/relationships/hyperlink" Target="https://link.springer.com/book/10.1057/9781137282910" TargetMode="External"/><Relationship Id="rId6" Type="http://schemas.openxmlformats.org/officeDocument/2006/relationships/hyperlink" Target="https://doi.org/10.1023/A:101381961210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800" b="1" i="0">
                <a:solidFill>
                  <a:srgbClr val="1A1A2E"/>
                </a:solidFill>
                <a:latin typeface="Helvetica Neue"/>
              </a:rPr>
              <a:t>MSc Creative Computing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 MSc Creative Computing</a:t>
            </a:r>
          </a:p>
          <a:p>
            <a:pPr algn="l">
              <a:buNone/>
            </a:pPr>
            <a:r>
              <a:rPr sz="2200" b="1" i="0">
                <a:solidFill>
                  <a:srgbClr val="1A1A2E"/>
                </a:solidFill>
                <a:latin typeface="Helvetica Neue"/>
              </a:rPr>
              <a:t>Practice as Research — Lecture 5</a:t>
            </a:r>
          </a:p>
          <a:p>
            <a:pPr algn="l">
              <a:buNone/>
            </a:pPr>
            <a:r>
              <a:rPr sz="2100" b="1" i="0">
                <a:solidFill>
                  <a:srgbClr val="1A1A2E"/>
                </a:solidFill>
                <a:latin typeface="Helvetica Neue"/>
              </a:rPr>
              <a:t>Reflection and documentation — turning process into evidence</a:t>
            </a:r>
          </a:p>
          <a:p>
            <a:pPr>
              <a:buNone/>
            </a:pPr>
            <a:r>
              <a:rPr sz="400"/>
              <a:t/>
            </a:r>
          </a:p>
          <a:p>
            <a:pPr algn="l">
              <a:buNone/>
            </a:pPr>
            <a:r>
              <a:rPr sz="2000" b="0" i="0">
                <a:solidFill>
                  <a:srgbClr val="222222"/>
                </a:solidFill>
                <a:latin typeface="Helvetica Neue"/>
              </a:rPr>
              <a:t>Mick Grierson — Creative Computing Institute, UAL</a:t>
            </a:r>
          </a:p>
          <a:p>
            <a:pPr>
              <a:buNone/>
            </a:pPr>
            <a:r>
              <a:rPr sz="400"/>
              <a:t/>
            </a:r>
          </a:p>
          <a:p>
            <a:pPr algn="l">
              <a:buNone/>
            </a:pPr>
            <a:r>
              <a:rPr sz="2000" b="0" i="1">
                <a:solidFill>
                  <a:srgbClr val="222222"/>
                </a:solidFill>
                <a:latin typeface="Helvetica Neue"/>
              </a:rPr>
              <a:t>Black text on white. ~20 slides. Speaker notes under each.</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Title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1" i="0">
                <a:solidFill>
                  <a:srgbClr val="222222"/>
                </a:solidFill>
                <a:latin typeface="Helvetica Neue"/>
              </a:rPr>
              <a:t>Reflection and Documentation — Turning Process into Evidence</a:t>
            </a:r>
          </a:p>
          <a:p>
            <a:pPr algn="l">
              <a:buNone/>
            </a:pPr>
            <a:r>
              <a:rPr sz="2000" b="0" i="0">
                <a:solidFill>
                  <a:srgbClr val="222222"/>
                </a:solidFill>
                <a:latin typeface="Helvetica Neue"/>
              </a:rPr>
              <a:t>Lecture 5 of 8 — Practice as Research</a:t>
            </a:r>
          </a:p>
          <a:p>
            <a:pPr>
              <a:buNone/>
            </a:pPr>
            <a:r>
              <a:rPr sz="400"/>
              <a:t/>
            </a:r>
          </a:p>
          <a:p>
            <a:pPr algn="l">
              <a:buNone/>
            </a:pPr>
            <a:r>
              <a:rPr sz="2000" b="0" i="0">
                <a:solidFill>
                  <a:srgbClr val="222222"/>
                </a:solidFill>
                <a:latin typeface="Helvetica Neue"/>
              </a:rPr>
              <a:t>Mick Grierson, </a:t>
            </a:r>
            <a:r>
              <a:rPr sz="2000" b="0" i="0">
                <a:solidFill>
                  <a:srgbClr val="222222"/>
                </a:solidFill>
                <a:latin typeface="Helvetica Neue"/>
                <a:hlinkClick r:id="rId2"/>
              </a:rPr>
              <a:t>Creative Computing Institute</a:t>
            </a:r>
            <a:r>
              <a:rPr sz="2000" b="0" i="0">
                <a:solidFill>
                  <a:srgbClr val="222222"/>
                </a:solidFill>
                <a:latin typeface="Helvetica Neue"/>
              </a:rPr>
              <a:t>, UAL</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Recap: where we are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Week 1: Research = edge + hypothesis + test.</a:t>
            </a:r>
          </a:p>
          <a:p>
            <a:pPr algn="l">
              <a:buNone/>
            </a:pPr>
            <a:r>
              <a:rPr sz="1800" b="0" i="0">
                <a:solidFill>
                  <a:srgbClr val="222222"/>
                </a:solidFill>
                <a:latin typeface="Helvetica Neue"/>
              </a:rPr>
              <a:t>Week 2: Practice produces knowledge — including tacit and experiential knowledge.</a:t>
            </a:r>
          </a:p>
          <a:p>
            <a:pPr algn="l">
              <a:buNone/>
            </a:pPr>
            <a:r>
              <a:rPr sz="1800" b="0" i="0">
                <a:solidFill>
                  <a:srgbClr val="222222"/>
                </a:solidFill>
                <a:latin typeface="Helvetica Neue"/>
              </a:rPr>
              <a:t>Week 3: Finding the gap.</a:t>
            </a:r>
          </a:p>
          <a:p>
            <a:pPr algn="l">
              <a:buNone/>
            </a:pPr>
            <a:r>
              <a:rPr sz="1800" b="0" i="0">
                <a:solidFill>
                  <a:srgbClr val="222222"/>
                </a:solidFill>
                <a:latin typeface="Helvetica Neue"/>
              </a:rPr>
              <a:t>Week 4: Choosing and designing methods.</a:t>
            </a:r>
          </a:p>
          <a:p>
            <a:pPr>
              <a:buNone/>
            </a:pPr>
            <a:r>
              <a:rPr sz="400"/>
              <a:t/>
            </a:r>
          </a:p>
          <a:p>
            <a:pPr algn="l">
              <a:buNone/>
            </a:pPr>
            <a:r>
              <a:rPr sz="1800" b="0" i="0">
                <a:solidFill>
                  <a:srgbClr val="222222"/>
                </a:solidFill>
                <a:latin typeface="Helvetica Neue"/>
              </a:rPr>
              <a:t>Today: </a:t>
            </a:r>
            <a:r>
              <a:rPr sz="1800" b="1" i="0">
                <a:solidFill>
                  <a:srgbClr val="222222"/>
                </a:solidFill>
                <a:latin typeface="Helvetica Neue"/>
              </a:rPr>
              <a:t>How do you capture what you learn through making — and turn it into research evidence?</a:t>
            </a:r>
          </a:p>
          <a:p>
            <a:pPr>
              <a:buNone/>
            </a:pPr>
            <a:r>
              <a:rPr sz="400"/>
              <a:t/>
            </a:r>
          </a:p>
          <a:p>
            <a:pPr algn="l">
              <a:buNone/>
            </a:pPr>
            <a:r>
              <a:rPr sz="1800" b="0" i="0">
                <a:solidFill>
                  <a:srgbClr val="222222"/>
                </a:solidFill>
                <a:latin typeface="Helvetica Neue"/>
              </a:rPr>
              <a:t>Two connected problems:</a:t>
            </a:r>
          </a:p>
          <a:p>
            <a:pPr>
              <a:buNone/>
            </a:pPr>
            <a:r>
              <a:rPr sz="400"/>
              <a:t/>
            </a:r>
          </a:p>
          <a:p>
            <a:pPr algn="l" marL="342900">
              <a:buNone/>
            </a:pPr>
            <a:r>
              <a:rPr sz="1800" b="0" i="0">
                <a:solidFill>
                  <a:srgbClr val="222222"/>
                </a:solidFill>
                <a:latin typeface="Helvetica Neue"/>
              </a:rPr>
              <a:t>1.  </a:t>
            </a:r>
            <a:r>
              <a:rPr sz="1800" b="1" i="0">
                <a:solidFill>
                  <a:srgbClr val="222222"/>
                </a:solidFill>
                <a:latin typeface="Helvetica Neue"/>
              </a:rPr>
              <a:t>Reflection</a:t>
            </a:r>
            <a:r>
              <a:rPr sz="1800" b="0" i="0">
                <a:solidFill>
                  <a:srgbClr val="222222"/>
                </a:solidFill>
                <a:latin typeface="Helvetica Neue"/>
              </a:rPr>
              <a:t> — how do you notice and analyse what's happening in your own practice?</a:t>
            </a:r>
          </a:p>
          <a:p>
            <a:pPr algn="l" marL="342900">
              <a:buNone/>
            </a:pPr>
            <a:r>
              <a:rPr sz="1800" b="0" i="0">
                <a:solidFill>
                  <a:srgbClr val="222222"/>
                </a:solidFill>
                <a:latin typeface="Helvetica Neue"/>
              </a:rPr>
              <a:t>2.  </a:t>
            </a:r>
            <a:r>
              <a:rPr sz="1800" b="1" i="0">
                <a:solidFill>
                  <a:srgbClr val="222222"/>
                </a:solidFill>
                <a:latin typeface="Helvetica Neue"/>
              </a:rPr>
              <a:t>Documentation</a:t>
            </a:r>
            <a:r>
              <a:rPr sz="1800" b="0" i="0">
                <a:solidFill>
                  <a:srgbClr val="222222"/>
                </a:solidFill>
                <a:latin typeface="Helvetica Neue"/>
              </a:rPr>
              <a:t> — how do you record it so that it becomes communicable to others?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Why reflection matters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In Lecture 2 we said practice produces </a:t>
            </a:r>
            <a:r>
              <a:rPr sz="2000" b="1" i="0">
                <a:solidFill>
                  <a:srgbClr val="222222"/>
                </a:solidFill>
                <a:latin typeface="Helvetica Neue"/>
              </a:rPr>
              <a:t>tacit</a:t>
            </a:r>
            <a:r>
              <a:rPr sz="2000" b="0" i="0">
                <a:solidFill>
                  <a:srgbClr val="222222"/>
                </a:solidFill>
                <a:latin typeface="Helvetica Neue"/>
              </a:rPr>
              <a:t> and </a:t>
            </a:r>
            <a:r>
              <a:rPr sz="2000" b="1" i="0">
                <a:solidFill>
                  <a:srgbClr val="222222"/>
                </a:solidFill>
                <a:latin typeface="Helvetica Neue"/>
              </a:rPr>
              <a:t>experiential</a:t>
            </a:r>
            <a:r>
              <a:rPr sz="2000" b="0" i="0">
                <a:solidFill>
                  <a:srgbClr val="222222"/>
                </a:solidFill>
                <a:latin typeface="Helvetica Neue"/>
              </a:rPr>
              <a:t> knowledge — knowledge that resists full verbalisation.</a:t>
            </a:r>
          </a:p>
          <a:p>
            <a:pPr>
              <a:buNone/>
            </a:pPr>
            <a:r>
              <a:rPr sz="400"/>
              <a:t/>
            </a:r>
          </a:p>
          <a:p>
            <a:pPr algn="l">
              <a:buNone/>
            </a:pPr>
            <a:r>
              <a:rPr sz="2000" b="0" i="0">
                <a:solidFill>
                  <a:srgbClr val="222222"/>
                </a:solidFill>
                <a:latin typeface="Helvetica Neue"/>
              </a:rPr>
              <a:t>The problem: if it resists verbalisation, how do you include it in a research submission?</a:t>
            </a:r>
          </a:p>
          <a:p>
            <a:pPr>
              <a:buNone/>
            </a:pPr>
            <a:r>
              <a:rPr sz="400"/>
              <a:t/>
            </a:r>
          </a:p>
          <a:p>
            <a:pPr algn="l">
              <a:buNone/>
            </a:pPr>
            <a:r>
              <a:rPr sz="2000" b="0" i="0">
                <a:solidFill>
                  <a:srgbClr val="222222"/>
                </a:solidFill>
                <a:latin typeface="Helvetica Neue"/>
              </a:rPr>
              <a:t>The answer is not "make it fully propositional." Some knowledge will remain partially tacit — and that's fine. The answer is: </a:t>
            </a:r>
            <a:r>
              <a:rPr sz="2000" b="1" i="0">
                <a:solidFill>
                  <a:srgbClr val="222222"/>
                </a:solidFill>
                <a:latin typeface="Helvetica Neue"/>
              </a:rPr>
              <a:t>reflect on your practice carefully enough that you can articulate as much as possible, and point to the artefact for the rest.</a:t>
            </a:r>
          </a:p>
          <a:p>
            <a:pPr>
              <a:buNone/>
            </a:pPr>
            <a:r>
              <a:rPr sz="400"/>
              <a:t/>
            </a:r>
          </a:p>
          <a:p>
            <a:pPr algn="l">
              <a:buNone/>
            </a:pPr>
            <a:r>
              <a:rPr sz="2000" b="0" i="0">
                <a:solidFill>
                  <a:srgbClr val="222222"/>
                </a:solidFill>
                <a:latin typeface="Helvetica Neue"/>
              </a:rPr>
              <a:t>Reflection is the bridge between doing and knowing. It is what turns "I made a thing" into "here is what making the thing revealed."</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Schön: the reflective practitioner</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Donald Schön (1983) identified two modes of reflection that professionals use:</a:t>
            </a:r>
          </a:p>
          <a:p>
            <a:pPr>
              <a:buNone/>
            </a:pPr>
            <a:r>
              <a:rPr sz="400"/>
              <a:t/>
            </a:r>
          </a:p>
          <a:p>
            <a:pPr algn="l">
              <a:buNone/>
            </a:pPr>
            <a:r>
              <a:rPr sz="2000" b="1" i="0">
                <a:solidFill>
                  <a:srgbClr val="222222"/>
                </a:solidFill>
                <a:latin typeface="Helvetica Neue"/>
              </a:rPr>
              <a:t>Reflection-in-action</a:t>
            </a:r>
            <a:r>
              <a:rPr sz="2000" b="0" i="0">
                <a:solidFill>
                  <a:srgbClr val="222222"/>
                </a:solidFill>
                <a:latin typeface="Helvetica Neue"/>
              </a:rPr>
              <a:t> — thinking </a:t>
            </a:r>
            <a:r>
              <a:rPr sz="2000" b="0" i="1">
                <a:solidFill>
                  <a:srgbClr val="222222"/>
                </a:solidFill>
                <a:latin typeface="Helvetica Neue"/>
              </a:rPr>
              <a:t>while</a:t>
            </a:r>
            <a:r>
              <a:rPr sz="2000" b="0" i="0">
                <a:solidFill>
                  <a:srgbClr val="222222"/>
                </a:solidFill>
                <a:latin typeface="Helvetica Neue"/>
              </a:rPr>
              <a:t> you're doing. The moment you hear your generative system produce an unexpected timbre and you adjust the parameters in response — that's reflection-in-action. You're reading the situation and responding to it in real time.</a:t>
            </a:r>
          </a:p>
          <a:p>
            <a:pPr>
              <a:buNone/>
            </a:pPr>
            <a:r>
              <a:rPr sz="400"/>
              <a:t/>
            </a:r>
          </a:p>
          <a:p>
            <a:pPr algn="l">
              <a:buNone/>
            </a:pPr>
            <a:r>
              <a:rPr sz="2000" b="1" i="0">
                <a:solidFill>
                  <a:srgbClr val="222222"/>
                </a:solidFill>
                <a:latin typeface="Helvetica Neue"/>
              </a:rPr>
              <a:t>Reflection-on-action</a:t>
            </a:r>
            <a:r>
              <a:rPr sz="2000" b="0" i="0">
                <a:solidFill>
                  <a:srgbClr val="222222"/>
                </a:solidFill>
                <a:latin typeface="Helvetica Neue"/>
              </a:rPr>
              <a:t> — thinking </a:t>
            </a:r>
            <a:r>
              <a:rPr sz="2000" b="0" i="1">
                <a:solidFill>
                  <a:srgbClr val="222222"/>
                </a:solidFill>
                <a:latin typeface="Helvetica Neue"/>
              </a:rPr>
              <a:t>after</a:t>
            </a:r>
            <a:r>
              <a:rPr sz="2000" b="0" i="0">
                <a:solidFill>
                  <a:srgbClr val="222222"/>
                </a:solidFill>
                <a:latin typeface="Helvetica Neue"/>
              </a:rPr>
              <a:t> you've done something. You step back from the session, look at what happened, and ask: what worked, what didn't, what surprised me, what does this mean for the next iteration?</a:t>
            </a:r>
          </a:p>
          <a:p>
            <a:pPr>
              <a:buNone/>
            </a:pPr>
            <a:r>
              <a:rPr sz="400"/>
              <a:t/>
            </a:r>
          </a:p>
          <a:p>
            <a:pPr algn="l">
              <a:buNone/>
            </a:pPr>
            <a:r>
              <a:rPr sz="2000" b="0" i="0">
                <a:solidFill>
                  <a:srgbClr val="222222"/>
                </a:solidFill>
                <a:latin typeface="Helvetica Neue"/>
              </a:rPr>
              <a:t>Both are research activities, but only the second one reliably produces </a:t>
            </a:r>
            <a:r>
              <a:rPr sz="2000" b="0" i="1">
                <a:solidFill>
                  <a:srgbClr val="222222"/>
                </a:solidFill>
                <a:latin typeface="Helvetica Neue"/>
              </a:rPr>
              <a:t>records</a:t>
            </a:r>
            <a:r>
              <a:rPr sz="2000" b="0" i="0">
                <a:solidFill>
                  <a:srgbClr val="222222"/>
                </a:solidFill>
                <a:latin typeface="Helvetica Neue"/>
              </a:rPr>
              <a:t>. The challenge is capturing reflection-in-action before it fades — because in-the-moment insights are often the most valuable and the most perishable.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Reflection is not description</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There is a crucial difference between describing what you did and reflecting on it.</a:t>
            </a:r>
          </a:p>
          <a:p>
            <a:pPr>
              <a:buNone/>
            </a:pPr>
            <a:r>
              <a:rPr sz="400"/>
              <a:t/>
            </a:r>
          </a:p>
          <a:p>
            <a:pPr algn="l">
              <a:buNone/>
            </a:pPr>
            <a:r>
              <a:rPr sz="2000" b="1" i="0">
                <a:solidFill>
                  <a:srgbClr val="222222"/>
                </a:solidFill>
                <a:latin typeface="Helvetica Neue"/>
              </a:rPr>
              <a:t>Description:</a:t>
            </a:r>
            <a:r>
              <a:rPr sz="2000" b="0" i="0">
                <a:solidFill>
                  <a:srgbClr val="222222"/>
                </a:solidFill>
                <a:latin typeface="Helvetica Neue"/>
              </a:rPr>
              <a:t> "I trained the model for 200 epochs on the vocal dataset."</a:t>
            </a:r>
          </a:p>
          <a:p>
            <a:pPr>
              <a:buNone/>
            </a:pPr>
            <a:r>
              <a:rPr sz="400"/>
              <a:t/>
            </a:r>
          </a:p>
          <a:p>
            <a:pPr algn="l">
              <a:buNone/>
            </a:pPr>
            <a:r>
              <a:rPr sz="2000" b="1" i="0">
                <a:solidFill>
                  <a:srgbClr val="222222"/>
                </a:solidFill>
                <a:latin typeface="Helvetica Neue"/>
              </a:rPr>
              <a:t>Reflection:</a:t>
            </a:r>
            <a:r>
              <a:rPr sz="2000" b="0" i="0">
                <a:solidFill>
                  <a:srgbClr val="222222"/>
                </a:solidFill>
                <a:latin typeface="Helvetica Neue"/>
              </a:rPr>
              <a:t> "I trained the model for 200 epochs on the vocal dataset. At epoch 80, the outputs started producing recognisable vowel shapes but with metallic artefacts. I initially treated this as a training failure, but on listening more carefully I realised the artefacts had a timbral character that was musically interesting — closer to a processed vocal than a clean one. This changed my framing: instead of aiming for high-fidelity vocal reproduction, I began exploring what the model's 'errors' offered as a distinct sonic palette. The gap in my project shifted from 'can neural networks reproduce voice?' to 'what happens when they fail to, and is that failure aesthetically productive?'"</a:t>
            </a:r>
          </a:p>
          <a:p>
            <a:pPr>
              <a:buNone/>
            </a:pPr>
            <a:r>
              <a:rPr sz="400"/>
              <a:t/>
            </a:r>
          </a:p>
          <a:p>
            <a:pPr algn="l">
              <a:buNone/>
            </a:pPr>
            <a:r>
              <a:rPr sz="2000" b="0" i="0">
                <a:solidFill>
                  <a:srgbClr val="222222"/>
                </a:solidFill>
                <a:latin typeface="Helvetica Neue"/>
              </a:rPr>
              <a:t>The first is a log entry. The second is a research insight.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 framework for reflective notes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When you sit down to reflect on a session of making, ask yourself four questions:</a:t>
            </a:r>
          </a:p>
          <a:p>
            <a:pPr>
              <a:buNone/>
            </a:pPr>
            <a:r>
              <a:rPr sz="400"/>
              <a:t/>
            </a:r>
          </a:p>
          <a:p>
            <a:pPr algn="l">
              <a:buNone/>
            </a:pPr>
            <a:r>
              <a:rPr sz="2000" b="1" i="0">
                <a:solidFill>
                  <a:srgbClr val="222222"/>
                </a:solidFill>
                <a:latin typeface="Helvetica Neue"/>
              </a:rPr>
              <a:t>What happened?</a:t>
            </a:r>
            <a:r>
              <a:rPr sz="2000" b="0" i="0">
                <a:solidFill>
                  <a:srgbClr val="222222"/>
                </a:solidFill>
                <a:latin typeface="Helvetica Neue"/>
              </a:rPr>
              <a:t> — Describe the activity. What did you do, build, test, change?</a:t>
            </a:r>
          </a:p>
          <a:p>
            <a:pPr>
              <a:buNone/>
            </a:pPr>
            <a:r>
              <a:rPr sz="400"/>
              <a:t/>
            </a:r>
          </a:p>
          <a:p>
            <a:pPr algn="l">
              <a:buNone/>
            </a:pPr>
            <a:r>
              <a:rPr sz="2000" b="1" i="0">
                <a:solidFill>
                  <a:srgbClr val="222222"/>
                </a:solidFill>
                <a:latin typeface="Helvetica Neue"/>
              </a:rPr>
              <a:t>What surprised you?</a:t>
            </a:r>
            <a:r>
              <a:rPr sz="2000" b="0" i="0">
                <a:solidFill>
                  <a:srgbClr val="222222"/>
                </a:solidFill>
                <a:latin typeface="Helvetica Neue"/>
              </a:rPr>
              <a:t> — Surprises are where learning lives. Expected outcomes confirm what you already knew. Unexpected outcomes teach you something new.</a:t>
            </a:r>
          </a:p>
          <a:p>
            <a:pPr>
              <a:buNone/>
            </a:pPr>
            <a:r>
              <a:rPr sz="400"/>
              <a:t/>
            </a:r>
          </a:p>
          <a:p>
            <a:pPr algn="l">
              <a:buNone/>
            </a:pPr>
            <a:r>
              <a:rPr sz="2000" b="1" i="0">
                <a:solidFill>
                  <a:srgbClr val="222222"/>
                </a:solidFill>
                <a:latin typeface="Helvetica Neue"/>
              </a:rPr>
              <a:t>What does it mean?</a:t>
            </a:r>
            <a:r>
              <a:rPr sz="2000" b="0" i="0">
                <a:solidFill>
                  <a:srgbClr val="222222"/>
                </a:solidFill>
                <a:latin typeface="Helvetica Neue"/>
              </a:rPr>
              <a:t> — Interpret the surprise. Why did it happen? What does it reveal about your system, your assumptions, your question?</a:t>
            </a:r>
          </a:p>
          <a:p>
            <a:pPr>
              <a:buNone/>
            </a:pPr>
            <a:r>
              <a:rPr sz="400"/>
              <a:t/>
            </a:r>
          </a:p>
          <a:p>
            <a:pPr algn="l">
              <a:buNone/>
            </a:pPr>
            <a:r>
              <a:rPr sz="2000" b="1" i="0">
                <a:solidFill>
                  <a:srgbClr val="222222"/>
                </a:solidFill>
                <a:latin typeface="Helvetica Neue"/>
              </a:rPr>
              <a:t>What changes?</a:t>
            </a:r>
            <a:r>
              <a:rPr sz="2000" b="0" i="0">
                <a:solidFill>
                  <a:srgbClr val="222222"/>
                </a:solidFill>
                <a:latin typeface="Helvetica Neue"/>
              </a:rPr>
              <a:t> — How does this affect what you do next? Does it refine your question? Alter your method? Open a new direction?</a:t>
            </a:r>
          </a:p>
          <a:p>
            <a:pPr>
              <a:buNone/>
            </a:pPr>
            <a:r>
              <a:rPr sz="400"/>
              <a:t/>
            </a:r>
          </a:p>
          <a:p>
            <a:pPr algn="l">
              <a:buNone/>
            </a:pPr>
            <a:r>
              <a:rPr sz="2000" b="0" i="0">
                <a:solidFill>
                  <a:srgbClr val="222222"/>
                </a:solidFill>
                <a:latin typeface="Helvetica Neue"/>
              </a:rPr>
              <a:t>This cycle — do, notice, interpret, adjust — is the iterative cyclic web from Lecture 2, operating at the scale of a single work session.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Why documentation matters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Documentation serves three audiences:</a:t>
            </a:r>
          </a:p>
          <a:p>
            <a:pPr>
              <a:buNone/>
            </a:pPr>
            <a:r>
              <a:rPr sz="400"/>
              <a:t/>
            </a:r>
          </a:p>
          <a:p>
            <a:pPr algn="l">
              <a:buNone/>
            </a:pPr>
            <a:r>
              <a:rPr sz="2000" b="1" i="0">
                <a:solidFill>
                  <a:srgbClr val="222222"/>
                </a:solidFill>
                <a:latin typeface="Helvetica Neue"/>
              </a:rPr>
              <a:t>Your future self</a:t>
            </a:r>
            <a:r>
              <a:rPr sz="2000" b="0" i="0">
                <a:solidFill>
                  <a:srgbClr val="222222"/>
                </a:solidFill>
                <a:latin typeface="Helvetica Neue"/>
              </a:rPr>
              <a:t> — in three months you will not remember why you made that design decision, what that parameter value was, or what the output sounded like before you changed the architecture. Your log is your memory.</a:t>
            </a:r>
          </a:p>
          <a:p>
            <a:pPr>
              <a:buNone/>
            </a:pPr>
            <a:r>
              <a:rPr sz="400"/>
              <a:t/>
            </a:r>
          </a:p>
          <a:p>
            <a:pPr algn="l">
              <a:buNone/>
            </a:pPr>
            <a:r>
              <a:rPr sz="2000" b="1" i="0">
                <a:solidFill>
                  <a:srgbClr val="222222"/>
                </a:solidFill>
                <a:latin typeface="Helvetica Neue"/>
              </a:rPr>
              <a:t>Your examiner</a:t>
            </a:r>
            <a:r>
              <a:rPr sz="2000" b="0" i="0">
                <a:solidFill>
                  <a:srgbClr val="222222"/>
                </a:solidFill>
                <a:latin typeface="Helvetica Neue"/>
              </a:rPr>
              <a:t> — they weren't in the room. They didn't hear the output, see the failure, or feel the surprise. Your documentation is their only access to the parts of your research that the final artefact alone doesn't convey.</a:t>
            </a:r>
          </a:p>
          <a:p>
            <a:pPr>
              <a:buNone/>
            </a:pPr>
            <a:r>
              <a:rPr sz="400"/>
              <a:t/>
            </a:r>
          </a:p>
          <a:p>
            <a:pPr algn="l">
              <a:buNone/>
            </a:pPr>
            <a:r>
              <a:rPr sz="2000" b="1" i="0">
                <a:solidFill>
                  <a:srgbClr val="222222"/>
                </a:solidFill>
                <a:latin typeface="Helvetica Neue"/>
              </a:rPr>
              <a:t>The field</a:t>
            </a:r>
            <a:r>
              <a:rPr sz="2000" b="0" i="0">
                <a:solidFill>
                  <a:srgbClr val="222222"/>
                </a:solidFill>
                <a:latin typeface="Helvetica Neue"/>
              </a:rPr>
              <a:t> — if your work is good, other people will want to build on it. They need to know what you did, how you did it, and what you learned. Reproducibility and extendability depend on documentation.</a:t>
            </a:r>
          </a:p>
          <a:p>
            <a:pPr>
              <a:buNone/>
            </a:pPr>
            <a:r>
              <a:rPr sz="400"/>
              <a:t/>
            </a:r>
          </a:p>
          <a:p>
            <a:pPr algn="l">
              <a:buNone/>
            </a:pPr>
            <a:r>
              <a:rPr sz="2000" b="0" i="0">
                <a:solidFill>
                  <a:srgbClr val="222222"/>
                </a:solidFill>
                <a:latin typeface="Helvetica Neue"/>
                <a:hlinkClick r:id="rId2"/>
              </a:rPr>
              <a:t>"Audiences"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What to document: the five layers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Think of documentation as operating at five layers, from the most granular to the most interpretive:</a:t>
            </a:r>
          </a:p>
          <a:p>
            <a:pPr>
              <a:buNone/>
            </a:pPr>
            <a:r>
              <a:rPr sz="400"/>
              <a:t/>
            </a:r>
          </a:p>
          <a:p>
            <a:pPr algn="l">
              <a:buNone/>
            </a:pPr>
            <a:r>
              <a:rPr sz="1800" b="1" i="0">
                <a:solidFill>
                  <a:srgbClr val="222222"/>
                </a:solidFill>
                <a:latin typeface="Helvetica Neue"/>
              </a:rPr>
              <a:t>1. The artefact itself</a:t>
            </a:r>
            <a:r>
              <a:rPr sz="1800" b="0" i="0">
                <a:solidFill>
                  <a:srgbClr val="222222"/>
                </a:solidFill>
                <a:latin typeface="Helvetica Neue"/>
              </a:rPr>
              <a:t> — the system, the code, the outputs, the installation, the performance. This is the primary evidence.</a:t>
            </a:r>
          </a:p>
          <a:p>
            <a:pPr>
              <a:buNone/>
            </a:pPr>
            <a:r>
              <a:rPr sz="400"/>
              <a:t/>
            </a:r>
          </a:p>
          <a:p>
            <a:pPr algn="l">
              <a:buNone/>
            </a:pPr>
            <a:r>
              <a:rPr sz="1800" b="1" i="0">
                <a:solidFill>
                  <a:srgbClr val="222222"/>
                </a:solidFill>
                <a:latin typeface="Helvetica Neue"/>
              </a:rPr>
              <a:t>2. Technical specification</a:t>
            </a:r>
            <a:r>
              <a:rPr sz="1800" b="0" i="0">
                <a:solidFill>
                  <a:srgbClr val="222222"/>
                </a:solidFill>
                <a:latin typeface="Helvetica Neue"/>
              </a:rPr>
              <a:t> — architecture, dependencies, parameters, training data, hardware. Enough detail that someone could, in principle, reproduce or extend your work.</a:t>
            </a:r>
          </a:p>
          <a:p>
            <a:pPr>
              <a:buNone/>
            </a:pPr>
            <a:r>
              <a:rPr sz="400"/>
              <a:t/>
            </a:r>
          </a:p>
          <a:p>
            <a:pPr algn="l">
              <a:buNone/>
            </a:pPr>
            <a:r>
              <a:rPr sz="1800" b="1" i="0">
                <a:solidFill>
                  <a:srgbClr val="222222"/>
                </a:solidFill>
                <a:latin typeface="Helvetica Neue"/>
              </a:rPr>
              <a:t>3. Process record</a:t>
            </a:r>
            <a:r>
              <a:rPr sz="1800" b="0" i="0">
                <a:solidFill>
                  <a:srgbClr val="222222"/>
                </a:solidFill>
                <a:latin typeface="Helvetica Neue"/>
              </a:rPr>
              <a:t> — what you did, in what order, with what results. Dated, sequential, factual. This is your lab notebook.</a:t>
            </a:r>
          </a:p>
          <a:p>
            <a:pPr>
              <a:buNone/>
            </a:pPr>
            <a:r>
              <a:rPr sz="400"/>
              <a:t/>
            </a:r>
          </a:p>
          <a:p>
            <a:pPr algn="l">
              <a:buNone/>
            </a:pPr>
            <a:r>
              <a:rPr sz="1800" b="1" i="0">
                <a:solidFill>
                  <a:srgbClr val="222222"/>
                </a:solidFill>
                <a:latin typeface="Helvetica Neue"/>
              </a:rPr>
              <a:t>4. Reflective commentary</a:t>
            </a:r>
            <a:r>
              <a:rPr sz="1800" b="0" i="0">
                <a:solidFill>
                  <a:srgbClr val="222222"/>
                </a:solidFill>
                <a:latin typeface="Helvetica Neue"/>
              </a:rPr>
              <a:t> — the four-question framework from slide 6. What surprised you, what it meant, what changed. This is where tacit knowledge becomes partially explicit.</a:t>
            </a:r>
          </a:p>
          <a:p>
            <a:pPr>
              <a:buNone/>
            </a:pPr>
            <a:r>
              <a:rPr sz="400"/>
              <a:t/>
            </a:r>
          </a:p>
          <a:p>
            <a:pPr algn="l">
              <a:buNone/>
            </a:pPr>
            <a:r>
              <a:rPr sz="1800" b="1" i="0">
                <a:solidFill>
                  <a:srgbClr val="222222"/>
                </a:solidFill>
                <a:latin typeface="Helvetica Neue"/>
              </a:rPr>
              <a:t>5. Critical framing</a:t>
            </a:r>
            <a:r>
              <a:rPr sz="1800" b="0" i="0">
                <a:solidFill>
                  <a:srgbClr val="222222"/>
                </a:solidFill>
                <a:latin typeface="Helvetica Neue"/>
              </a:rPr>
              <a:t> — how the artefact and the process relate to the research question, the gap, and the field. This is the interpretive layer that turns documentation into argument.</a:t>
            </a:r>
          </a:p>
          <a:p>
            <a:pPr>
              <a:buNone/>
            </a:pPr>
            <a:r>
              <a:rPr sz="400"/>
              <a:t/>
            </a:r>
          </a:p>
          <a:p>
            <a:pPr algn="l">
              <a:buNone/>
            </a:pPr>
            <a:r>
              <a:rPr sz="1800" b="0" i="0">
                <a:solidFill>
                  <a:srgbClr val="222222"/>
                </a:solidFill>
                <a:latin typeface="Helvetica Neue"/>
              </a:rPr>
              <a:t>Layers 1–3 are </a:t>
            </a:r>
            <a:r>
              <a:rPr sz="1800" b="1" i="0">
                <a:solidFill>
                  <a:srgbClr val="222222"/>
                </a:solidFill>
                <a:latin typeface="Helvetica Neue"/>
              </a:rPr>
              <a:t>records</a:t>
            </a:r>
            <a:r>
              <a:rPr sz="1800" b="0" i="0">
                <a:solidFill>
                  <a:srgbClr val="222222"/>
                </a:solidFill>
                <a:latin typeface="Helvetica Neue"/>
              </a:rPr>
              <a:t>. Layer 4 is </a:t>
            </a:r>
            <a:r>
              <a:rPr sz="1800" b="1" i="0">
                <a:solidFill>
                  <a:srgbClr val="222222"/>
                </a:solidFill>
                <a:latin typeface="Helvetica Neue"/>
              </a:rPr>
              <a:t>reflection</a:t>
            </a:r>
            <a:r>
              <a:rPr sz="1800" b="0" i="0">
                <a:solidFill>
                  <a:srgbClr val="222222"/>
                </a:solidFill>
                <a:latin typeface="Helvetica Neue"/>
              </a:rPr>
              <a:t>. Layer 5 is </a:t>
            </a:r>
            <a:r>
              <a:rPr sz="1800" b="1" i="0">
                <a:solidFill>
                  <a:srgbClr val="222222"/>
                </a:solidFill>
                <a:latin typeface="Helvetica Neue"/>
              </a:rPr>
              <a:t>analysis</a:t>
            </a:r>
            <a:r>
              <a:rPr sz="1800" b="0" i="0">
                <a:solidFill>
                  <a:srgbClr val="222222"/>
                </a:solidFill>
                <a:latin typeface="Helvetica Neue"/>
              </a:rPr>
              <a:t>. You need all five, but they serve different purposes and often live in different places.</a:t>
            </a:r>
          </a:p>
          <a:p>
            <a:pPr>
              <a:buNone/>
            </a:pPr>
            <a:r>
              <a:rPr sz="400"/>
              <a:t/>
            </a:r>
          </a:p>
          <a:p>
            <a:pPr algn="l">
              <a:buNone/>
            </a:pPr>
            <a:r>
              <a:rPr sz="1800" b="0" i="0">
                <a:solidFill>
                  <a:srgbClr val="222222"/>
                </a:solidFill>
                <a:latin typeface="Helvetica Neue"/>
                <a:hlinkClick r:id="rId2"/>
              </a:rPr>
              <a:t>"Five Layers"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Where documentation lives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Different layers live in different places. Here's a practical breakdown:</a:t>
            </a:r>
          </a:p>
          <a:p>
            <a:pPr>
              <a:buNone/>
            </a:pPr>
            <a:r>
              <a:rPr sz="400"/>
              <a:t/>
            </a:r>
          </a:p>
          <a:p>
            <a:pPr algn="l">
              <a:buNone/>
            </a:pPr>
            <a:r>
              <a:rPr sz="1800" b="1" i="0">
                <a:solidFill>
                  <a:srgbClr val="222222"/>
                </a:solidFill>
                <a:latin typeface="Helvetica Neue"/>
              </a:rPr>
              <a:t>Code and system:</a:t>
            </a:r>
            <a:r>
              <a:rPr sz="1800" b="0" i="0">
                <a:solidFill>
                  <a:srgbClr val="222222"/>
                </a:solidFill>
                <a:latin typeface="Helvetica Neue"/>
              </a:rPr>
              <a:t> GitHub or GitLab. Use meaningful commit messages — they are process documentation for free. Tag significant versions. Write a proper README.</a:t>
            </a:r>
          </a:p>
          <a:p>
            <a:pPr>
              <a:buNone/>
            </a:pPr>
            <a:r>
              <a:rPr sz="400"/>
              <a:t/>
            </a:r>
          </a:p>
          <a:p>
            <a:pPr algn="l">
              <a:buNone/>
            </a:pPr>
            <a:r>
              <a:rPr sz="1800" b="1" i="0">
                <a:solidFill>
                  <a:srgbClr val="222222"/>
                </a:solidFill>
                <a:latin typeface="Helvetica Neue"/>
              </a:rPr>
              <a:t>Process log:</a:t>
            </a:r>
            <a:r>
              <a:rPr sz="1800" b="0" i="0">
                <a:solidFill>
                  <a:srgbClr val="222222"/>
                </a:solidFill>
                <a:latin typeface="Helvetica Neue"/>
              </a:rPr>
              <a:t> A regular document — Markdown, Notion, a physical notebook, whatever you'll actually use. Date every entry. Aim for at least one entry per working session.</a:t>
            </a:r>
          </a:p>
          <a:p>
            <a:pPr>
              <a:buNone/>
            </a:pPr>
            <a:r>
              <a:rPr sz="400"/>
              <a:t/>
            </a:r>
          </a:p>
          <a:p>
            <a:pPr algn="l">
              <a:buNone/>
            </a:pPr>
            <a:r>
              <a:rPr sz="1800" b="1" i="0">
                <a:solidFill>
                  <a:srgbClr val="222222"/>
                </a:solidFill>
                <a:latin typeface="Helvetica Neue"/>
              </a:rPr>
              <a:t>Audio/visual outputs:</a:t>
            </a:r>
            <a:r>
              <a:rPr sz="1800" b="0" i="0">
                <a:solidFill>
                  <a:srgbClr val="222222"/>
                </a:solidFill>
                <a:latin typeface="Helvetica Neue"/>
              </a:rPr>
              <a:t> Timestamped exports. Keep a folder structure that makes sense. Name files meaningfully — `output_2025-03-14_spectral-loss-v2.wav` not `test7_final_FINAL.wav`.</a:t>
            </a:r>
          </a:p>
          <a:p>
            <a:pPr>
              <a:buNone/>
            </a:pPr>
            <a:r>
              <a:rPr sz="400"/>
              <a:t/>
            </a:r>
          </a:p>
          <a:p>
            <a:pPr algn="l">
              <a:buNone/>
            </a:pPr>
            <a:r>
              <a:rPr sz="1800" b="1" i="0">
                <a:solidFill>
                  <a:srgbClr val="222222"/>
                </a:solidFill>
                <a:latin typeface="Helvetica Neue"/>
              </a:rPr>
              <a:t>Reflective notes:</a:t>
            </a:r>
            <a:r>
              <a:rPr sz="1800" b="0" i="0">
                <a:solidFill>
                  <a:srgbClr val="222222"/>
                </a:solidFill>
                <a:latin typeface="Helvetica Neue"/>
              </a:rPr>
              <a:t> In the process log, or as a separate layer on top of it. Some people prefer a separate reflective journal; others annotate their process log.</a:t>
            </a:r>
          </a:p>
          <a:p>
            <a:pPr>
              <a:buNone/>
            </a:pPr>
            <a:r>
              <a:rPr sz="400"/>
              <a:t/>
            </a:r>
          </a:p>
          <a:p>
            <a:pPr algn="l">
              <a:buNone/>
            </a:pPr>
            <a:r>
              <a:rPr sz="1800" b="1" i="0">
                <a:solidFill>
                  <a:srgbClr val="222222"/>
                </a:solidFill>
                <a:latin typeface="Helvetica Neue"/>
              </a:rPr>
              <a:t>Video and screen recordings:</a:t>
            </a:r>
            <a:r>
              <a:rPr sz="1800" b="0" i="0">
                <a:solidFill>
                  <a:srgbClr val="222222"/>
                </a:solidFill>
                <a:latin typeface="Helvetica Neue"/>
              </a:rPr>
              <a:t> For installations, performances, interactive systems, and anything where the experience is temporal. OBS is free. Record more than you think you need.</a:t>
            </a:r>
          </a:p>
          <a:p>
            <a:pPr>
              <a:buNone/>
            </a:pPr>
            <a:r>
              <a:rPr sz="400"/>
              <a:t/>
            </a:r>
          </a:p>
          <a:p>
            <a:pPr algn="l">
              <a:buNone/>
            </a:pPr>
            <a:r>
              <a:rPr sz="1800" b="1" i="0">
                <a:solidFill>
                  <a:srgbClr val="222222"/>
                </a:solidFill>
                <a:latin typeface="Helvetica Neue"/>
              </a:rPr>
              <a:t>The written submission:</a:t>
            </a:r>
            <a:r>
              <a:rPr sz="1800" b="0" i="0">
                <a:solidFill>
                  <a:srgbClr val="222222"/>
                </a:solidFill>
                <a:latin typeface="Helvetica Neue"/>
              </a:rPr>
              <a:t> Where layers 4 and 5 ultimately live in their polished form.</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The annotated portfolio</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Gaver &amp; Bowers (2012) proposed the </a:t>
            </a:r>
            <a:r>
              <a:rPr sz="1800" b="1" i="0">
                <a:solidFill>
                  <a:srgbClr val="222222"/>
                </a:solidFill>
                <a:latin typeface="Helvetica Neue"/>
              </a:rPr>
              <a:t>annotated portfolio</a:t>
            </a:r>
            <a:r>
              <a:rPr sz="1800" b="0" i="0">
                <a:solidFill>
                  <a:srgbClr val="222222"/>
                </a:solidFill>
                <a:latin typeface="Helvetica Neue"/>
              </a:rPr>
              <a:t> as a method for presenting design artefacts as research contributions.</a:t>
            </a:r>
          </a:p>
          <a:p>
            <a:pPr>
              <a:buNone/>
            </a:pPr>
            <a:r>
              <a:rPr sz="400"/>
              <a:t/>
            </a:r>
          </a:p>
          <a:p>
            <a:pPr algn="l">
              <a:buNone/>
            </a:pPr>
            <a:r>
              <a:rPr sz="1800" b="0" i="0">
                <a:solidFill>
                  <a:srgbClr val="222222"/>
                </a:solidFill>
                <a:latin typeface="Helvetica Neue"/>
              </a:rPr>
              <a:t>The idea: you present a curated selection of artefacts (prototypes, outputs, iterations, experiments) and accompany each with written annotation that explains </a:t>
            </a:r>
            <a:r>
              <a:rPr sz="1800" b="1" i="0">
                <a:solidFill>
                  <a:srgbClr val="222222"/>
                </a:solidFill>
                <a:latin typeface="Helvetica Neue"/>
              </a:rPr>
              <a:t>what it shows, why it matters, and how it relates to the others</a:t>
            </a:r>
            <a:r>
              <a:rPr sz="1800" b="0" i="0">
                <a:solidFill>
                  <a:srgbClr val="222222"/>
                </a:solidFill>
                <a:latin typeface="Helvetica Neue"/>
              </a:rPr>
              <a:t>.</a:t>
            </a:r>
          </a:p>
          <a:p>
            <a:pPr>
              <a:buNone/>
            </a:pPr>
            <a:r>
              <a:rPr sz="400"/>
              <a:t/>
            </a:r>
          </a:p>
          <a:p>
            <a:pPr algn="l">
              <a:buNone/>
            </a:pPr>
            <a:r>
              <a:rPr sz="1800" b="0" i="0">
                <a:solidFill>
                  <a:srgbClr val="222222"/>
                </a:solidFill>
                <a:latin typeface="Helvetica Neue"/>
              </a:rPr>
              <a:t>The portfolio is not a gallery. It is an </a:t>
            </a:r>
            <a:r>
              <a:rPr sz="1800" b="1" i="0">
                <a:solidFill>
                  <a:srgbClr val="222222"/>
                </a:solidFill>
                <a:latin typeface="Helvetica Neue"/>
              </a:rPr>
              <a:t>argument made through artefacts</a:t>
            </a:r>
            <a:r>
              <a:rPr sz="1800" b="0" i="0">
                <a:solidFill>
                  <a:srgbClr val="222222"/>
                </a:solidFill>
                <a:latin typeface="Helvetica Neue"/>
              </a:rPr>
              <a:t>.</a:t>
            </a:r>
          </a:p>
          <a:p>
            <a:pPr>
              <a:buNone/>
            </a:pPr>
            <a:r>
              <a:rPr sz="400"/>
              <a:t/>
            </a:r>
          </a:p>
          <a:p>
            <a:pPr algn="l">
              <a:buNone/>
            </a:pPr>
            <a:r>
              <a:rPr sz="1800" b="0" i="0">
                <a:solidFill>
                  <a:srgbClr val="222222"/>
                </a:solidFill>
                <a:latin typeface="Helvetica Neue"/>
              </a:rPr>
              <a:t>Each annotation should address:</a:t>
            </a:r>
          </a:p>
          <a:p>
            <a:pPr>
              <a:buNone/>
            </a:pPr>
            <a:r>
              <a:rPr sz="400"/>
              <a:t/>
            </a:r>
          </a:p>
          <a:p>
            <a:pPr algn="l" indent="-342900" marL="342900">
              <a:buChar char="•"/>
              <a:buFont typeface="Helvetica Neue"/>
            </a:pPr>
            <a:r>
              <a:rPr sz="1800" b="0" i="0">
                <a:solidFill>
                  <a:srgbClr val="222222"/>
                </a:solidFill>
                <a:latin typeface="Helvetica Neue"/>
              </a:rPr>
              <a:t>What is this artefact? (What was it made with, when, in what context?)</a:t>
            </a:r>
          </a:p>
          <a:p>
            <a:pPr algn="l" indent="-342900" marL="342900">
              <a:buChar char="•"/>
              <a:buFont typeface="Helvetica Neue"/>
            </a:pPr>
            <a:r>
              <a:rPr sz="1800" b="0" i="0">
                <a:solidFill>
                  <a:srgbClr val="222222"/>
                </a:solidFill>
                <a:latin typeface="Helvetica Neue"/>
              </a:rPr>
              <a:t>What does it demonstrate? (What knowledge does it carry?)</a:t>
            </a:r>
          </a:p>
          <a:p>
            <a:pPr algn="l" indent="-342900" marL="342900">
              <a:buChar char="•"/>
              <a:buFont typeface="Helvetica Neue"/>
            </a:pPr>
            <a:r>
              <a:rPr sz="1800" b="0" i="0">
                <a:solidFill>
                  <a:srgbClr val="222222"/>
                </a:solidFill>
                <a:latin typeface="Helvetica Neue"/>
              </a:rPr>
              <a:t>What design decisions does it embody? (What choices were made, and why?)</a:t>
            </a:r>
          </a:p>
          <a:p>
            <a:pPr algn="l" indent="-342900" marL="342900">
              <a:buChar char="•"/>
              <a:buFont typeface="Helvetica Neue"/>
            </a:pPr>
            <a:r>
              <a:rPr sz="1800" b="0" i="0">
                <a:solidFill>
                  <a:srgbClr val="222222"/>
                </a:solidFill>
                <a:latin typeface="Helvetica Neue"/>
              </a:rPr>
              <a:t>How does it relate to the other items in the portfolio? (What trajectory or development does the collection reveal?)</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An annotated portfolio in practice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Imagine you're building a system that generates visual patterns from audio input.</a:t>
            </a:r>
          </a:p>
          <a:p>
            <a:pPr>
              <a:buNone/>
            </a:pPr>
            <a:r>
              <a:rPr sz="400"/>
              <a:t/>
            </a:r>
          </a:p>
          <a:p>
            <a:pPr algn="l">
              <a:buNone/>
            </a:pPr>
            <a:r>
              <a:rPr sz="1800" b="1" i="0">
                <a:solidFill>
                  <a:srgbClr val="222222"/>
                </a:solidFill>
                <a:latin typeface="Helvetica Neue"/>
              </a:rPr>
              <a:t>Item 1:</a:t>
            </a:r>
            <a:r>
              <a:rPr sz="1800" b="0" i="0">
                <a:solidFill>
                  <a:srgbClr val="222222"/>
                </a:solidFill>
                <a:latin typeface="Helvetica Neue"/>
              </a:rPr>
              <a:t> Early prototype. Direct amplitude-to-brightness mapping.</a:t>
            </a:r>
          </a:p>
          <a:p>
            <a:pPr algn="l">
              <a:buNone/>
            </a:pPr>
            <a:r>
              <a:rPr sz="1800" b="0" i="1">
                <a:solidFill>
                  <a:srgbClr val="222222"/>
                </a:solidFill>
                <a:latin typeface="Helvetica Neue"/>
              </a:rPr>
              <a:t>Annotation:</a:t>
            </a:r>
            <a:r>
              <a:rPr sz="1800" b="0" i="0">
                <a:solidFill>
                  <a:srgbClr val="222222"/>
                </a:solidFill>
                <a:latin typeface="Helvetica Neue"/>
              </a:rPr>
              <a:t> "The first mapping was literal — loud = bright, quiet = dark. The result was visually responsive but uninteresting. It confirmed that direct parameter mapping produces correlation without aesthetic surprise."</a:t>
            </a:r>
          </a:p>
          <a:p>
            <a:pPr>
              <a:buNone/>
            </a:pPr>
            <a:r>
              <a:rPr sz="400"/>
              <a:t/>
            </a:r>
          </a:p>
          <a:p>
            <a:pPr algn="l">
              <a:buNone/>
            </a:pPr>
            <a:r>
              <a:rPr sz="1800" b="1" i="0">
                <a:solidFill>
                  <a:srgbClr val="222222"/>
                </a:solidFill>
                <a:latin typeface="Helvetica Neue"/>
              </a:rPr>
              <a:t>Item 2:</a:t>
            </a:r>
            <a:r>
              <a:rPr sz="1800" b="0" i="0">
                <a:solidFill>
                  <a:srgbClr val="222222"/>
                </a:solidFill>
                <a:latin typeface="Helvetica Neue"/>
              </a:rPr>
              <a:t> Second prototype. Spectral centroid mapped to colour hue, onset density mapped to pattern complexity.</a:t>
            </a:r>
          </a:p>
          <a:p>
            <a:pPr algn="l">
              <a:buNone/>
            </a:pPr>
            <a:r>
              <a:rPr sz="1800" b="0" i="1">
                <a:solidFill>
                  <a:srgbClr val="222222"/>
                </a:solidFill>
                <a:latin typeface="Helvetica Neue"/>
              </a:rPr>
              <a:t>Annotation:</a:t>
            </a:r>
            <a:r>
              <a:rPr sz="1800" b="0" i="0">
                <a:solidFill>
                  <a:srgbClr val="222222"/>
                </a:solidFill>
                <a:latin typeface="Helvetica Neue"/>
              </a:rPr>
              <a:t> "By mapping perceptual audio features to visual properties, the system began producing outputs that 'felt' connected to the sound rather than merely synchronised with it. The distinction between synchronisation and connection became a central concept in the project."</a:t>
            </a:r>
          </a:p>
          <a:p>
            <a:pPr>
              <a:buNone/>
            </a:pPr>
            <a:r>
              <a:rPr sz="400"/>
              <a:t/>
            </a:r>
          </a:p>
          <a:p>
            <a:pPr algn="l">
              <a:buNone/>
            </a:pPr>
            <a:r>
              <a:rPr sz="1800" b="1" i="0">
                <a:solidFill>
                  <a:srgbClr val="222222"/>
                </a:solidFill>
                <a:latin typeface="Helvetica Neue"/>
              </a:rPr>
              <a:t>Item 3:</a:t>
            </a:r>
            <a:r>
              <a:rPr sz="1800" b="0" i="0">
                <a:solidFill>
                  <a:srgbClr val="222222"/>
                </a:solidFill>
                <a:latin typeface="Helvetica Neue"/>
              </a:rPr>
              <a:t> Final system. Multi-feature mapping with a learned crossmodal embedding.</a:t>
            </a:r>
          </a:p>
          <a:p>
            <a:pPr algn="l">
              <a:buNone/>
            </a:pPr>
            <a:r>
              <a:rPr sz="1800" b="0" i="1">
                <a:solidFill>
                  <a:srgbClr val="222222"/>
                </a:solidFill>
                <a:latin typeface="Helvetica Neue"/>
              </a:rPr>
              <a:t>Annotation:</a:t>
            </a:r>
            <a:r>
              <a:rPr sz="1800" b="0" i="0">
                <a:solidFill>
                  <a:srgbClr val="222222"/>
                </a:solidFill>
                <a:latin typeface="Helvetica Neue"/>
              </a:rPr>
              <a:t> "The learned embedding produced unexpected cross-modal associations — certain timbres consistently evoked angular shapes, which aligns with research on sound symbolism (Köhler, 1929; Ramachandran &amp; Hubbard, 2001). The system's outputs became evidence for a relationship between audio and visual features that was discovered through making, not predicted by theory."</a:t>
            </a:r>
          </a:p>
          <a:p>
            <a:pPr>
              <a:buNone/>
            </a:pPr>
            <a:r>
              <a:rPr sz="400"/>
              <a:t/>
            </a:r>
          </a:p>
          <a:p>
            <a:pPr algn="l">
              <a:buNone/>
            </a:pPr>
            <a:r>
              <a:rPr sz="1800" b="0" i="0">
                <a:solidFill>
                  <a:srgbClr val="222222"/>
                </a:solidFill>
                <a:latin typeface="Helvetica Neue"/>
              </a:rPr>
              <a:t>Three items. Three annotations. A clear trajectory from naive mapping to discovered insight.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Documenting failure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Failures, dead ends, and abandoned directions are </a:t>
            </a:r>
            <a:r>
              <a:rPr sz="2000" b="1" i="0">
                <a:solidFill>
                  <a:srgbClr val="222222"/>
                </a:solidFill>
                <a:latin typeface="Helvetica Neue"/>
              </a:rPr>
              <a:t>research evidence</a:t>
            </a:r>
            <a:r>
              <a:rPr sz="2000" b="0" i="0">
                <a:solidFill>
                  <a:srgbClr val="222222"/>
                </a:solidFill>
                <a:latin typeface="Helvetica Neue"/>
              </a:rPr>
              <a:t>, not embarrassments.</a:t>
            </a:r>
          </a:p>
          <a:p>
            <a:pPr>
              <a:buNone/>
            </a:pPr>
            <a:r>
              <a:rPr sz="400"/>
              <a:t/>
            </a:r>
          </a:p>
          <a:p>
            <a:pPr algn="l">
              <a:buNone/>
            </a:pPr>
            <a:r>
              <a:rPr sz="2000" b="0" i="0">
                <a:solidFill>
                  <a:srgbClr val="222222"/>
                </a:solidFill>
                <a:latin typeface="Helvetica Neue"/>
              </a:rPr>
              <a:t>If you tried an approach and it didn't work, that's valuable information — provided you document </a:t>
            </a:r>
            <a:r>
              <a:rPr sz="2000" b="0" i="1">
                <a:solidFill>
                  <a:srgbClr val="222222"/>
                </a:solidFill>
                <a:latin typeface="Helvetica Neue"/>
              </a:rPr>
              <a:t>why</a:t>
            </a:r>
            <a:r>
              <a:rPr sz="2000" b="0" i="0">
                <a:solidFill>
                  <a:srgbClr val="222222"/>
                </a:solidFill>
                <a:latin typeface="Helvetica Neue"/>
              </a:rPr>
              <a:t> it didn't work and </a:t>
            </a:r>
            <a:r>
              <a:rPr sz="2000" b="0" i="1">
                <a:solidFill>
                  <a:srgbClr val="222222"/>
                </a:solidFill>
                <a:latin typeface="Helvetica Neue"/>
              </a:rPr>
              <a:t>what you learned from it</a:t>
            </a:r>
            <a:r>
              <a:rPr sz="2000" b="0" i="0">
                <a:solidFill>
                  <a:srgbClr val="222222"/>
                </a:solidFill>
                <a:latin typeface="Helvetica Neue"/>
              </a:rPr>
              <a:t>.</a:t>
            </a:r>
          </a:p>
          <a:p>
            <a:pPr>
              <a:buNone/>
            </a:pPr>
            <a:r>
              <a:rPr sz="400"/>
              <a:t/>
            </a:r>
          </a:p>
          <a:p>
            <a:pPr algn="l">
              <a:buNone/>
            </a:pPr>
            <a:r>
              <a:rPr sz="2000" b="0" i="0">
                <a:solidFill>
                  <a:srgbClr val="222222"/>
                </a:solidFill>
                <a:latin typeface="Helvetica Neue"/>
              </a:rPr>
              <a:t>A project that presents only its final, successful outcome looks less rigorous than one that shows: "I tried A, B, and C. A failed because of X. B was partially successful but had limitation Y. C, informed by what I learned from A and B, addressed both X and Y."</a:t>
            </a:r>
          </a:p>
          <a:p>
            <a:pPr>
              <a:buNone/>
            </a:pPr>
            <a:r>
              <a:rPr sz="400"/>
              <a:t/>
            </a:r>
          </a:p>
          <a:p>
            <a:pPr algn="l">
              <a:buNone/>
            </a:pPr>
            <a:r>
              <a:rPr sz="2000" b="0" i="0">
                <a:solidFill>
                  <a:srgbClr val="222222"/>
                </a:solidFill>
                <a:latin typeface="Helvetica Neue"/>
              </a:rPr>
              <a:t>The narrative of informed iteration is one of the strongest things you can present in a practice-based submission.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Documenting for different audiences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Not all documentation goes in the final submission. Think of it as concentric rings:</a:t>
            </a:r>
          </a:p>
          <a:p>
            <a:pPr>
              <a:buNone/>
            </a:pPr>
            <a:r>
              <a:rPr sz="400"/>
              <a:t/>
            </a:r>
          </a:p>
          <a:p>
            <a:pPr algn="l">
              <a:buNone/>
            </a:pPr>
            <a:r>
              <a:rPr sz="2000" b="1" i="0">
                <a:solidFill>
                  <a:srgbClr val="222222"/>
                </a:solidFill>
                <a:latin typeface="Helvetica Neue"/>
              </a:rPr>
              <a:t>Inner ring — for you:</a:t>
            </a:r>
            <a:r>
              <a:rPr sz="2000" b="0" i="0">
                <a:solidFill>
                  <a:srgbClr val="222222"/>
                </a:solidFill>
                <a:latin typeface="Helvetica Neue"/>
              </a:rPr>
              <a:t> The raw process log. Everything. Messy, dated, honest. This is your working memory. It stays in your notebook or your private repo.</a:t>
            </a:r>
          </a:p>
          <a:p>
            <a:pPr>
              <a:buNone/>
            </a:pPr>
            <a:r>
              <a:rPr sz="400"/>
              <a:t/>
            </a:r>
          </a:p>
          <a:p>
            <a:pPr algn="l">
              <a:buNone/>
            </a:pPr>
            <a:r>
              <a:rPr sz="2000" b="1" i="0">
                <a:solidFill>
                  <a:srgbClr val="222222"/>
                </a:solidFill>
                <a:latin typeface="Helvetica Neue"/>
              </a:rPr>
              <a:t>Middle ring — for the examiner:</a:t>
            </a:r>
            <a:r>
              <a:rPr sz="2000" b="0" i="0">
                <a:solidFill>
                  <a:srgbClr val="222222"/>
                </a:solidFill>
                <a:latin typeface="Helvetica Neue"/>
              </a:rPr>
              <a:t> The curated evidence. Selected log entries, annotated portfolio items, key outputs, the reflective commentary that supports your argument. This goes in the appendices or the body of your submission.</a:t>
            </a:r>
          </a:p>
          <a:p>
            <a:pPr>
              <a:buNone/>
            </a:pPr>
            <a:r>
              <a:rPr sz="400"/>
              <a:t/>
            </a:r>
          </a:p>
          <a:p>
            <a:pPr algn="l">
              <a:buNone/>
            </a:pPr>
            <a:r>
              <a:rPr sz="2000" b="1" i="0">
                <a:solidFill>
                  <a:srgbClr val="222222"/>
                </a:solidFill>
                <a:latin typeface="Helvetica Neue"/>
              </a:rPr>
              <a:t>Outer ring — for the field:</a:t>
            </a:r>
            <a:r>
              <a:rPr sz="2000" b="0" i="0">
                <a:solidFill>
                  <a:srgbClr val="222222"/>
                </a:solidFill>
                <a:latin typeface="Helvetica Neue"/>
              </a:rPr>
              <a:t> The reproducibility package. Code on GitHub with a README, trained models if shareable, a clear description of the method. This is what lets others build on your work.</a:t>
            </a:r>
          </a:p>
          <a:p>
            <a:pPr>
              <a:buNone/>
            </a:pPr>
            <a:r>
              <a:rPr sz="400"/>
              <a:t/>
            </a:r>
          </a:p>
          <a:p>
            <a:pPr algn="l">
              <a:buNone/>
            </a:pPr>
            <a:r>
              <a:rPr sz="2000" b="0" i="0">
                <a:solidFill>
                  <a:srgbClr val="222222"/>
                </a:solidFill>
                <a:latin typeface="Helvetica Neue"/>
              </a:rPr>
              <a:t>You write the inner ring first and extract the other two from it. If the inner ring doesn't exist, there's nothing to extract.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What "good enough" documentation looks like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You don't need a cinematic production diary. You need:</a:t>
            </a:r>
          </a:p>
          <a:p>
            <a:pPr>
              <a:buNone/>
            </a:pPr>
            <a:r>
              <a:rPr sz="400"/>
              <a:t/>
            </a:r>
          </a:p>
          <a:p>
            <a:pPr algn="l">
              <a:buNone/>
            </a:pPr>
            <a:r>
              <a:rPr sz="1800" b="1" i="0">
                <a:solidFill>
                  <a:srgbClr val="222222"/>
                </a:solidFill>
                <a:latin typeface="Helvetica Neue"/>
              </a:rPr>
              <a:t>Process log:</a:t>
            </a:r>
            <a:r>
              <a:rPr sz="1800" b="0" i="0">
                <a:solidFill>
                  <a:srgbClr val="222222"/>
                </a:solidFill>
                <a:latin typeface="Helvetica Neue"/>
              </a:rPr>
              <a:t> One entry per significant working session. 100–300 words. Uses the four-question framework (what happened, what surprised you, what does it mean, what changes). Dated.</a:t>
            </a:r>
          </a:p>
          <a:p>
            <a:pPr>
              <a:buNone/>
            </a:pPr>
            <a:r>
              <a:rPr sz="400"/>
              <a:t/>
            </a:r>
          </a:p>
          <a:p>
            <a:pPr algn="l">
              <a:buNone/>
            </a:pPr>
            <a:r>
              <a:rPr sz="1800" b="1" i="0">
                <a:solidFill>
                  <a:srgbClr val="222222"/>
                </a:solidFill>
                <a:latin typeface="Helvetica Neue"/>
              </a:rPr>
              <a:t>Version-controlled code:</a:t>
            </a:r>
            <a:r>
              <a:rPr sz="1800" b="0" i="0">
                <a:solidFill>
                  <a:srgbClr val="222222"/>
                </a:solidFill>
                <a:latin typeface="Helvetica Neue"/>
              </a:rPr>
              <a:t> With meaningful commit messages. Tagged at significant milestones. A README that explains how to run it, what it does, and what it depends on.</a:t>
            </a:r>
          </a:p>
          <a:p>
            <a:pPr>
              <a:buNone/>
            </a:pPr>
            <a:r>
              <a:rPr sz="400"/>
              <a:t/>
            </a:r>
          </a:p>
          <a:p>
            <a:pPr algn="l">
              <a:buNone/>
            </a:pPr>
            <a:r>
              <a:rPr sz="1800" b="1" i="0">
                <a:solidFill>
                  <a:srgbClr val="222222"/>
                </a:solidFill>
                <a:latin typeface="Helvetica Neue"/>
              </a:rPr>
              <a:t>Timestamped outputs:</a:t>
            </a:r>
            <a:r>
              <a:rPr sz="1800" b="0" i="0">
                <a:solidFill>
                  <a:srgbClr val="222222"/>
                </a:solidFill>
                <a:latin typeface="Helvetica Neue"/>
              </a:rPr>
              <a:t> Audio, images, video — whatever your system produces. Named sensibly. Kept in chronological order so you can trace the development.</a:t>
            </a:r>
          </a:p>
          <a:p>
            <a:pPr>
              <a:buNone/>
            </a:pPr>
            <a:r>
              <a:rPr sz="400"/>
              <a:t/>
            </a:r>
          </a:p>
          <a:p>
            <a:pPr algn="l">
              <a:buNone/>
            </a:pPr>
            <a:r>
              <a:rPr sz="1800" b="1" i="0">
                <a:solidFill>
                  <a:srgbClr val="222222"/>
                </a:solidFill>
                <a:latin typeface="Helvetica Neue"/>
              </a:rPr>
              <a:t>At least one screen recording or demo video</a:t>
            </a:r>
            <a:r>
              <a:rPr sz="1800" b="0" i="0">
                <a:solidFill>
                  <a:srgbClr val="222222"/>
                </a:solidFill>
                <a:latin typeface="Helvetica Neue"/>
              </a:rPr>
              <a:t> of your system in action. Even if it's rough. The examiner needs to see the thing working, not just read about it.</a:t>
            </a:r>
          </a:p>
          <a:p>
            <a:pPr>
              <a:buNone/>
            </a:pPr>
            <a:r>
              <a:rPr sz="400"/>
              <a:t/>
            </a:r>
          </a:p>
          <a:p>
            <a:pPr algn="l">
              <a:buNone/>
            </a:pPr>
            <a:r>
              <a:rPr sz="1800" b="1" i="0">
                <a:solidFill>
                  <a:srgbClr val="222222"/>
                </a:solidFill>
                <a:latin typeface="Helvetica Neue"/>
              </a:rPr>
              <a:t>Reflective notes</a:t>
            </a:r>
            <a:r>
              <a:rPr sz="1800" b="0" i="0">
                <a:solidFill>
                  <a:srgbClr val="222222"/>
                </a:solidFill>
                <a:latin typeface="Helvetica Neue"/>
              </a:rPr>
              <a:t> at key decision points: when you changed direction, when something failed, when something surprised you, when you made a significant design choice.</a:t>
            </a:r>
          </a:p>
          <a:p>
            <a:pPr>
              <a:buNone/>
            </a:pPr>
            <a:r>
              <a:rPr sz="400"/>
              <a:t/>
            </a:r>
          </a:p>
          <a:p>
            <a:pPr algn="l">
              <a:buNone/>
            </a:pPr>
            <a:r>
              <a:rPr sz="1800" b="0" i="0">
                <a:solidFill>
                  <a:srgbClr val="222222"/>
                </a:solidFill>
                <a:latin typeface="Helvetica Neue"/>
              </a:rPr>
              <a:t>This is not a huge overhead. It's 15 minutes of writing per session, plus basic file hygiene.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Documentation and the iterative cyclic web</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Smith &amp; Dean's iterative cyclic web (Lecture 2) describes a process of making, reflecting, reading, and revising — repeatedly.</a:t>
            </a:r>
          </a:p>
          <a:p>
            <a:pPr>
              <a:buNone/>
            </a:pPr>
            <a:r>
              <a:rPr sz="400"/>
              <a:t/>
            </a:r>
          </a:p>
          <a:p>
            <a:pPr algn="l">
              <a:buNone/>
            </a:pPr>
            <a:r>
              <a:rPr sz="1800" b="0" i="0">
                <a:solidFill>
                  <a:srgbClr val="222222"/>
                </a:solidFill>
                <a:latin typeface="Helvetica Neue"/>
              </a:rPr>
              <a:t>Documentation is how you </a:t>
            </a:r>
            <a:r>
              <a:rPr sz="1800" b="1" i="0">
                <a:solidFill>
                  <a:srgbClr val="222222"/>
                </a:solidFill>
                <a:latin typeface="Helvetica Neue"/>
              </a:rPr>
              <a:t>make that cycle visible</a:t>
            </a:r>
            <a:r>
              <a:rPr sz="1800" b="0" i="0">
                <a:solidFill>
                  <a:srgbClr val="222222"/>
                </a:solidFill>
                <a:latin typeface="Helvetica Neue"/>
              </a:rPr>
              <a:t>. Without it, the cycle happens but nobody (including you) can trace it afterwards.</a:t>
            </a:r>
          </a:p>
          <a:p>
            <a:pPr>
              <a:buNone/>
            </a:pPr>
            <a:r>
              <a:rPr sz="400"/>
              <a:t/>
            </a:r>
          </a:p>
          <a:p>
            <a:pPr algn="l">
              <a:buNone/>
            </a:pPr>
            <a:r>
              <a:rPr sz="1800" b="0" i="0">
                <a:solidFill>
                  <a:srgbClr val="222222"/>
                </a:solidFill>
                <a:latin typeface="Helvetica Neue"/>
              </a:rPr>
              <a:t>Each pass through the cycle should leave a trace:</a:t>
            </a:r>
          </a:p>
          <a:p>
            <a:pPr>
              <a:buNone/>
            </a:pPr>
            <a:r>
              <a:rPr sz="400"/>
              <a:t/>
            </a:r>
          </a:p>
          <a:p>
            <a:pPr algn="l" indent="-342900" marL="342900">
              <a:buChar char="•"/>
              <a:buFont typeface="Helvetica Neue"/>
            </a:pPr>
            <a:r>
              <a:rPr sz="1800" b="1" i="0">
                <a:solidFill>
                  <a:srgbClr val="222222"/>
                </a:solidFill>
                <a:latin typeface="Helvetica Neue"/>
              </a:rPr>
              <a:t>Make</a:t>
            </a:r>
            <a:r>
              <a:rPr sz="1800" b="0" i="0">
                <a:solidFill>
                  <a:srgbClr val="222222"/>
                </a:solidFill>
                <a:latin typeface="Helvetica Neue"/>
              </a:rPr>
              <a:t> → outputs, code commits, prototypes.</a:t>
            </a:r>
          </a:p>
          <a:p>
            <a:pPr algn="l" indent="-342900" marL="342900">
              <a:buChar char="•"/>
              <a:buFont typeface="Helvetica Neue"/>
            </a:pPr>
            <a:r>
              <a:rPr sz="1800" b="1" i="0">
                <a:solidFill>
                  <a:srgbClr val="222222"/>
                </a:solidFill>
                <a:latin typeface="Helvetica Neue"/>
              </a:rPr>
              <a:t>Reflect</a:t>
            </a:r>
            <a:r>
              <a:rPr sz="1800" b="0" i="0">
                <a:solidFill>
                  <a:srgbClr val="222222"/>
                </a:solidFill>
                <a:latin typeface="Helvetica Neue"/>
              </a:rPr>
              <a:t> → log entries, reflective notes.</a:t>
            </a:r>
          </a:p>
          <a:p>
            <a:pPr algn="l" indent="-342900" marL="342900">
              <a:buChar char="•"/>
              <a:buFont typeface="Helvetica Neue"/>
            </a:pPr>
            <a:r>
              <a:rPr sz="1800" b="1" i="0">
                <a:solidFill>
                  <a:srgbClr val="222222"/>
                </a:solidFill>
                <a:latin typeface="Helvetica Neue"/>
              </a:rPr>
              <a:t>Read</a:t>
            </a:r>
            <a:r>
              <a:rPr sz="1800" b="0" i="0">
                <a:solidFill>
                  <a:srgbClr val="222222"/>
                </a:solidFill>
                <a:latin typeface="Helvetica Neue"/>
              </a:rPr>
              <a:t> → annotated references, notes on how the reading changed your thinking.</a:t>
            </a:r>
          </a:p>
          <a:p>
            <a:pPr algn="l" indent="-342900" marL="342900">
              <a:buChar char="•"/>
              <a:buFont typeface="Helvetica Neue"/>
            </a:pPr>
            <a:r>
              <a:rPr sz="1800" b="1" i="0">
                <a:solidFill>
                  <a:srgbClr val="222222"/>
                </a:solidFill>
                <a:latin typeface="Helvetica Neue"/>
              </a:rPr>
              <a:t>Revise</a:t>
            </a:r>
            <a:r>
              <a:rPr sz="1800" b="0" i="0">
                <a:solidFill>
                  <a:srgbClr val="222222"/>
                </a:solidFill>
                <a:latin typeface="Helvetica Neue"/>
              </a:rPr>
              <a:t> → updated question, changed parameters, new direction — documented with a note explaining </a:t>
            </a:r>
            <a:r>
              <a:rPr sz="1800" b="0" i="1">
                <a:solidFill>
                  <a:srgbClr val="222222"/>
                </a:solidFill>
                <a:latin typeface="Helvetica Neue"/>
              </a:rPr>
              <a:t>why</a:t>
            </a:r>
            <a:r>
              <a:rPr sz="1800" b="0" i="0">
                <a:solidFill>
                  <a:srgbClr val="222222"/>
                </a:solidFill>
                <a:latin typeface="Helvetica Neue"/>
              </a:rPr>
              <a:t> you revised.</a:t>
            </a:r>
          </a:p>
          <a:p>
            <a:pPr>
              <a:buNone/>
            </a:pPr>
            <a:r>
              <a:rPr sz="400"/>
              <a:t/>
            </a:r>
          </a:p>
          <a:p>
            <a:pPr algn="l">
              <a:buNone/>
            </a:pPr>
            <a:r>
              <a:rPr sz="1800" b="0" i="0">
                <a:solidFill>
                  <a:srgbClr val="222222"/>
                </a:solidFill>
                <a:latin typeface="Helvetica Neue"/>
              </a:rPr>
              <a:t>If your documentation lets someone reconstruct the trajectory of your thinking — from first hunch to final artefact, through all the surprises and pivots — you have a strong evidential foundation for your submission.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 worked example: documenting a project in creative computing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Here's what good documentation might look like across the life of a 12-week MSc project:</a:t>
            </a:r>
          </a:p>
          <a:p>
            <a:pPr>
              <a:buNone/>
            </a:pPr>
            <a:r>
              <a:rPr sz="400"/>
              <a:t/>
            </a:r>
          </a:p>
          <a:p>
            <a:pPr algn="l">
              <a:buNone/>
            </a:pPr>
            <a:r>
              <a:rPr sz="2000" b="1" i="0">
                <a:solidFill>
                  <a:srgbClr val="222222"/>
                </a:solidFill>
                <a:latin typeface="Helvetica Neue"/>
              </a:rPr>
              <a:t>Weeks 1–3:</a:t>
            </a:r>
            <a:r>
              <a:rPr sz="2000" b="0" i="0">
                <a:solidFill>
                  <a:srgbClr val="222222"/>
                </a:solidFill>
                <a:latin typeface="Helvetica Neue"/>
              </a:rPr>
              <a:t> Process log established. Research question drafted. Literature notes with five-point extraction (from Lecture 3). Gap statement drafted. Early sketches and architectural diagrams.</a:t>
            </a:r>
          </a:p>
          <a:p>
            <a:pPr>
              <a:buNone/>
            </a:pPr>
            <a:r>
              <a:rPr sz="400"/>
              <a:t/>
            </a:r>
          </a:p>
          <a:p>
            <a:pPr algn="l">
              <a:buNone/>
            </a:pPr>
            <a:r>
              <a:rPr sz="2000" b="1" i="0">
                <a:solidFill>
                  <a:srgbClr val="222222"/>
                </a:solidFill>
                <a:latin typeface="Helvetica Neue"/>
              </a:rPr>
              <a:t>Weeks 4–6:</a:t>
            </a:r>
            <a:r>
              <a:rPr sz="2000" b="0" i="0">
                <a:solidFill>
                  <a:srgbClr val="222222"/>
                </a:solidFill>
                <a:latin typeface="Helvetica Neue"/>
              </a:rPr>
              <a:t> First prototype built. Code on GitHub. Initial outputs exported and timestamped. Log entries note first surprises and pivots. Reflective notes at key decision points ("chose spectral loss over waveform loss because…").</a:t>
            </a:r>
          </a:p>
          <a:p>
            <a:pPr>
              <a:buNone/>
            </a:pPr>
            <a:r>
              <a:rPr sz="400"/>
              <a:t/>
            </a:r>
          </a:p>
          <a:p>
            <a:pPr algn="l">
              <a:buNone/>
            </a:pPr>
            <a:r>
              <a:rPr sz="2000" b="1" i="0">
                <a:solidFill>
                  <a:srgbClr val="222222"/>
                </a:solidFill>
                <a:latin typeface="Helvetica Neue"/>
              </a:rPr>
              <a:t>Weeks 7–9:</a:t>
            </a:r>
            <a:r>
              <a:rPr sz="2000" b="0" i="0">
                <a:solidFill>
                  <a:srgbClr val="222222"/>
                </a:solidFill>
                <a:latin typeface="Helvetica Neue"/>
              </a:rPr>
              <a:t> Second iteration built, informed by reflections on the first. User study conducted (if applicable). Screen recordings and demo videos captured. Annotated portfolio beginning to take shape — three or four items with annotations.</a:t>
            </a:r>
          </a:p>
          <a:p>
            <a:pPr>
              <a:buNone/>
            </a:pPr>
            <a:r>
              <a:rPr sz="400"/>
              <a:t/>
            </a:r>
          </a:p>
          <a:p>
            <a:pPr algn="l">
              <a:buNone/>
            </a:pPr>
            <a:r>
              <a:rPr sz="2000" b="1" i="0">
                <a:solidFill>
                  <a:srgbClr val="222222"/>
                </a:solidFill>
                <a:latin typeface="Helvetica Neue"/>
              </a:rPr>
              <a:t>Weeks 10–12:</a:t>
            </a:r>
            <a:r>
              <a:rPr sz="2000" b="0" i="0">
                <a:solidFill>
                  <a:srgbClr val="222222"/>
                </a:solidFill>
                <a:latin typeface="Helvetica Neue"/>
              </a:rPr>
              <a:t> Final system documented. Process log reviewed and key entries extracted for the written submission. Annotated portfolio finalised. Reflective commentary written up as part of the methods and discussion sections. README polished. Code tagged as final version.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Common mistakes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1" i="0">
                <a:solidFill>
                  <a:srgbClr val="222222"/>
                </a:solidFill>
                <a:latin typeface="Helvetica Neue"/>
              </a:rPr>
              <a:t>"I'll document later."</a:t>
            </a:r>
            <a:r>
              <a:rPr sz="2000" b="0" i="0">
                <a:solidFill>
                  <a:srgbClr val="222222"/>
                </a:solidFill>
                <a:latin typeface="Helvetica Neue"/>
              </a:rPr>
              <a:t> You won't. Or you will, but you'll forget the insights that mattered most. Document as you go.</a:t>
            </a:r>
          </a:p>
          <a:p>
            <a:pPr>
              <a:buNone/>
            </a:pPr>
            <a:r>
              <a:rPr sz="400"/>
              <a:t/>
            </a:r>
          </a:p>
          <a:p>
            <a:pPr algn="l">
              <a:buNone/>
            </a:pPr>
            <a:r>
              <a:rPr sz="2000" b="1" i="0">
                <a:solidFill>
                  <a:srgbClr val="222222"/>
                </a:solidFill>
                <a:latin typeface="Helvetica Neue"/>
              </a:rPr>
              <a:t>"My code is my documentation."</a:t>
            </a:r>
            <a:r>
              <a:rPr sz="2000" b="0" i="0">
                <a:solidFill>
                  <a:srgbClr val="222222"/>
                </a:solidFill>
                <a:latin typeface="Helvetica Neue"/>
              </a:rPr>
              <a:t> Code is layer 2 (technical specification). It doesn't capture why you made the choices you did, what surprised you, or how your understanding changed. You need layers 3, 4, and 5 as well.</a:t>
            </a:r>
          </a:p>
          <a:p>
            <a:pPr>
              <a:buNone/>
            </a:pPr>
            <a:r>
              <a:rPr sz="400"/>
              <a:t/>
            </a:r>
          </a:p>
          <a:p>
            <a:pPr algn="l">
              <a:buNone/>
            </a:pPr>
            <a:r>
              <a:rPr sz="2000" b="1" i="0">
                <a:solidFill>
                  <a:srgbClr val="222222"/>
                </a:solidFill>
                <a:latin typeface="Helvetica Neue"/>
              </a:rPr>
              <a:t>"I documented everything."</a:t>
            </a:r>
            <a:r>
              <a:rPr sz="2000" b="0" i="0">
                <a:solidFill>
                  <a:srgbClr val="222222"/>
                </a:solidFill>
                <a:latin typeface="Helvetica Neue"/>
              </a:rPr>
              <a:t> If you documented </a:t>
            </a:r>
            <a:r>
              <a:rPr sz="2000" b="0" i="1">
                <a:solidFill>
                  <a:srgbClr val="222222"/>
                </a:solidFill>
                <a:latin typeface="Helvetica Neue"/>
              </a:rPr>
              <a:t>everything</a:t>
            </a:r>
            <a:r>
              <a:rPr sz="2000" b="0" i="0">
                <a:solidFill>
                  <a:srgbClr val="222222"/>
                </a:solidFill>
                <a:latin typeface="Helvetica Neue"/>
              </a:rPr>
              <a:t> equally, you documented nothing usefully. Documentation for the examiner is curated — you select the moments that matter and explain why they matter.</a:t>
            </a:r>
          </a:p>
          <a:p>
            <a:pPr>
              <a:buNone/>
            </a:pPr>
            <a:r>
              <a:rPr sz="400"/>
              <a:t/>
            </a:r>
          </a:p>
          <a:p>
            <a:pPr algn="l">
              <a:buNone/>
            </a:pPr>
            <a:r>
              <a:rPr sz="2000" b="1" i="0">
                <a:solidFill>
                  <a:srgbClr val="222222"/>
                </a:solidFill>
                <a:latin typeface="Helvetica Neue"/>
              </a:rPr>
              <a:t>"The artefact speaks for itself."</a:t>
            </a:r>
            <a:r>
              <a:rPr sz="2000" b="0" i="0">
                <a:solidFill>
                  <a:srgbClr val="222222"/>
                </a:solidFill>
                <a:latin typeface="Helvetica Neue"/>
              </a:rPr>
              <a:t> It doesn't — not to someone who wasn't in the room while you made it. The artefact speaks </a:t>
            </a:r>
            <a:r>
              <a:rPr sz="2000" b="0" i="1">
                <a:solidFill>
                  <a:srgbClr val="222222"/>
                </a:solidFill>
                <a:latin typeface="Helvetica Neue"/>
              </a:rPr>
              <a:t>with</a:t>
            </a:r>
            <a:r>
              <a:rPr sz="2000" b="0" i="0">
                <a:solidFill>
                  <a:srgbClr val="222222"/>
                </a:solidFill>
                <a:latin typeface="Helvetica Neue"/>
              </a:rPr>
              <a:t> the documentation. Alone, it's mute.</a:t>
            </a:r>
          </a:p>
          <a:p>
            <a:pPr>
              <a:buNone/>
            </a:pPr>
            <a:r>
              <a:rPr sz="400"/>
              <a:t/>
            </a:r>
          </a:p>
          <a:p>
            <a:pPr algn="l">
              <a:buNone/>
            </a:pPr>
            <a:r>
              <a:rPr sz="2000" b="1" i="0">
                <a:solidFill>
                  <a:srgbClr val="222222"/>
                </a:solidFill>
                <a:latin typeface="Helvetica Neue"/>
              </a:rPr>
              <a:t>"Reflection means saying what I felt."</a:t>
            </a:r>
            <a:r>
              <a:rPr sz="2000" b="0" i="0">
                <a:solidFill>
                  <a:srgbClr val="222222"/>
                </a:solidFill>
                <a:latin typeface="Helvetica Neue"/>
              </a:rPr>
              <a:t> Reflection is analytical, not emotional. "I felt frustrated" is not a research insight. "The system consistently failed at long sustained notes, which frustrated me, but which also revealed that the architecture handles transients better than steady-state signals — a finding I hadn't anticipated" — that's a research insight.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An exercise: write a reflective note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Think about the last significant thing you worked on — for this module, for another project, or in your own practice.</a:t>
            </a:r>
          </a:p>
          <a:p>
            <a:pPr>
              <a:buNone/>
            </a:pPr>
            <a:r>
              <a:rPr sz="400"/>
              <a:t/>
            </a:r>
          </a:p>
          <a:p>
            <a:pPr algn="l">
              <a:buNone/>
            </a:pPr>
            <a:r>
              <a:rPr sz="1800" b="0" i="0">
                <a:solidFill>
                  <a:srgbClr val="222222"/>
                </a:solidFill>
                <a:latin typeface="Helvetica Neue"/>
              </a:rPr>
              <a:t>Write a short reflective note (150–200 words) using the four-question framework:</a:t>
            </a:r>
          </a:p>
          <a:p>
            <a:pPr>
              <a:buNone/>
            </a:pPr>
            <a:r>
              <a:rPr sz="400"/>
              <a:t/>
            </a:r>
          </a:p>
          <a:p>
            <a:pPr algn="l" marL="342900">
              <a:buNone/>
            </a:pPr>
            <a:r>
              <a:rPr sz="1800" b="0" i="0">
                <a:solidFill>
                  <a:srgbClr val="222222"/>
                </a:solidFill>
                <a:latin typeface="Helvetica Neue"/>
              </a:rPr>
              <a:t>1.  </a:t>
            </a:r>
            <a:r>
              <a:rPr sz="1800" b="1" i="0">
                <a:solidFill>
                  <a:srgbClr val="222222"/>
                </a:solidFill>
                <a:latin typeface="Helvetica Neue"/>
              </a:rPr>
              <a:t>What happened?</a:t>
            </a:r>
          </a:p>
          <a:p>
            <a:pPr algn="l" marL="342900">
              <a:buNone/>
            </a:pPr>
            <a:r>
              <a:rPr sz="1800" b="0" i="0">
                <a:solidFill>
                  <a:srgbClr val="222222"/>
                </a:solidFill>
                <a:latin typeface="Helvetica Neue"/>
              </a:rPr>
              <a:t>2.  </a:t>
            </a:r>
            <a:r>
              <a:rPr sz="1800" b="1" i="0">
                <a:solidFill>
                  <a:srgbClr val="222222"/>
                </a:solidFill>
                <a:latin typeface="Helvetica Neue"/>
              </a:rPr>
              <a:t>What surprised you?</a:t>
            </a:r>
          </a:p>
          <a:p>
            <a:pPr algn="l" marL="342900">
              <a:buNone/>
            </a:pPr>
            <a:r>
              <a:rPr sz="1800" b="0" i="0">
                <a:solidFill>
                  <a:srgbClr val="222222"/>
                </a:solidFill>
                <a:latin typeface="Helvetica Neue"/>
              </a:rPr>
              <a:t>3.  </a:t>
            </a:r>
            <a:r>
              <a:rPr sz="1800" b="1" i="0">
                <a:solidFill>
                  <a:srgbClr val="222222"/>
                </a:solidFill>
                <a:latin typeface="Helvetica Neue"/>
              </a:rPr>
              <a:t>What does it mean?</a:t>
            </a:r>
          </a:p>
          <a:p>
            <a:pPr algn="l" marL="342900">
              <a:buNone/>
            </a:pPr>
            <a:r>
              <a:rPr sz="1800" b="0" i="0">
                <a:solidFill>
                  <a:srgbClr val="222222"/>
                </a:solidFill>
                <a:latin typeface="Helvetica Neue"/>
              </a:rPr>
              <a:t>4.  </a:t>
            </a:r>
            <a:r>
              <a:rPr sz="1800" b="1" i="0">
                <a:solidFill>
                  <a:srgbClr val="222222"/>
                </a:solidFill>
                <a:latin typeface="Helvetica Neue"/>
              </a:rPr>
              <a:t>What changes?</a:t>
            </a:r>
          </a:p>
          <a:p>
            <a:pPr>
              <a:buNone/>
            </a:pPr>
            <a:r>
              <a:rPr sz="400"/>
              <a:t/>
            </a:r>
          </a:p>
          <a:p>
            <a:pPr algn="l">
              <a:buNone/>
            </a:pPr>
            <a:r>
              <a:rPr sz="1800" b="0" i="0">
                <a:solidFill>
                  <a:srgbClr val="222222"/>
                </a:solidFill>
                <a:latin typeface="Helvetica Neue"/>
              </a:rPr>
              <a:t>Take 10 minutes. We'll hear a couple of examples.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For next week</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Week 7: </a:t>
            </a:r>
            <a:r>
              <a:rPr sz="2000" b="1" i="0">
                <a:solidFill>
                  <a:srgbClr val="222222"/>
                </a:solidFill>
                <a:latin typeface="Helvetica Neue"/>
              </a:rPr>
              <a:t>Exhibition vs research output — complementary, not opposed.</a:t>
            </a:r>
          </a:p>
          <a:p>
            <a:pPr>
              <a:buNone/>
            </a:pPr>
            <a:r>
              <a:rPr sz="400"/>
              <a:t/>
            </a:r>
          </a:p>
          <a:p>
            <a:pPr algn="l">
              <a:buNone/>
            </a:pPr>
            <a:r>
              <a:rPr sz="2000" b="0" i="0">
                <a:solidFill>
                  <a:srgbClr val="222222"/>
                </a:solidFill>
                <a:latin typeface="Helvetica Neue"/>
              </a:rPr>
              <a:t>Your project will likely be exhibited or demonstrated in some form. Next week we ask: how does exhibition relate to the research submission? Are they the same thing? Different things? How do you design for both?</a:t>
            </a:r>
          </a:p>
          <a:p>
            <a:pPr>
              <a:buNone/>
            </a:pPr>
            <a:r>
              <a:rPr sz="400"/>
              <a:t/>
            </a:r>
          </a:p>
          <a:p>
            <a:pPr algn="l">
              <a:buNone/>
            </a:pPr>
            <a:r>
              <a:rPr sz="2000" b="0" i="0">
                <a:solidFill>
                  <a:srgbClr val="222222"/>
                </a:solidFill>
                <a:latin typeface="Helvetica Neue"/>
              </a:rPr>
              <a:t>Between now and then:</a:t>
            </a:r>
          </a:p>
          <a:p>
            <a:pPr>
              <a:buNone/>
            </a:pPr>
            <a:r>
              <a:rPr sz="400"/>
              <a:t/>
            </a:r>
          </a:p>
          <a:p>
            <a:pPr algn="l" indent="-342900" marL="342900">
              <a:buChar char="•"/>
              <a:buFont typeface="Helvetica Neue"/>
            </a:pPr>
            <a:r>
              <a:rPr sz="2000" b="0" i="0">
                <a:solidFill>
                  <a:srgbClr val="222222"/>
                </a:solidFill>
                <a:latin typeface="Helvetica Neue"/>
              </a:rPr>
              <a:t>Start (or continue) a process log. One entry per working session.</a:t>
            </a:r>
          </a:p>
          <a:p>
            <a:pPr algn="l" indent="-342900" marL="342900">
              <a:buChar char="•"/>
              <a:buFont typeface="Helvetica Neue"/>
            </a:pPr>
            <a:r>
              <a:rPr sz="2000" b="0" i="0">
                <a:solidFill>
                  <a:srgbClr val="222222"/>
                </a:solidFill>
                <a:latin typeface="Helvetica Neue"/>
              </a:rPr>
              <a:t>Export and timestamp your outputs.</a:t>
            </a:r>
          </a:p>
          <a:p>
            <a:pPr algn="l" indent="-342900" marL="342900">
              <a:buChar char="•"/>
              <a:buFont typeface="Helvetica Neue"/>
            </a:pPr>
            <a:r>
              <a:rPr sz="2000" b="0" i="0">
                <a:solidFill>
                  <a:srgbClr val="222222"/>
                </a:solidFill>
                <a:latin typeface="Helvetica Neue"/>
              </a:rPr>
              <a:t>Write at least one reflective note using the four-question framework.</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References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Schön, D. (1983). </a:t>
            </a:r>
            <a:r>
              <a:rPr sz="1800" b="0" i="1">
                <a:solidFill>
                  <a:srgbClr val="222222"/>
                </a:solidFill>
                <a:latin typeface="Helvetica Neue"/>
              </a:rPr>
              <a:t>The Reflective Practitioner: How Professionals Think in Action.</a:t>
            </a:r>
            <a:r>
              <a:rPr sz="1800" b="0" i="0">
                <a:solidFill>
                  <a:srgbClr val="222222"/>
                </a:solidFill>
                <a:latin typeface="Helvetica Neue"/>
              </a:rPr>
              <a:t> Basic Books.</a:t>
            </a:r>
          </a:p>
          <a:p>
            <a:pPr>
              <a:buNone/>
            </a:pPr>
            <a:r>
              <a:rPr sz="400"/>
              <a:t/>
            </a:r>
          </a:p>
          <a:p>
            <a:pPr algn="l">
              <a:buNone/>
            </a:pPr>
            <a:r>
              <a:rPr sz="1800" b="0" i="0">
                <a:solidFill>
                  <a:srgbClr val="222222"/>
                </a:solidFill>
                <a:latin typeface="Helvetica Neue"/>
              </a:rPr>
              <a:t>Gaver, W. &amp; Bowers, J. (2012). </a:t>
            </a:r>
            <a:r>
              <a:rPr sz="1800" b="0" i="0">
                <a:solidFill>
                  <a:srgbClr val="222222"/>
                </a:solidFill>
                <a:latin typeface="Helvetica Neue"/>
                <a:hlinkClick r:id="rId2"/>
              </a:rPr>
              <a:t>"Annotated Portfolios."</a:t>
            </a:r>
            <a:r>
              <a:rPr sz="1800" b="0" i="0">
                <a:solidFill>
                  <a:srgbClr val="222222"/>
                </a:solidFill>
                <a:latin typeface="Helvetica Neue"/>
              </a:rPr>
              <a:t> </a:t>
            </a:r>
            <a:r>
              <a:rPr sz="1800" b="0" i="1">
                <a:solidFill>
                  <a:srgbClr val="222222"/>
                </a:solidFill>
                <a:latin typeface="Helvetica Neue"/>
              </a:rPr>
              <a:t>Interactions</a:t>
            </a:r>
            <a:r>
              <a:rPr sz="1800" b="0" i="0">
                <a:solidFill>
                  <a:srgbClr val="222222"/>
                </a:solidFill>
                <a:latin typeface="Helvetica Neue"/>
              </a:rPr>
              <a:t>, 19(4), 40–49.</a:t>
            </a:r>
          </a:p>
          <a:p>
            <a:pPr>
              <a:buNone/>
            </a:pPr>
            <a:r>
              <a:rPr sz="400"/>
              <a:t/>
            </a:r>
          </a:p>
          <a:p>
            <a:pPr algn="l">
              <a:buNone/>
            </a:pPr>
            <a:r>
              <a:rPr sz="1800" b="0" i="0">
                <a:solidFill>
                  <a:srgbClr val="222222"/>
                </a:solidFill>
                <a:latin typeface="Helvetica Neue"/>
              </a:rPr>
              <a:t>Smith, H. &amp; Dean, R. T. (eds.) (2009). </a:t>
            </a:r>
            <a:r>
              <a:rPr sz="1800" b="0" i="0">
                <a:solidFill>
                  <a:srgbClr val="222222"/>
                </a:solidFill>
                <a:latin typeface="Helvetica Neue"/>
                <a:hlinkClick r:id="rId3"/>
              </a:rPr>
              <a:t>*Practice-led Research, Research-led Practice in the Creative Arts.*</a:t>
            </a:r>
            <a:r>
              <a:rPr sz="1800" b="0" i="0">
                <a:solidFill>
                  <a:srgbClr val="222222"/>
                </a:solidFill>
                <a:latin typeface="Helvetica Neue"/>
              </a:rPr>
              <a:t> Edinburgh University Press.</a:t>
            </a:r>
          </a:p>
          <a:p>
            <a:pPr>
              <a:buNone/>
            </a:pPr>
            <a:r>
              <a:rPr sz="400"/>
              <a:t/>
            </a:r>
          </a:p>
          <a:p>
            <a:pPr algn="l">
              <a:buNone/>
            </a:pPr>
            <a:r>
              <a:rPr sz="1800" b="0" i="0">
                <a:solidFill>
                  <a:srgbClr val="222222"/>
                </a:solidFill>
                <a:latin typeface="Helvetica Neue"/>
              </a:rPr>
              <a:t>Borgdorff, H. (2011). "The Production of Knowledge in Artistic Research." In Biggs &amp; Karlsson (eds.), </a:t>
            </a:r>
            <a:r>
              <a:rPr sz="1800" b="0" i="0">
                <a:solidFill>
                  <a:srgbClr val="222222"/>
                </a:solidFill>
                <a:latin typeface="Helvetica Neue"/>
                <a:hlinkClick r:id="rId4"/>
              </a:rPr>
              <a:t>*The Routledge Companion to Research in the Arts.*</a:t>
            </a:r>
            <a:r>
              <a:rPr sz="1800" b="0" i="0">
                <a:solidFill>
                  <a:srgbClr val="222222"/>
                </a:solidFill>
                <a:latin typeface="Helvetica Neue"/>
              </a:rPr>
              <a:t> Routledge, pp. 44–63.</a:t>
            </a:r>
          </a:p>
          <a:p>
            <a:pPr>
              <a:buNone/>
            </a:pPr>
            <a:r>
              <a:rPr sz="400"/>
              <a:t/>
            </a:r>
          </a:p>
          <a:p>
            <a:pPr algn="l">
              <a:buNone/>
            </a:pPr>
            <a:r>
              <a:rPr sz="1800" b="0" i="0">
                <a:solidFill>
                  <a:srgbClr val="222222"/>
                </a:solidFill>
                <a:latin typeface="Helvetica Neue"/>
              </a:rPr>
              <a:t>Nelson, R. (2013). </a:t>
            </a:r>
            <a:r>
              <a:rPr sz="1800" b="0" i="0">
                <a:solidFill>
                  <a:srgbClr val="222222"/>
                </a:solidFill>
                <a:latin typeface="Helvetica Neue"/>
                <a:hlinkClick r:id="rId5"/>
              </a:rPr>
              <a:t>*Practice as Research in the Arts.*</a:t>
            </a:r>
            <a:r>
              <a:rPr sz="1800" b="0" i="0">
                <a:solidFill>
                  <a:srgbClr val="222222"/>
                </a:solidFill>
                <a:latin typeface="Helvetica Neue"/>
              </a:rPr>
              <a:t> Palgrave Macmillan.</a:t>
            </a:r>
          </a:p>
          <a:p>
            <a:pPr>
              <a:buNone/>
            </a:pPr>
            <a:r>
              <a:rPr sz="400"/>
              <a:t/>
            </a:r>
          </a:p>
          <a:p>
            <a:pPr algn="l">
              <a:buNone/>
            </a:pPr>
            <a:r>
              <a:rPr sz="1800" b="0" i="0">
                <a:solidFill>
                  <a:srgbClr val="222222"/>
                </a:solidFill>
                <a:latin typeface="Helvetica Neue"/>
              </a:rPr>
              <a:t>Kolb, D. (1984). </a:t>
            </a:r>
            <a:r>
              <a:rPr sz="1800" b="0" i="1">
                <a:solidFill>
                  <a:srgbClr val="222222"/>
                </a:solidFill>
                <a:latin typeface="Helvetica Neue"/>
              </a:rPr>
              <a:t>Experiential Learning: Experience as the Source of Learning and Development.</a:t>
            </a:r>
            <a:r>
              <a:rPr sz="1800" b="0" i="0">
                <a:solidFill>
                  <a:srgbClr val="222222"/>
                </a:solidFill>
                <a:latin typeface="Helvetica Neue"/>
              </a:rPr>
              <a:t> Prentice-Hall.</a:t>
            </a:r>
          </a:p>
          <a:p>
            <a:pPr>
              <a:buNone/>
            </a:pPr>
            <a:r>
              <a:rPr sz="400"/>
              <a:t/>
            </a:r>
          </a:p>
          <a:p>
            <a:pPr algn="l">
              <a:buNone/>
            </a:pPr>
            <a:r>
              <a:rPr sz="1800" b="0" i="0">
                <a:solidFill>
                  <a:srgbClr val="222222"/>
                </a:solidFill>
                <a:latin typeface="Helvetica Neue"/>
              </a:rPr>
              <a:t>Köhler, W. (1929). </a:t>
            </a:r>
            <a:r>
              <a:rPr sz="1800" b="0" i="1">
                <a:solidFill>
                  <a:srgbClr val="222222"/>
                </a:solidFill>
                <a:latin typeface="Helvetica Neue"/>
              </a:rPr>
              <a:t>Gestalt Psychology.</a:t>
            </a:r>
            <a:r>
              <a:rPr sz="1800" b="0" i="0">
                <a:solidFill>
                  <a:srgbClr val="222222"/>
                </a:solidFill>
                <a:latin typeface="Helvetica Neue"/>
              </a:rPr>
              <a:t> Liveright.</a:t>
            </a:r>
          </a:p>
          <a:p>
            <a:pPr>
              <a:buNone/>
            </a:pPr>
            <a:r>
              <a:rPr sz="400"/>
              <a:t/>
            </a:r>
          </a:p>
          <a:p>
            <a:pPr algn="l">
              <a:buNone/>
            </a:pPr>
            <a:r>
              <a:rPr sz="1800" b="0" i="0">
                <a:solidFill>
                  <a:srgbClr val="222222"/>
                </a:solidFill>
                <a:latin typeface="Helvetica Neue"/>
              </a:rPr>
              <a:t>Ramachandran, V. S. &amp; Hubbard, E. M. (2001). </a:t>
            </a:r>
            <a:r>
              <a:rPr sz="1800" b="0" i="0">
                <a:solidFill>
                  <a:srgbClr val="222222"/>
                </a:solidFill>
                <a:latin typeface="Helvetica Neue"/>
                <a:hlinkClick r:id="rId6"/>
              </a:rPr>
              <a:t>"Synaesthesia — A Window into Perception, Thought and Language."</a:t>
            </a:r>
            <a:r>
              <a:rPr sz="1800" b="0" i="0">
                <a:solidFill>
                  <a:srgbClr val="222222"/>
                </a:solidFill>
                <a:latin typeface="Helvetica Neue"/>
              </a:rPr>
              <a:t> </a:t>
            </a:r>
            <a:r>
              <a:rPr sz="1800" b="0" i="1">
                <a:solidFill>
                  <a:srgbClr val="222222"/>
                </a:solidFill>
                <a:latin typeface="Helvetica Neue"/>
              </a:rPr>
              <a:t>Journal of Consciousness Studies</a:t>
            </a:r>
            <a:r>
              <a:rPr sz="1800" b="0" i="0">
                <a:solidFill>
                  <a:srgbClr val="222222"/>
                </a:solidFill>
                <a:latin typeface="Helvetica Neue"/>
              </a:rPr>
              <a:t>, 8(12), 3–34.</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Questions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Have you started a process log?</a:t>
            </a:r>
          </a:p>
          <a:p>
            <a:pPr algn="l">
              <a:buNone/>
            </a:pPr>
            <a:r>
              <a:rPr sz="2000" b="0" i="0">
                <a:solidFill>
                  <a:srgbClr val="222222"/>
                </a:solidFill>
                <a:latin typeface="Helvetica Neue"/>
              </a:rPr>
              <a:t>What's the hardest thing to capture about your own practice?</a:t>
            </a:r>
          </a:p>
          <a:p>
            <a:pPr algn="l">
              <a:buNone/>
            </a:pPr>
            <a:r>
              <a:rPr sz="2000" b="0" i="0">
                <a:solidFill>
                  <a:srgbClr val="222222"/>
                </a:solidFill>
                <a:latin typeface="Helvetica Neue"/>
              </a:rPr>
              <a:t>What are you afraid of documenting?</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End of deck</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 End of deck</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