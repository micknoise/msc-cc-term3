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78" r:id="rId8"/>
    <p:sldId id="262" r:id="rId9"/>
    <p:sldId id="277" r:id="rId10"/>
    <p:sldId id="263" r:id="rId11"/>
    <p:sldId id="264" r:id="rId12"/>
    <p:sldId id="280" r:id="rId13"/>
    <p:sldId id="265" r:id="rId14"/>
    <p:sldId id="266" r:id="rId15"/>
    <p:sldId id="267" r:id="rId16"/>
    <p:sldId id="268" r:id="rId17"/>
    <p:sldId id="279" r:id="rId18"/>
    <p:sldId id="269" r:id="rId19"/>
    <p:sldId id="270" r:id="rId20"/>
    <p:sldId id="271" r:id="rId21"/>
    <p:sldId id="272" r:id="rId22"/>
    <p:sldId id="281"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1"/>
    <p:restoredTop sz="94719"/>
  </p:normalViewPr>
  <p:slideViewPr>
    <p:cSldViewPr snapToGrid="0" snapToObjects="1">
      <p:cViewPr varScale="1">
        <p:scale>
          <a:sx n="142" d="100"/>
          <a:sy n="142" d="100"/>
        </p:scale>
        <p:origin x="184"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21F796-50C3-344D-A1E3-4166F3DF0C6A}"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FD322F-14B9-0B43-9E5E-CCA90C9AA813}" type="slidenum">
              <a:rPr lang="en-US" smtClean="0"/>
              <a:t>‹#›</a:t>
            </a:fld>
            <a:endParaRPr lang="en-US"/>
          </a:p>
        </p:txBody>
      </p:sp>
    </p:spTree>
    <p:extLst>
      <p:ext uri="{BB962C8B-B14F-4D97-AF65-F5344CB8AC3E}">
        <p14:creationId xmlns:p14="http://schemas.microsoft.com/office/powerpoint/2010/main" val="4285797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week moves from "what is research?" to "what kind of knowledge does practice actually produce, and why should anyone trust it?" We're drawing on three texts: Smith &amp; Dean, Candy, and Borgdorff. If students haven't read any of them, this session should still make sense — but the discussion will be richer if they have.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Quick recap — don't linger. The point is to bridge into today. Ask if anyone wants to challenge or revise anything from last week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Frame this as a toolkit, not a competition. Different projects will lean harder on different frameworks. The goal is to know all three well enough to choose.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These four questions are the throughline of today's session. Return to them at the end and see if students feel more equipped.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If you can, project the diagram from the introduction chapter — it's the most cited figure in the book. Ask students whether their current process looks more like a cycle or a straight 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If you can, project the diagram — it's the most cited figure in the book. The key thing to convey is that the two counter-rotating paths are *simultaneous*. Students who treat them as sequential (first make, then research — or first research, then make) miss the point. Ask: which path are you currently on? When did you last switch?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Connect directly back to the three habits from Week 1 (read, make, refine). Smith &amp; Dean gives the theoretical justification for that rhythm.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Ask students to think of a concrete case for each. A generative installation where the perceptual experience *is* the argument = practice-based. A series of studio experiments that produce a transferable method or framework, written up as a paper = practice-led. Both are valid.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has direct implications for how students structure their final submissions. If practice-based, the artefact and its documentation are load-bearing — a weak exhibition or poor documentation sinks the whole project. If practice-led, the written argument is load-bearing — a brilliant artefact won't save a weak text.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directly connects to Weeks 5 and 6 (documentation and reflection). For now, plant the seed: you need to think about evidence from the start, not bolt it on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most philosophical slide in the deck. Don't rush it. The Frayling triad is simple to state but surprisingly useful for students trying to figure out what kind of research they're doing. Most students' instinctive model is "research *for* the arts" (I study X to make better art). Borgdorff is saying something more radical: the making itself generates knowledge that wouldn't exist otherwise.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triad (intent, method, context) maps directly onto last week's triad (edge, wager, test). Different language, same underlying logic. Point this out explicitly.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point where science-background students often push back: "How can something be knowledge if you can't state it propositionally?" Good question. Respond with examples: a surgeon's procedural knowledge, a musician's embodied sense of timing, an engineer's feel for a material. All real, all resistant to full verbalisation. Borgdorff extends this argument to the arts as a domain of inquiry.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Spend a moment on the limitations row. Each framework has a failure mode. Smith &amp; Dean can become a licence for aimless cycling. Candy can become a pigeonholing exercise. Borgdorff can become a shield against critical scrutiny. Good research uses them as lenses, not as alibis.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single most important warning in today's lecture. Students who take "practice is research" to mean "I don't need to explain my work" will produce the weakest submissions. The strongest practice-based researchers are also excellent writers — precisely because they understand what language can and can't do.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practical takeaway slide. Pause here and let students think about their own projects. Which mode are they in? Do they know yet? It's fine if they don't — but they should be asking the question.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Give them a full 15 minutes. Circulate and listen. The most useful thing you can do here is ask follow-up questions: "You say it's practice-based — so where does the knowledge live? What would someone need to *experience* to understand your contribution?" Push gently.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 shift from Week 2 to Week 3 is from "how does practice produce knowledge" to "how do you find out what knowledge is *missing*." The reading task is designed to get them into the literature for the first time. Emphasise: any venue is fine. The goal is to practice reading *as a researcher*, not to find the perfect paper.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800" b="1" i="0">
                <a:solidFill>
                  <a:srgbClr val="1A1A2E"/>
                </a:solidFill>
                <a:latin typeface="Helvetica Neue"/>
              </a:rPr>
              <a:t>MSc Creative Computing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1969770"/>
          </a:xfrm>
          <a:prstGeom prst="rect">
            <a:avLst/>
          </a:prstGeom>
          <a:noFill/>
        </p:spPr>
        <p:txBody>
          <a:bodyPr wrap="square">
            <a:spAutoFit/>
          </a:bodyPr>
          <a:lstStyle/>
          <a:p>
            <a:endParaRPr dirty="0"/>
          </a:p>
          <a:p>
            <a:pPr algn="l">
              <a:buNone/>
            </a:pPr>
            <a:r>
              <a:rPr sz="2200" b="1" i="0" dirty="0">
                <a:solidFill>
                  <a:srgbClr val="1A1A2E"/>
                </a:solidFill>
                <a:latin typeface="Helvetica Neue"/>
              </a:rPr>
              <a:t>Practice as Research — Lecture 2</a:t>
            </a:r>
          </a:p>
          <a:p>
            <a:pPr algn="l">
              <a:buNone/>
            </a:pPr>
            <a:r>
              <a:rPr sz="2100" b="1" i="0" dirty="0">
                <a:solidFill>
                  <a:srgbClr val="1A1A2E"/>
                </a:solidFill>
                <a:latin typeface="Helvetica Neue"/>
              </a:rPr>
              <a:t>How practice produces knowledge</a:t>
            </a:r>
          </a:p>
          <a:p>
            <a:pPr>
              <a:buNone/>
            </a:pPr>
            <a:endParaRPr sz="2100" b="1" i="0" dirty="0">
              <a:solidFill>
                <a:srgbClr val="1A1A2E"/>
              </a:solidFill>
              <a:latin typeface="Helvetica Neue"/>
            </a:endParaRPr>
          </a:p>
          <a:p>
            <a:pPr algn="l">
              <a:buNone/>
            </a:pPr>
            <a:r>
              <a:rPr sz="2000" b="0" i="0" dirty="0">
                <a:solidFill>
                  <a:srgbClr val="222222"/>
                </a:solidFill>
                <a:latin typeface="Helvetica Neue"/>
              </a:rPr>
              <a:t>Mick Grierson — Creative Computing Institute, UAL</a:t>
            </a:r>
          </a:p>
          <a:p>
            <a:pPr>
              <a:buNone/>
            </a:pPr>
            <a:endParaRPr sz="2000" b="0" i="0" dirty="0">
              <a:solidFill>
                <a:srgbClr val="222222"/>
              </a:solidFill>
              <a:latin typeface="Helvetica Neue"/>
            </a:endParaRP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07996"/>
          </a:xfrm>
          <a:prstGeom prst="rect">
            <a:avLst/>
          </a:prstGeom>
          <a:noFill/>
        </p:spPr>
        <p:txBody>
          <a:bodyPr wrap="square">
            <a:spAutoFit/>
          </a:bodyPr>
          <a:lstStyle/>
          <a:p>
            <a:endParaRPr dirty="0"/>
          </a:p>
          <a:p>
            <a:r>
              <a:rPr lang="en-GB" sz="2400" b="1" i="0" dirty="0">
                <a:solidFill>
                  <a:srgbClr val="222222"/>
                </a:solidFill>
                <a:latin typeface="Helvetica Neue"/>
              </a:rPr>
              <a:t>Practice as Research</a:t>
            </a:r>
          </a:p>
          <a:p>
            <a:pPr algn="l">
              <a:buNone/>
            </a:pPr>
            <a:endParaRPr sz="2400" b="1" i="0" dirty="0">
              <a:solidFill>
                <a:srgbClr val="1A1A2E"/>
              </a:solidFill>
              <a:latin typeface="Helvetica Neue"/>
            </a:endParaRP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1292662"/>
          </a:xfrm>
          <a:prstGeom prst="rect">
            <a:avLst/>
          </a:prstGeom>
          <a:noFill/>
        </p:spPr>
        <p:txBody>
          <a:bodyPr wrap="square">
            <a:spAutoFit/>
          </a:bodyPr>
          <a:lstStyle/>
          <a:p>
            <a:endParaRPr dirty="0"/>
          </a:p>
          <a:p>
            <a:pPr algn="l">
              <a:buNone/>
            </a:pPr>
            <a:r>
              <a:rPr sz="2000" b="0" i="0" dirty="0">
                <a:solidFill>
                  <a:srgbClr val="222222"/>
                </a:solidFill>
                <a:latin typeface="Helvetica Neue"/>
              </a:rPr>
              <a:t>Lecture 2 of 8 — How practice produces knowledge</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Mick Grierson, Creative Computing Institute, UAL</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Recap: where we left off</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Last week we established:</a:t>
            </a:r>
          </a:p>
          <a:p>
            <a:pPr>
              <a:buNone/>
            </a:pPr>
            <a:endParaRPr sz="2000" b="0" i="0">
              <a:solidFill>
                <a:srgbClr val="222222"/>
              </a:solidFill>
              <a:latin typeface="Helvetica Neue"/>
            </a:endParaRPr>
          </a:p>
          <a:p>
            <a:pPr marL="342900" algn="l">
              <a:buNone/>
            </a:pPr>
            <a:r>
              <a:rPr sz="2000" b="0" i="0">
                <a:solidFill>
                  <a:srgbClr val="222222"/>
                </a:solidFill>
                <a:latin typeface="Helvetica Neue"/>
              </a:rPr>
              <a:t>1.  Research is a structured attempt to produce something not previously known, in a form others can examine.</a:t>
            </a:r>
          </a:p>
          <a:p>
            <a:pPr marL="342900" algn="l">
              <a:buNone/>
            </a:pPr>
            <a:r>
              <a:rPr sz="2000" b="0" i="0">
                <a:solidFill>
                  <a:srgbClr val="222222"/>
                </a:solidFill>
                <a:latin typeface="Helvetica Neue"/>
              </a:rPr>
              <a:t>2.  Practice-based research mostly produces </a:t>
            </a:r>
            <a:r>
              <a:rPr sz="2000" b="1" i="0">
                <a:solidFill>
                  <a:srgbClr val="222222"/>
                </a:solidFill>
                <a:latin typeface="Helvetica Neue"/>
              </a:rPr>
              <a:t>procedural, tacit, and situated</a:t>
            </a:r>
            <a:r>
              <a:rPr sz="2000" b="0" i="0">
                <a:solidFill>
                  <a:srgbClr val="222222"/>
                </a:solidFill>
                <a:latin typeface="Helvetica Neue"/>
              </a:rPr>
              <a:t> knowledge.</a:t>
            </a:r>
          </a:p>
          <a:p>
            <a:pPr marL="342900" algn="l">
              <a:buNone/>
            </a:pPr>
            <a:r>
              <a:rPr sz="2000" b="0" i="0">
                <a:solidFill>
                  <a:srgbClr val="222222"/>
                </a:solidFill>
                <a:latin typeface="Helvetica Neue"/>
              </a:rPr>
              <a:t>3.  The difference between a project and a research project is naming the </a:t>
            </a:r>
            <a:r>
              <a:rPr sz="2000" b="1" i="0">
                <a:solidFill>
                  <a:srgbClr val="222222"/>
                </a:solidFill>
                <a:latin typeface="Helvetica Neue"/>
              </a:rPr>
              <a:t>edge</a:t>
            </a:r>
            <a:r>
              <a:rPr sz="2000" b="0" i="0">
                <a:solidFill>
                  <a:srgbClr val="222222"/>
                </a:solidFill>
                <a:latin typeface="Helvetica Neue"/>
              </a:rPr>
              <a:t>, the </a:t>
            </a:r>
            <a:r>
              <a:rPr sz="2000" b="1" i="0">
                <a:solidFill>
                  <a:srgbClr val="222222"/>
                </a:solidFill>
                <a:latin typeface="Helvetica Neue"/>
              </a:rPr>
              <a:t>wager</a:t>
            </a:r>
            <a:r>
              <a:rPr sz="2000" b="0" i="0">
                <a:solidFill>
                  <a:srgbClr val="222222"/>
                </a:solidFill>
                <a:latin typeface="Helvetica Neue"/>
              </a:rPr>
              <a:t>, and the </a:t>
            </a:r>
            <a:r>
              <a:rPr sz="2000" b="1" i="0">
                <a:solidFill>
                  <a:srgbClr val="222222"/>
                </a:solidFill>
                <a:latin typeface="Helvetica Neue"/>
              </a:rPr>
              <a:t>test</a:t>
            </a:r>
            <a:r>
              <a:rPr sz="2000" b="0" i="0">
                <a:solidFill>
                  <a:srgbClr val="222222"/>
                </a:solidFill>
                <a:latin typeface="Helvetica Neue"/>
              </a:rPr>
              <a:t>.</a:t>
            </a:r>
          </a:p>
          <a:p>
            <a:pPr>
              <a:buNone/>
            </a:pPr>
            <a:endParaRPr sz="2000" b="0" i="0">
              <a:solidFill>
                <a:srgbClr val="222222"/>
              </a:solidFill>
              <a:latin typeface="Helvetica Neue"/>
            </a:endParaRPr>
          </a:p>
          <a:p>
            <a:pPr algn="l">
              <a:buNone/>
            </a:pPr>
            <a:r>
              <a:rPr sz="2000" b="0" i="0">
                <a:solidFill>
                  <a:srgbClr val="222222"/>
                </a:solidFill>
                <a:latin typeface="Helvetica Neue"/>
              </a:rPr>
              <a:t>Today's question: </a:t>
            </a:r>
            <a:r>
              <a:rPr sz="2000" b="0" i="1">
                <a:solidFill>
                  <a:srgbClr val="222222"/>
                </a:solidFill>
                <a:latin typeface="Helvetica Neue"/>
              </a:rPr>
              <a:t>how</a:t>
            </a:r>
            <a:r>
              <a:rPr sz="2000" b="0" i="0">
                <a:solidFill>
                  <a:srgbClr val="222222"/>
                </a:solidFill>
                <a:latin typeface="Helvetica Neue"/>
              </a:rPr>
              <a:t> does practice do this? What are the mechanisms? And who has tried to map them?</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Three texts, three frames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We're working with three attempts to explain how practice produces knowledge:</a:t>
            </a:r>
          </a:p>
          <a:p>
            <a:pPr>
              <a:buNone/>
            </a:pPr>
            <a:endParaRPr sz="2000" b="0" i="0">
              <a:solidFill>
                <a:srgbClr val="222222"/>
              </a:solidFill>
              <a:latin typeface="Helvetica Neue"/>
            </a:endParaRPr>
          </a:p>
          <a:p>
            <a:pPr marL="342900" indent="-342900" algn="l">
              <a:buChar char="•"/>
            </a:pPr>
            <a:r>
              <a:rPr sz="2000" b="1" i="0">
                <a:solidFill>
                  <a:srgbClr val="222222"/>
                </a:solidFill>
                <a:latin typeface="Helvetica Neue"/>
              </a:rPr>
              <a:t>Smith &amp; Dean (2009)</a:t>
            </a:r>
            <a:r>
              <a:rPr sz="2000" b="0" i="0">
                <a:solidFill>
                  <a:srgbClr val="222222"/>
                </a:solidFill>
                <a:latin typeface="Helvetica Neue"/>
              </a:rPr>
              <a:t> — practice and research as an </a:t>
            </a:r>
            <a:r>
              <a:rPr sz="2000" b="0" i="1">
                <a:solidFill>
                  <a:srgbClr val="222222"/>
                </a:solidFill>
                <a:latin typeface="Helvetica Neue"/>
              </a:rPr>
              <a:t>iterative cycle</a:t>
            </a:r>
            <a:r>
              <a:rPr sz="2000" b="0" i="0">
                <a:solidFill>
                  <a:srgbClr val="222222"/>
                </a:solidFill>
                <a:latin typeface="Helvetica Neue"/>
              </a:rPr>
              <a:t>, not two separate activities.</a:t>
            </a:r>
          </a:p>
          <a:p>
            <a:pPr marL="342900" indent="-342900" algn="l">
              <a:buChar char="•"/>
            </a:pPr>
            <a:r>
              <a:rPr sz="2000" b="1" i="0">
                <a:solidFill>
                  <a:srgbClr val="222222"/>
                </a:solidFill>
                <a:latin typeface="Helvetica Neue"/>
              </a:rPr>
              <a:t>Candy (2006)</a:t>
            </a:r>
            <a:r>
              <a:rPr sz="2000" b="0" i="0">
                <a:solidFill>
                  <a:srgbClr val="222222"/>
                </a:solidFill>
                <a:latin typeface="Helvetica Neue"/>
              </a:rPr>
              <a:t> — a distinction between </a:t>
            </a:r>
            <a:r>
              <a:rPr sz="2000" b="0" i="1">
                <a:solidFill>
                  <a:srgbClr val="222222"/>
                </a:solidFill>
                <a:latin typeface="Helvetica Neue"/>
              </a:rPr>
              <a:t>practice-based</a:t>
            </a:r>
            <a:r>
              <a:rPr sz="2000" b="0" i="0">
                <a:solidFill>
                  <a:srgbClr val="222222"/>
                </a:solidFill>
                <a:latin typeface="Helvetica Neue"/>
              </a:rPr>
              <a:t> and </a:t>
            </a:r>
            <a:r>
              <a:rPr sz="2000" b="0" i="1">
                <a:solidFill>
                  <a:srgbClr val="222222"/>
                </a:solidFill>
                <a:latin typeface="Helvetica Neue"/>
              </a:rPr>
              <a:t>practice-led</a:t>
            </a:r>
            <a:r>
              <a:rPr sz="2000" b="0" i="0">
                <a:solidFill>
                  <a:srgbClr val="222222"/>
                </a:solidFill>
                <a:latin typeface="Helvetica Neue"/>
              </a:rPr>
              <a:t> research, and what counts as evidence.</a:t>
            </a:r>
          </a:p>
          <a:p>
            <a:pPr marL="342900" indent="-342900" algn="l">
              <a:buChar char="•"/>
            </a:pPr>
            <a:r>
              <a:rPr sz="2000" b="1" i="0">
                <a:solidFill>
                  <a:srgbClr val="222222"/>
                </a:solidFill>
                <a:latin typeface="Helvetica Neue"/>
              </a:rPr>
              <a:t>Borgdorff (2011)</a:t>
            </a:r>
            <a:r>
              <a:rPr sz="2000" b="0" i="0">
                <a:solidFill>
                  <a:srgbClr val="222222"/>
                </a:solidFill>
                <a:latin typeface="Helvetica Neue"/>
              </a:rPr>
              <a:t> — a philosophical argument that artistic practice is </a:t>
            </a:r>
            <a:r>
              <a:rPr sz="2000" b="0" i="1">
                <a:solidFill>
                  <a:srgbClr val="222222"/>
                </a:solidFill>
                <a:latin typeface="Helvetica Neue"/>
              </a:rPr>
              <a:t>itself</a:t>
            </a:r>
            <a:r>
              <a:rPr sz="2000" b="0" i="0">
                <a:solidFill>
                  <a:srgbClr val="222222"/>
                </a:solidFill>
                <a:latin typeface="Helvetica Neue"/>
              </a:rPr>
              <a:t> a form of knowledge production, not merely the subject of it.</a:t>
            </a:r>
          </a:p>
          <a:p>
            <a:pPr>
              <a:buNone/>
            </a:pPr>
            <a:endParaRPr sz="2000" b="0" i="0">
              <a:solidFill>
                <a:srgbClr val="222222"/>
              </a:solidFill>
              <a:latin typeface="Helvetica Neue"/>
            </a:endParaRPr>
          </a:p>
          <a:p>
            <a:pPr algn="l">
              <a:buNone/>
            </a:pPr>
            <a:r>
              <a:rPr sz="2000" b="0" i="0">
                <a:solidFill>
                  <a:srgbClr val="222222"/>
                </a:solidFill>
                <a:latin typeface="Helvetica Neue"/>
              </a:rPr>
              <a:t>Each gives you a different angle. None is complete alone.</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Why does this matter practically?</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Because at some point you'll need to answer these questions about your own work:</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What kind of knowledge is my project producing?</a:t>
            </a:r>
          </a:p>
          <a:p>
            <a:pPr marL="342900" indent="-342900" algn="l">
              <a:buChar char="•"/>
            </a:pPr>
            <a:r>
              <a:rPr sz="2000" b="0" i="0">
                <a:solidFill>
                  <a:srgbClr val="222222"/>
                </a:solidFill>
                <a:latin typeface="Helvetica Neue"/>
              </a:rPr>
              <a:t>How do I know it's new?</a:t>
            </a:r>
          </a:p>
          <a:p>
            <a:pPr marL="342900" indent="-342900" algn="l">
              <a:buChar char="•"/>
            </a:pPr>
            <a:r>
              <a:rPr sz="2000" b="0" i="0">
                <a:solidFill>
                  <a:srgbClr val="222222"/>
                </a:solidFill>
                <a:latin typeface="Helvetica Neue"/>
              </a:rPr>
              <a:t>How do I show someone else it's real?</a:t>
            </a:r>
          </a:p>
          <a:p>
            <a:pPr marL="342900" indent="-342900" algn="l">
              <a:buChar char="•"/>
            </a:pPr>
            <a:r>
              <a:rPr sz="2000" b="0" i="0">
                <a:solidFill>
                  <a:srgbClr val="222222"/>
                </a:solidFill>
                <a:latin typeface="Helvetica Neue"/>
              </a:rPr>
              <a:t>Where does the knowledge </a:t>
            </a:r>
            <a:r>
              <a:rPr sz="2000" b="0" i="1">
                <a:solidFill>
                  <a:srgbClr val="222222"/>
                </a:solidFill>
                <a:latin typeface="Helvetica Neue"/>
              </a:rPr>
              <a:t>live</a:t>
            </a:r>
            <a:r>
              <a:rPr sz="2000" b="0" i="0">
                <a:solidFill>
                  <a:srgbClr val="222222"/>
                </a:solidFill>
                <a:latin typeface="Helvetica Neue"/>
              </a:rPr>
              <a:t> — in the artefact, in the documentation, in the method, or somewhere else?</a:t>
            </a:r>
          </a:p>
          <a:p>
            <a:pPr>
              <a:buNone/>
            </a:pPr>
            <a:endParaRPr sz="2000" b="0" i="0">
              <a:solidFill>
                <a:srgbClr val="222222"/>
              </a:solidFill>
              <a:latin typeface="Helvetica Neue"/>
            </a:endParaRPr>
          </a:p>
          <a:p>
            <a:pPr algn="l">
              <a:buNone/>
            </a:pPr>
            <a:r>
              <a:rPr sz="2000" b="0" i="0">
                <a:solidFill>
                  <a:srgbClr val="222222"/>
                </a:solidFill>
                <a:latin typeface="Helvetica Neue"/>
              </a:rPr>
              <a:t>If you can't answer these, you have a project but not yet a research project.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Smith &amp; Dean: the iterative cyclic web</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Smith &amp; Dean's central contribution is a diagram — the "iterative cyclic web of practice-led research and research-led practice."</a:t>
            </a:r>
          </a:p>
          <a:p>
            <a:pPr>
              <a:buNone/>
            </a:pPr>
            <a:endParaRPr sz="2000" b="0" i="0">
              <a:solidFill>
                <a:srgbClr val="222222"/>
              </a:solidFill>
              <a:latin typeface="Helvetica Neue"/>
            </a:endParaRPr>
          </a:p>
          <a:p>
            <a:pPr algn="l">
              <a:buNone/>
            </a:pPr>
            <a:r>
              <a:rPr sz="2000" b="0" i="0">
                <a:solidFill>
                  <a:srgbClr val="222222"/>
                </a:solidFill>
                <a:latin typeface="Helvetica Neue"/>
              </a:rPr>
              <a:t>The key insight: </a:t>
            </a:r>
            <a:r>
              <a:rPr sz="2000" b="1" i="0">
                <a:solidFill>
                  <a:srgbClr val="222222"/>
                </a:solidFill>
                <a:latin typeface="Helvetica Neue"/>
              </a:rPr>
              <a:t>practice and research are not sequential</a:t>
            </a:r>
            <a:r>
              <a:rPr sz="2000" b="0" i="0">
                <a:solidFill>
                  <a:srgbClr val="222222"/>
                </a:solidFill>
                <a:latin typeface="Helvetica Neue"/>
              </a:rPr>
              <a:t> (first I research, then I make — or first I make, then I write about it). They are interleaved and mutually generative.</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Practice generates questions that research cannot anticipate.</a:t>
            </a:r>
          </a:p>
          <a:p>
            <a:pPr marL="342900" indent="-342900" algn="l">
              <a:buChar char="•"/>
            </a:pPr>
            <a:r>
              <a:rPr sz="2000" b="0" i="0">
                <a:solidFill>
                  <a:srgbClr val="222222"/>
                </a:solidFill>
                <a:latin typeface="Helvetica Neue"/>
              </a:rPr>
              <a:t>Research reframes what you're doing in the studio, and opens directions you wouldn't have found by making alone.</a:t>
            </a:r>
          </a:p>
          <a:p>
            <a:pPr>
              <a:buNone/>
            </a:pPr>
            <a:endParaRPr sz="2000" b="0" i="0">
              <a:solidFill>
                <a:srgbClr val="222222"/>
              </a:solidFill>
              <a:latin typeface="Helvetica Neue"/>
            </a:endParaRPr>
          </a:p>
          <a:p>
            <a:pPr algn="l">
              <a:buNone/>
            </a:pPr>
            <a:r>
              <a:rPr sz="2000" b="0" i="0">
                <a:solidFill>
                  <a:srgbClr val="222222"/>
                </a:solidFill>
                <a:latin typeface="Helvetica Neue"/>
              </a:rPr>
              <a:t>The cycle runs continuously, not once.</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circle with a white border&#10;&#10;Description automatically generated">
            <a:extLst>
              <a:ext uri="{FF2B5EF4-FFF2-40B4-BE49-F238E27FC236}">
                <a16:creationId xmlns:a16="http://schemas.microsoft.com/office/drawing/2014/main" id="{470AA445-6F45-A8C2-AFFA-E3122DA2D209}"/>
              </a:ext>
            </a:extLst>
          </p:cNvPr>
          <p:cNvPicPr>
            <a:picLocks noChangeAspect="1"/>
          </p:cNvPicPr>
          <p:nvPr/>
        </p:nvPicPr>
        <p:blipFill>
          <a:blip r:embed="rId2"/>
          <a:stretch>
            <a:fillRect/>
          </a:stretch>
        </p:blipFill>
        <p:spPr>
          <a:xfrm>
            <a:off x="2501764" y="643467"/>
            <a:ext cx="7188472"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197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Smith &amp; Dean: unpacking the cycle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1800" b="0" i="0">
                <a:solidFill>
                  <a:srgbClr val="222222"/>
                </a:solidFill>
                <a:latin typeface="Helvetica Neue"/>
              </a:rPr>
              <a:t>The diagram has </a:t>
            </a:r>
            <a:r>
              <a:rPr sz="1800" b="1" i="0">
                <a:solidFill>
                  <a:srgbClr val="222222"/>
                </a:solidFill>
                <a:latin typeface="Helvetica Neue"/>
              </a:rPr>
              <a:t>three nodes</a:t>
            </a:r>
            <a:r>
              <a:rPr sz="1800" b="0" i="0">
                <a:solidFill>
                  <a:srgbClr val="222222"/>
                </a:solidFill>
                <a:latin typeface="Helvetica Neue"/>
              </a:rPr>
              <a:t>, not a linear sequence:</a:t>
            </a:r>
          </a:p>
          <a:p>
            <a:pPr>
              <a:buNone/>
            </a:pPr>
            <a:endParaRPr sz="1800" b="0" i="0">
              <a:solidFill>
                <a:srgbClr val="222222"/>
              </a:solidFill>
              <a:latin typeface="Helvetica Neue"/>
            </a:endParaRPr>
          </a:p>
          <a:p>
            <a:pPr marL="342900" algn="l">
              <a:buNone/>
            </a:pPr>
            <a:r>
              <a:rPr sz="1800" b="0" i="0">
                <a:solidFill>
                  <a:srgbClr val="222222"/>
                </a:solidFill>
                <a:latin typeface="Helvetica Neue"/>
              </a:rPr>
              <a:t>1.  </a:t>
            </a:r>
            <a:r>
              <a:rPr sz="1800" b="1" i="0">
                <a:solidFill>
                  <a:srgbClr val="222222"/>
                </a:solidFill>
                <a:latin typeface="Helvetica Neue"/>
              </a:rPr>
              <a:t>Practice / creative work</a:t>
            </a:r>
          </a:p>
          <a:p>
            <a:pPr marL="342900" algn="l">
              <a:buNone/>
            </a:pPr>
            <a:r>
              <a:rPr sz="1800" b="0" i="0">
                <a:solidFill>
                  <a:srgbClr val="222222"/>
                </a:solidFill>
                <a:latin typeface="Helvetica Neue"/>
              </a:rPr>
              <a:t>2.  </a:t>
            </a:r>
            <a:r>
              <a:rPr sz="1800" b="1" i="0">
                <a:solidFill>
                  <a:srgbClr val="222222"/>
                </a:solidFill>
                <a:latin typeface="Helvetica Neue"/>
              </a:rPr>
              <a:t>Research</a:t>
            </a:r>
          </a:p>
          <a:p>
            <a:pPr marL="342900" algn="l">
              <a:buNone/>
            </a:pPr>
            <a:r>
              <a:rPr sz="1800" b="0" i="0">
                <a:solidFill>
                  <a:srgbClr val="222222"/>
                </a:solidFill>
                <a:latin typeface="Helvetica Neue"/>
              </a:rPr>
              <a:t>3.  </a:t>
            </a:r>
            <a:r>
              <a:rPr sz="1800" b="1" i="0">
                <a:solidFill>
                  <a:srgbClr val="222222"/>
                </a:solidFill>
                <a:latin typeface="Helvetica Neue"/>
              </a:rPr>
              <a:t>Output</a:t>
            </a:r>
            <a:r>
              <a:rPr sz="1800" b="0" i="0">
                <a:solidFill>
                  <a:srgbClr val="222222"/>
                </a:solidFill>
                <a:latin typeface="Helvetica Neue"/>
              </a:rPr>
              <a:t> (artefact and/or text)</a:t>
            </a:r>
          </a:p>
          <a:p>
            <a:pPr>
              <a:buNone/>
            </a:pPr>
            <a:endParaRPr sz="1800" b="0" i="0">
              <a:solidFill>
                <a:srgbClr val="222222"/>
              </a:solidFill>
              <a:latin typeface="Helvetica Neue"/>
            </a:endParaRPr>
          </a:p>
          <a:p>
            <a:pPr algn="l">
              <a:buNone/>
            </a:pPr>
            <a:r>
              <a:rPr sz="1800" b="0" i="0">
                <a:solidFill>
                  <a:srgbClr val="222222"/>
                </a:solidFill>
                <a:latin typeface="Helvetica Neue"/>
              </a:rPr>
              <a:t>Two paths run through these nodes simultaneously:</a:t>
            </a:r>
          </a:p>
          <a:p>
            <a:pPr>
              <a:buNone/>
            </a:pPr>
            <a:endParaRPr sz="1800" b="0" i="0">
              <a:solidFill>
                <a:srgbClr val="222222"/>
              </a:solidFill>
              <a:latin typeface="Helvetica Neue"/>
            </a:endParaRPr>
          </a:p>
          <a:p>
            <a:pPr marL="342900" indent="-342900" algn="l">
              <a:buChar char="•"/>
            </a:pPr>
            <a:r>
              <a:rPr sz="1800" b="1" i="0">
                <a:solidFill>
                  <a:srgbClr val="222222"/>
                </a:solidFill>
                <a:latin typeface="Helvetica Neue"/>
              </a:rPr>
              <a:t>Clockwise: the creative practice path.</a:t>
            </a:r>
            <a:r>
              <a:rPr sz="1800" b="0" i="0">
                <a:solidFill>
                  <a:srgbClr val="222222"/>
                </a:solidFill>
                <a:latin typeface="Helvetica Neue"/>
              </a:rPr>
              <a:t> Practice generates output, output prompts further practice.</a:t>
            </a:r>
          </a:p>
          <a:p>
            <a:pPr marL="342900" indent="-342900" algn="l">
              <a:buChar char="•"/>
            </a:pPr>
            <a:r>
              <a:rPr sz="1800" b="1" i="0">
                <a:solidFill>
                  <a:srgbClr val="222222"/>
                </a:solidFill>
                <a:latin typeface="Helvetica Neue"/>
              </a:rPr>
              <a:t>Anticlockwise: the research path.</a:t>
            </a:r>
            <a:r>
              <a:rPr sz="1800" b="0" i="0">
                <a:solidFill>
                  <a:srgbClr val="222222"/>
                </a:solidFill>
                <a:latin typeface="Helvetica Neue"/>
              </a:rPr>
              <a:t> Research reframes the output, the output raises new research questions.</a:t>
            </a:r>
          </a:p>
          <a:p>
            <a:pPr>
              <a:buNone/>
            </a:pPr>
            <a:endParaRPr sz="1800" b="0" i="0">
              <a:solidFill>
                <a:srgbClr val="222222"/>
              </a:solidFill>
              <a:latin typeface="Helvetica Neue"/>
            </a:endParaRPr>
          </a:p>
          <a:p>
            <a:pPr algn="l">
              <a:buNone/>
            </a:pPr>
            <a:r>
              <a:rPr sz="1800" b="0" i="0">
                <a:solidFill>
                  <a:srgbClr val="222222"/>
                </a:solidFill>
                <a:latin typeface="Helvetica Neue"/>
              </a:rPr>
              <a:t>The two paths intersect and feed each other at every node. That's what makes it a </a:t>
            </a:r>
            <a:r>
              <a:rPr sz="1800" b="0" i="1">
                <a:solidFill>
                  <a:srgbClr val="222222"/>
                </a:solidFill>
                <a:latin typeface="Helvetica Neue"/>
              </a:rPr>
              <a:t>web</a:t>
            </a:r>
            <a:r>
              <a:rPr sz="1800" b="0" i="0">
                <a:solidFill>
                  <a:srgbClr val="222222"/>
                </a:solidFill>
                <a:latin typeface="Helvetica Neue"/>
              </a:rPr>
              <a:t>, not a pipeline. At any point, the direction of travel can reverse — a research insight redirects the practice, a surprise in the studio sends you back to the literature.</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diagram of a scientific research process&#10;&#10;Description automatically generated">
            <a:extLst>
              <a:ext uri="{FF2B5EF4-FFF2-40B4-BE49-F238E27FC236}">
                <a16:creationId xmlns:a16="http://schemas.microsoft.com/office/drawing/2014/main" id="{5DC391AD-8FCD-F23F-CD3A-35AD26A80090}"/>
              </a:ext>
            </a:extLst>
          </p:cNvPr>
          <p:cNvPicPr>
            <a:picLocks noChangeAspect="1"/>
          </p:cNvPicPr>
          <p:nvPr/>
        </p:nvPicPr>
        <p:blipFill>
          <a:blip r:embed="rId2"/>
          <a:stretch>
            <a:fillRect/>
          </a:stretch>
        </p:blipFill>
        <p:spPr>
          <a:xfrm>
            <a:off x="2306159" y="643466"/>
            <a:ext cx="7579682" cy="5571067"/>
          </a:xfrm>
          <a:prstGeom prst="rect">
            <a:avLst/>
          </a:prstGeom>
        </p:spPr>
      </p:pic>
    </p:spTree>
    <p:extLst>
      <p:ext uri="{BB962C8B-B14F-4D97-AF65-F5344CB8AC3E}">
        <p14:creationId xmlns:p14="http://schemas.microsoft.com/office/powerpoint/2010/main" val="825259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Smith &amp; Dean: what this means for you</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Practically, the iterative cyclic web tells you:</a:t>
            </a:r>
          </a:p>
          <a:p>
            <a:pPr>
              <a:buNone/>
            </a:pPr>
            <a:endParaRPr sz="2000" b="0" i="0">
              <a:solidFill>
                <a:srgbClr val="222222"/>
              </a:solidFill>
              <a:latin typeface="Helvetica Neue"/>
            </a:endParaRPr>
          </a:p>
          <a:p>
            <a:pPr marL="342900" indent="-342900" algn="l">
              <a:buChar char="•"/>
            </a:pPr>
            <a:r>
              <a:rPr sz="2000" b="1" i="0">
                <a:solidFill>
                  <a:srgbClr val="222222"/>
                </a:solidFill>
                <a:latin typeface="Helvetica Neue"/>
              </a:rPr>
              <a:t>Don't wait to finish making before you start contextualising.</a:t>
            </a:r>
            <a:r>
              <a:rPr sz="2000" b="0" i="0">
                <a:solidFill>
                  <a:srgbClr val="222222"/>
                </a:solidFill>
                <a:latin typeface="Helvetica Neue"/>
              </a:rPr>
              <a:t> Read while you make. Let the reading change what you make. Let the making change what you read.</a:t>
            </a:r>
          </a:p>
          <a:p>
            <a:pPr marL="342900" indent="-342900" algn="l">
              <a:buChar char="•"/>
            </a:pPr>
            <a:r>
              <a:rPr sz="2000" b="1" i="0">
                <a:solidFill>
                  <a:srgbClr val="222222"/>
                </a:solidFill>
                <a:latin typeface="Helvetica Neue"/>
              </a:rPr>
              <a:t>Don't treat the written output as a retrospective report.</a:t>
            </a:r>
            <a:r>
              <a:rPr sz="2000" b="0" i="0">
                <a:solidFill>
                  <a:srgbClr val="222222"/>
                </a:solidFill>
                <a:latin typeface="Helvetica Neue"/>
              </a:rPr>
              <a:t> It's a living document that evolves alongside the practice.</a:t>
            </a:r>
          </a:p>
          <a:p>
            <a:pPr marL="342900" indent="-342900" algn="l">
              <a:buChar char="•"/>
            </a:pPr>
            <a:r>
              <a:rPr sz="2000" b="1" i="0">
                <a:solidFill>
                  <a:srgbClr val="222222"/>
                </a:solidFill>
                <a:latin typeface="Helvetica Neue"/>
              </a:rPr>
              <a:t>Expect your research question to change.</a:t>
            </a:r>
            <a:r>
              <a:rPr sz="2000" b="0" i="0">
                <a:solidFill>
                  <a:srgbClr val="222222"/>
                </a:solidFill>
                <a:latin typeface="Helvetica Neue"/>
              </a:rPr>
              <a:t> If it doesn't, you probably aren't genuinely cycling.</a:t>
            </a:r>
          </a:p>
          <a:p>
            <a:pPr>
              <a:buNone/>
            </a:pPr>
            <a:endParaRPr sz="2000" b="0" i="0">
              <a:solidFill>
                <a:srgbClr val="222222"/>
              </a:solidFill>
              <a:latin typeface="Helvetica Neue"/>
            </a:endParaRPr>
          </a:p>
          <a:p>
            <a:pPr algn="l">
              <a:buNone/>
            </a:pPr>
            <a:r>
              <a:rPr sz="2000" b="0" i="0">
                <a:solidFill>
                  <a:srgbClr val="222222"/>
                </a:solidFill>
                <a:latin typeface="Helvetica Neue"/>
              </a:rPr>
              <a:t>This is why I asked you to read, make, and refine </a:t>
            </a:r>
            <a:r>
              <a:rPr sz="2000" b="0" i="1">
                <a:solidFill>
                  <a:srgbClr val="222222"/>
                </a:solidFill>
                <a:latin typeface="Helvetica Neue"/>
              </a:rPr>
              <a:t>every week</a:t>
            </a:r>
            <a:r>
              <a:rPr sz="2000" b="0" i="0">
                <a:solidFill>
                  <a:srgbClr val="222222"/>
                </a:solidFill>
                <a:latin typeface="Helvetica Neue"/>
              </a:rPr>
              <a: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Candy: practice-based vs practice-led</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Linda Candy draws a distinction that the field now uses routinely:</a:t>
            </a:r>
          </a:p>
          <a:p>
            <a:pPr>
              <a:buNone/>
            </a:pPr>
            <a:endParaRPr sz="2000" b="0" i="0">
              <a:solidFill>
                <a:srgbClr val="222222"/>
              </a:solidFill>
              <a:latin typeface="Helvetica Neue"/>
            </a:endParaRPr>
          </a:p>
          <a:p>
            <a:pPr algn="l">
              <a:buNone/>
            </a:pPr>
            <a:r>
              <a:rPr sz="2000" b="1" i="0">
                <a:solidFill>
                  <a:srgbClr val="222222"/>
                </a:solidFill>
                <a:latin typeface="Helvetica Neue"/>
              </a:rPr>
              <a:t>Practice-based research:</a:t>
            </a:r>
            <a:r>
              <a:rPr sz="2000" b="0" i="0">
                <a:solidFill>
                  <a:srgbClr val="222222"/>
                </a:solidFill>
                <a:latin typeface="Helvetica Neue"/>
              </a:rPr>
              <a:t> the creative artefact is the </a:t>
            </a:r>
            <a:r>
              <a:rPr sz="2000" b="0" i="1">
                <a:solidFill>
                  <a:srgbClr val="222222"/>
                </a:solidFill>
                <a:latin typeface="Helvetica Neue"/>
              </a:rPr>
              <a:t>basis</a:t>
            </a:r>
            <a:r>
              <a:rPr sz="2000" b="0" i="0">
                <a:solidFill>
                  <a:srgbClr val="222222"/>
                </a:solidFill>
                <a:latin typeface="Helvetica Neue"/>
              </a:rPr>
              <a:t> of the contribution to knowledge. The claim cannot be made without the artefact. The artefact is not an illustration of the research — it </a:t>
            </a:r>
            <a:r>
              <a:rPr sz="2000" b="0" i="1">
                <a:solidFill>
                  <a:srgbClr val="222222"/>
                </a:solidFill>
                <a:latin typeface="Helvetica Neue"/>
              </a:rPr>
              <a:t>is</a:t>
            </a:r>
            <a:r>
              <a:rPr sz="2000" b="0" i="0">
                <a:solidFill>
                  <a:srgbClr val="222222"/>
                </a:solidFill>
                <a:latin typeface="Helvetica Neue"/>
              </a:rPr>
              <a:t> the research, or at least an indispensable part of it.</a:t>
            </a:r>
          </a:p>
          <a:p>
            <a:pPr>
              <a:buNone/>
            </a:pPr>
            <a:endParaRPr sz="2000" b="0" i="0">
              <a:solidFill>
                <a:srgbClr val="222222"/>
              </a:solidFill>
              <a:latin typeface="Helvetica Neue"/>
            </a:endParaRPr>
          </a:p>
          <a:p>
            <a:pPr algn="l">
              <a:buNone/>
            </a:pPr>
            <a:r>
              <a:rPr sz="2000" b="1" i="0">
                <a:solidFill>
                  <a:srgbClr val="222222"/>
                </a:solidFill>
                <a:latin typeface="Helvetica Neue"/>
              </a:rPr>
              <a:t>Practice-led research:</a:t>
            </a:r>
            <a:r>
              <a:rPr sz="2000" b="0" i="0">
                <a:solidFill>
                  <a:srgbClr val="222222"/>
                </a:solidFill>
                <a:latin typeface="Helvetica Neue"/>
              </a:rPr>
              <a:t> practice is the </a:t>
            </a:r>
            <a:r>
              <a:rPr sz="2000" b="0" i="1">
                <a:solidFill>
                  <a:srgbClr val="222222"/>
                </a:solidFill>
                <a:latin typeface="Helvetica Neue"/>
              </a:rPr>
              <a:t>method</a:t>
            </a:r>
            <a:r>
              <a:rPr sz="2000" b="0" i="0">
                <a:solidFill>
                  <a:srgbClr val="222222"/>
                </a:solidFill>
                <a:latin typeface="Helvetica Neue"/>
              </a:rPr>
              <a:t> that leads to new understandings, but the contribution is primarily articulated in a text — a paper, a thesis, a framework. The practice informs the research but the knowledge output is separable from the artefact.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drawing of two cubes&#10;&#10;Description automatically generated">
            <a:extLst>
              <a:ext uri="{FF2B5EF4-FFF2-40B4-BE49-F238E27FC236}">
                <a16:creationId xmlns:a16="http://schemas.microsoft.com/office/drawing/2014/main" id="{BA7257EA-ACC9-0225-D100-1201E197DB50}"/>
              </a:ext>
            </a:extLst>
          </p:cNvPr>
          <p:cNvPicPr>
            <a:picLocks noChangeAspect="1"/>
          </p:cNvPicPr>
          <p:nvPr/>
        </p:nvPicPr>
        <p:blipFill>
          <a:blip r:embed="rId2"/>
          <a:stretch>
            <a:fillRect/>
          </a:stretch>
        </p:blipFill>
        <p:spPr>
          <a:xfrm>
            <a:off x="643467" y="1084411"/>
            <a:ext cx="10905066" cy="4689176"/>
          </a:xfrm>
          <a:prstGeom prst="rect">
            <a:avLst/>
          </a:prstGeom>
        </p:spPr>
      </p:pic>
    </p:spTree>
    <p:extLst>
      <p:ext uri="{BB962C8B-B14F-4D97-AF65-F5344CB8AC3E}">
        <p14:creationId xmlns:p14="http://schemas.microsoft.com/office/powerpoint/2010/main" val="2639253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Candy: why the distinction matters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1800" b="0" i="0">
                <a:solidFill>
                  <a:srgbClr val="222222"/>
                </a:solidFill>
                <a:latin typeface="Helvetica Neue"/>
              </a:rPr>
              <a:t>The distinction is not about quality — it's about </a:t>
            </a:r>
            <a:r>
              <a:rPr sz="1800" b="1" i="0">
                <a:solidFill>
                  <a:srgbClr val="222222"/>
                </a:solidFill>
                <a:latin typeface="Helvetica Neue"/>
              </a:rPr>
              <a:t>where the knowledge lives</a:t>
            </a:r>
            <a:r>
              <a:rPr sz="1800" b="0" i="0">
                <a:solidFill>
                  <a:srgbClr val="222222"/>
                </a:solidFill>
                <a:latin typeface="Helvetica Neue"/>
              </a:rPr>
              <a:t> and </a:t>
            </a:r>
            <a:r>
              <a:rPr sz="1800" b="1" i="0">
                <a:solidFill>
                  <a:srgbClr val="222222"/>
                </a:solidFill>
                <a:latin typeface="Helvetica Neue"/>
              </a:rPr>
              <a:t>how you demonstrate it</a:t>
            </a:r>
            <a:r>
              <a:rPr sz="1800" b="0" i="0">
                <a:solidFill>
                  <a:srgbClr val="222222"/>
                </a:solidFill>
                <a:latin typeface="Helvetica Neue"/>
              </a:rPr>
              <a:t>.</a:t>
            </a:r>
          </a:p>
          <a:p>
            <a:pPr>
              <a:buNone/>
            </a:pPr>
            <a:endParaRPr sz="1800" b="0" i="0">
              <a:solidFill>
                <a:srgbClr val="222222"/>
              </a:solidFill>
              <a:latin typeface="Helvetica Neue"/>
            </a:endParaRPr>
          </a:p>
          <a:p>
            <a:pPr algn="l">
              <a:buNone/>
            </a:pPr>
            <a:r>
              <a:rPr sz="1800" b="0" i="0">
                <a:solidFill>
                  <a:srgbClr val="222222"/>
                </a:solidFill>
                <a:latin typeface="Helvetica Neue"/>
              </a:rPr>
              <a:t>If your work is </a:t>
            </a:r>
            <a:r>
              <a:rPr sz="1800" b="1" i="0">
                <a:solidFill>
                  <a:srgbClr val="222222"/>
                </a:solidFill>
                <a:latin typeface="Helvetica Neue"/>
              </a:rPr>
              <a:t>practice-based:</a:t>
            </a:r>
          </a:p>
          <a:p>
            <a:pPr>
              <a:buNone/>
            </a:pPr>
            <a:endParaRPr sz="1800" b="1" i="0">
              <a:solidFill>
                <a:srgbClr val="222222"/>
              </a:solidFill>
              <a:latin typeface="Helvetica Neue"/>
            </a:endParaRPr>
          </a:p>
          <a:p>
            <a:pPr marL="342900" indent="-342900" algn="l">
              <a:buChar char="•"/>
            </a:pPr>
            <a:r>
              <a:rPr sz="1800" b="0" i="0">
                <a:solidFill>
                  <a:srgbClr val="222222"/>
                </a:solidFill>
                <a:latin typeface="Helvetica Neue"/>
              </a:rPr>
              <a:t>The artefact must be accessible (exhibited, documented, demonstrated).</a:t>
            </a:r>
          </a:p>
          <a:p>
            <a:pPr marL="342900" indent="-342900" algn="l">
              <a:buChar char="•"/>
            </a:pPr>
            <a:r>
              <a:rPr sz="1800" b="0" i="0">
                <a:solidFill>
                  <a:srgbClr val="222222"/>
                </a:solidFill>
                <a:latin typeface="Helvetica Neue"/>
              </a:rPr>
              <a:t>You must still articulate </a:t>
            </a:r>
            <a:r>
              <a:rPr sz="1800" b="0" i="1">
                <a:solidFill>
                  <a:srgbClr val="222222"/>
                </a:solidFill>
                <a:latin typeface="Helvetica Neue"/>
              </a:rPr>
              <a:t>what</a:t>
            </a:r>
            <a:r>
              <a:rPr sz="1800" b="0" i="0">
                <a:solidFill>
                  <a:srgbClr val="222222"/>
                </a:solidFill>
                <a:latin typeface="Helvetica Neue"/>
              </a:rPr>
              <a:t> knowledge the artefact embodies — but the artefact does crucial work that the writing alone cannot.</a:t>
            </a:r>
          </a:p>
          <a:p>
            <a:pPr marL="342900" indent="-342900" algn="l">
              <a:buChar char="•"/>
            </a:pPr>
            <a:r>
              <a:rPr sz="1800" b="0" i="0">
                <a:solidFill>
                  <a:srgbClr val="222222"/>
                </a:solidFill>
                <a:latin typeface="Helvetica Neue"/>
              </a:rPr>
              <a:t>Your examiner, reviewer, or audience needs to </a:t>
            </a:r>
            <a:r>
              <a:rPr sz="1800" b="0" i="1">
                <a:solidFill>
                  <a:srgbClr val="222222"/>
                </a:solidFill>
                <a:latin typeface="Helvetica Neue"/>
              </a:rPr>
              <a:t>experience</a:t>
            </a:r>
            <a:r>
              <a:rPr sz="1800" b="0" i="0">
                <a:solidFill>
                  <a:srgbClr val="222222"/>
                </a:solidFill>
                <a:latin typeface="Helvetica Neue"/>
              </a:rPr>
              <a:t> the work, not just read about it.</a:t>
            </a:r>
          </a:p>
          <a:p>
            <a:pPr>
              <a:buNone/>
            </a:pPr>
            <a:endParaRPr sz="1800" b="0" i="0">
              <a:solidFill>
                <a:srgbClr val="222222"/>
              </a:solidFill>
              <a:latin typeface="Helvetica Neue"/>
            </a:endParaRPr>
          </a:p>
          <a:p>
            <a:pPr algn="l">
              <a:buNone/>
            </a:pPr>
            <a:r>
              <a:rPr sz="1800" b="0" i="0">
                <a:solidFill>
                  <a:srgbClr val="222222"/>
                </a:solidFill>
                <a:latin typeface="Helvetica Neue"/>
              </a:rPr>
              <a:t>If your work is </a:t>
            </a:r>
            <a:r>
              <a:rPr sz="1800" b="1" i="0">
                <a:solidFill>
                  <a:srgbClr val="222222"/>
                </a:solidFill>
                <a:latin typeface="Helvetica Neue"/>
              </a:rPr>
              <a:t>practice-led:</a:t>
            </a:r>
          </a:p>
          <a:p>
            <a:pPr>
              <a:buNone/>
            </a:pPr>
            <a:endParaRPr sz="1800" b="1" i="0">
              <a:solidFill>
                <a:srgbClr val="222222"/>
              </a:solidFill>
              <a:latin typeface="Helvetica Neue"/>
            </a:endParaRPr>
          </a:p>
          <a:p>
            <a:pPr marL="342900" indent="-342900" algn="l">
              <a:buChar char="•"/>
            </a:pPr>
            <a:r>
              <a:rPr sz="1800" b="0" i="0">
                <a:solidFill>
                  <a:srgbClr val="222222"/>
                </a:solidFill>
                <a:latin typeface="Helvetica Neue"/>
              </a:rPr>
              <a:t>The written output carries the primary claim.</a:t>
            </a:r>
          </a:p>
          <a:p>
            <a:pPr marL="342900" indent="-342900" algn="l">
              <a:buChar char="•"/>
            </a:pPr>
            <a:r>
              <a:rPr sz="1800" b="0" i="0">
                <a:solidFill>
                  <a:srgbClr val="222222"/>
                </a:solidFill>
                <a:latin typeface="Helvetica Neue"/>
              </a:rPr>
              <a:t>The practice generates insight, but the insight is transferable beyond that specific work.</a:t>
            </a:r>
          </a:p>
          <a:p>
            <a:pPr marL="342900" indent="-342900" algn="l">
              <a:buChar char="•"/>
            </a:pPr>
            <a:r>
              <a:rPr sz="1800" b="0" i="0">
                <a:solidFill>
                  <a:srgbClr val="222222"/>
                </a:solidFill>
                <a:latin typeface="Helvetica Neue"/>
              </a:rPr>
              <a:t>The artefact supports the argument but doesn't </a:t>
            </a:r>
            <a:r>
              <a:rPr sz="1800" b="0" i="1">
                <a:solidFill>
                  <a:srgbClr val="222222"/>
                </a:solidFill>
                <a:latin typeface="Helvetica Neue"/>
              </a:rPr>
              <a:t>replace</a:t>
            </a:r>
            <a:r>
              <a:rPr sz="1800" b="0" i="0">
                <a:solidFill>
                  <a:srgbClr val="222222"/>
                </a:solidFill>
                <a:latin typeface="Helvetica Neue"/>
              </a:rPr>
              <a:t> it.</a:t>
            </a:r>
          </a:p>
          <a:p>
            <a:pPr>
              <a:buNone/>
            </a:pPr>
            <a:endParaRPr sz="1800" b="0" i="0">
              <a:solidFill>
                <a:srgbClr val="222222"/>
              </a:solidFill>
              <a:latin typeface="Helvetica Neue"/>
            </a:endParaRPr>
          </a:p>
          <a:p>
            <a:pPr algn="l">
              <a:buNone/>
            </a:pPr>
            <a:r>
              <a:rPr sz="1800" b="0" i="0">
                <a:solidFill>
                  <a:srgbClr val="222222"/>
                </a:solidFill>
                <a:latin typeface="Helvetica Neue"/>
              </a:rPr>
              <a:t>Most MSc projects at CCI are practice-based. Know which one yours is, and why.</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Candy: what counts as evidence?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dirty="0"/>
          </a:p>
          <a:p>
            <a:pPr algn="l">
              <a:buNone/>
            </a:pPr>
            <a:r>
              <a:rPr sz="1800" b="0" i="0" dirty="0">
                <a:solidFill>
                  <a:srgbClr val="222222"/>
                </a:solidFill>
                <a:latin typeface="Helvetica Neue"/>
              </a:rPr>
              <a:t>Candy is practical about this. Evidence in practice-based research can include:</a:t>
            </a:r>
          </a:p>
          <a:p>
            <a:pPr>
              <a:buNone/>
            </a:pPr>
            <a:endParaRPr sz="1800" b="0" i="0" dirty="0">
              <a:solidFill>
                <a:srgbClr val="222222"/>
              </a:solidFill>
              <a:latin typeface="Helvetica Neue"/>
            </a:endParaRPr>
          </a:p>
          <a:p>
            <a:pPr marL="342900" indent="-342900" algn="l">
              <a:buChar char="•"/>
            </a:pPr>
            <a:r>
              <a:rPr sz="1800" b="0" i="0" dirty="0">
                <a:solidFill>
                  <a:srgbClr val="222222"/>
                </a:solidFill>
                <a:latin typeface="Helvetica Neue"/>
              </a:rPr>
              <a:t>The artefact itself, presented in a context where it can be encountered.</a:t>
            </a:r>
          </a:p>
          <a:p>
            <a:pPr marL="342900" indent="-342900" algn="l">
              <a:buChar char="•"/>
            </a:pPr>
            <a:r>
              <a:rPr sz="1800" b="0" i="0" dirty="0">
                <a:solidFill>
                  <a:srgbClr val="222222"/>
                </a:solidFill>
                <a:latin typeface="Helvetica Neue"/>
              </a:rPr>
              <a:t>Documentation of process (notebooks, iterations, code repositories, video).</a:t>
            </a:r>
          </a:p>
          <a:p>
            <a:pPr marL="342900" indent="-342900" algn="l">
              <a:buChar char="•"/>
            </a:pPr>
            <a:r>
              <a:rPr sz="1800" b="0" i="0" dirty="0">
                <a:solidFill>
                  <a:srgbClr val="222222"/>
                </a:solidFill>
                <a:latin typeface="Helvetica Neue"/>
              </a:rPr>
              <a:t>Reflective commentary that connects the decisions made to the knowledge produced.</a:t>
            </a:r>
          </a:p>
          <a:p>
            <a:pPr marL="342900" indent="-342900" algn="l">
              <a:buChar char="•"/>
            </a:pPr>
            <a:r>
              <a:rPr sz="1800" b="0" i="0" dirty="0">
                <a:solidFill>
                  <a:srgbClr val="222222"/>
                </a:solidFill>
                <a:latin typeface="Helvetica Neue"/>
              </a:rPr>
              <a:t>Peer response — exhibition feedback, review, critical reception.</a:t>
            </a:r>
          </a:p>
          <a:p>
            <a:pPr marL="342900" indent="-342900" algn="l">
              <a:buChar char="•"/>
            </a:pPr>
            <a:r>
              <a:rPr sz="1800" b="0" i="0" dirty="0">
                <a:solidFill>
                  <a:srgbClr val="222222"/>
                </a:solidFill>
                <a:latin typeface="Helvetica Neue"/>
              </a:rPr>
              <a:t>Comparative analysis — how the work differs from, extends, or challenges existing work.</a:t>
            </a:r>
          </a:p>
          <a:p>
            <a:pPr>
              <a:buNone/>
            </a:pPr>
            <a:endParaRPr sz="1800" b="0" i="0" dirty="0">
              <a:solidFill>
                <a:srgbClr val="222222"/>
              </a:solidFill>
              <a:latin typeface="Helvetica Neue"/>
            </a:endParaRPr>
          </a:p>
          <a:p>
            <a:pPr algn="l">
              <a:buNone/>
            </a:pPr>
            <a:r>
              <a:rPr sz="1800" b="0" i="0" dirty="0">
                <a:solidFill>
                  <a:srgbClr val="222222"/>
                </a:solidFill>
                <a:latin typeface="Helvetica Neue"/>
              </a:rPr>
              <a:t>None of these alone is sufficient. The strength is in their combination.</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Borgdorff: the production of knowledge in artistic research</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1800" b="0" i="0">
                <a:solidFill>
                  <a:srgbClr val="222222"/>
                </a:solidFill>
                <a:latin typeface="Helvetica Neue"/>
              </a:rPr>
              <a:t>Henk Borgdorff makes a stronger philosophical claim than either Smith &amp; Dean or Candy.</a:t>
            </a:r>
          </a:p>
          <a:p>
            <a:pPr>
              <a:buNone/>
            </a:pPr>
            <a:endParaRPr sz="1800" b="0" i="0">
              <a:solidFill>
                <a:srgbClr val="222222"/>
              </a:solidFill>
              <a:latin typeface="Helvetica Neue"/>
            </a:endParaRPr>
          </a:p>
          <a:p>
            <a:pPr algn="l">
              <a:buNone/>
            </a:pPr>
            <a:r>
              <a:rPr sz="1800" b="0" i="0">
                <a:solidFill>
                  <a:srgbClr val="222222"/>
                </a:solidFill>
                <a:latin typeface="Helvetica Neue"/>
              </a:rPr>
              <a:t>He argues that </a:t>
            </a:r>
            <a:r>
              <a:rPr sz="1800" b="1" i="0">
                <a:solidFill>
                  <a:srgbClr val="222222"/>
                </a:solidFill>
                <a:latin typeface="Helvetica Neue"/>
              </a:rPr>
              <a:t>artistic practice is not merely a vehicle for research</a:t>
            </a:r>
            <a:r>
              <a:rPr sz="1800" b="0" i="0">
                <a:solidFill>
                  <a:srgbClr val="222222"/>
                </a:solidFill>
                <a:latin typeface="Helvetica Neue"/>
              </a:rPr>
              <a:t> — it is a </a:t>
            </a:r>
            <a:r>
              <a:rPr sz="1800" b="0" i="1">
                <a:solidFill>
                  <a:srgbClr val="222222"/>
                </a:solidFill>
                <a:latin typeface="Helvetica Neue"/>
              </a:rPr>
              <a:t>mode of knowledge production</a:t>
            </a:r>
            <a:r>
              <a:rPr sz="1800" b="0" i="0">
                <a:solidFill>
                  <a:srgbClr val="222222"/>
                </a:solidFill>
                <a:latin typeface="Helvetica Neue"/>
              </a:rPr>
              <a:t> in its own right. The practice doesn't just inform the research; the practice </a:t>
            </a:r>
            <a:r>
              <a:rPr sz="1800" b="0" i="1">
                <a:solidFill>
                  <a:srgbClr val="222222"/>
                </a:solidFill>
                <a:latin typeface="Helvetica Neue"/>
              </a:rPr>
              <a:t>is</a:t>
            </a:r>
            <a:r>
              <a:rPr sz="1800" b="0" i="0">
                <a:solidFill>
                  <a:srgbClr val="222222"/>
                </a:solidFill>
                <a:latin typeface="Helvetica Neue"/>
              </a:rPr>
              <a:t> research.</a:t>
            </a:r>
          </a:p>
          <a:p>
            <a:pPr>
              <a:buNone/>
            </a:pPr>
            <a:endParaRPr sz="1800" b="0" i="0">
              <a:solidFill>
                <a:srgbClr val="222222"/>
              </a:solidFill>
              <a:latin typeface="Helvetica Neue"/>
            </a:endParaRPr>
          </a:p>
          <a:p>
            <a:pPr algn="l">
              <a:buNone/>
            </a:pPr>
            <a:r>
              <a:rPr sz="1800" b="0" i="0">
                <a:solidFill>
                  <a:srgbClr val="222222"/>
                </a:solidFill>
                <a:latin typeface="Helvetica Neue"/>
              </a:rPr>
              <a:t>To make this argument, he draws on a three-part distinction (originally from Christopher Frayling, 1993):</a:t>
            </a:r>
          </a:p>
          <a:p>
            <a:pPr>
              <a:buNone/>
            </a:pPr>
            <a:endParaRPr sz="1800" b="0" i="0">
              <a:solidFill>
                <a:srgbClr val="222222"/>
              </a:solidFill>
              <a:latin typeface="Helvetica Neue"/>
            </a:endParaRPr>
          </a:p>
          <a:p>
            <a:pPr marL="342900" indent="-342900" algn="l">
              <a:buChar char="•"/>
            </a:pPr>
            <a:r>
              <a:rPr sz="1800" b="0" i="0">
                <a:solidFill>
                  <a:srgbClr val="222222"/>
                </a:solidFill>
                <a:latin typeface="Helvetica Neue"/>
              </a:rPr>
              <a:t>Research </a:t>
            </a:r>
            <a:r>
              <a:rPr sz="1800" b="1" i="0">
                <a:solidFill>
                  <a:srgbClr val="222222"/>
                </a:solidFill>
                <a:latin typeface="Helvetica Neue"/>
              </a:rPr>
              <a:t>into</a:t>
            </a:r>
            <a:r>
              <a:rPr sz="1800" b="0" i="0">
                <a:solidFill>
                  <a:srgbClr val="222222"/>
                </a:solidFill>
                <a:latin typeface="Helvetica Neue"/>
              </a:rPr>
              <a:t> the arts — studying art from the outside (art history, aesthetics, sociology of art).</a:t>
            </a:r>
          </a:p>
          <a:p>
            <a:pPr marL="342900" indent="-342900" algn="l">
              <a:buChar char="•"/>
            </a:pPr>
            <a:r>
              <a:rPr sz="1800" b="0" i="0">
                <a:solidFill>
                  <a:srgbClr val="222222"/>
                </a:solidFill>
                <a:latin typeface="Helvetica Neue"/>
              </a:rPr>
              <a:t>Research </a:t>
            </a:r>
            <a:r>
              <a:rPr sz="1800" b="1" i="0">
                <a:solidFill>
                  <a:srgbClr val="222222"/>
                </a:solidFill>
                <a:latin typeface="Helvetica Neue"/>
              </a:rPr>
              <a:t>for</a:t>
            </a:r>
            <a:r>
              <a:rPr sz="1800" b="0" i="0">
                <a:solidFill>
                  <a:srgbClr val="222222"/>
                </a:solidFill>
                <a:latin typeface="Helvetica Neue"/>
              </a:rPr>
              <a:t> the arts — instrumental research that serves practice (materials science, tool development).</a:t>
            </a:r>
          </a:p>
          <a:p>
            <a:pPr marL="342900" indent="-342900" algn="l">
              <a:buChar char="•"/>
            </a:pPr>
            <a:r>
              <a:rPr sz="1800" b="0" i="0">
                <a:solidFill>
                  <a:srgbClr val="222222"/>
                </a:solidFill>
                <a:latin typeface="Helvetica Neue"/>
              </a:rPr>
              <a:t>Research </a:t>
            </a:r>
            <a:r>
              <a:rPr sz="1800" b="1" i="0">
                <a:solidFill>
                  <a:srgbClr val="222222"/>
                </a:solidFill>
                <a:latin typeface="Helvetica Neue"/>
              </a:rPr>
              <a:t>through</a:t>
            </a:r>
            <a:r>
              <a:rPr sz="1800" b="0" i="0">
                <a:solidFill>
                  <a:srgbClr val="222222"/>
                </a:solidFill>
                <a:latin typeface="Helvetica Neue"/>
              </a:rPr>
              <a:t> the arts — research where the artistic practice itself is the epistemic activity.</a:t>
            </a:r>
          </a:p>
          <a:p>
            <a:pPr>
              <a:buNone/>
            </a:pPr>
            <a:endParaRPr sz="1800" b="0" i="0">
              <a:solidFill>
                <a:srgbClr val="222222"/>
              </a:solidFill>
              <a:latin typeface="Helvetica Neue"/>
            </a:endParaRPr>
          </a:p>
          <a:p>
            <a:pPr algn="l">
              <a:buNone/>
            </a:pPr>
            <a:r>
              <a:rPr sz="1800" b="0" i="0">
                <a:solidFill>
                  <a:srgbClr val="222222"/>
                </a:solidFill>
                <a:latin typeface="Helvetica Neue"/>
              </a:rPr>
              <a:t>Borgdorff's position is that the third category — research </a:t>
            </a:r>
            <a:r>
              <a:rPr sz="1800" b="0" i="1">
                <a:solidFill>
                  <a:srgbClr val="222222"/>
                </a:solidFill>
                <a:latin typeface="Helvetica Neue"/>
              </a:rPr>
              <a:t>through</a:t>
            </a:r>
            <a:r>
              <a:rPr sz="1800" b="0" i="0">
                <a:solidFill>
                  <a:srgbClr val="222222"/>
                </a:solidFill>
                <a:latin typeface="Helvetica Neue"/>
              </a:rPr>
              <a:t> the arts — is epistemologically legitimate and distinct.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Borgdorff: what makes it "research"?</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Borgdorff anticipates the obvious objection: "If making art is research, isn't </a:t>
            </a:r>
            <a:r>
              <a:rPr sz="2000" b="0" i="1">
                <a:solidFill>
                  <a:srgbClr val="222222"/>
                </a:solidFill>
                <a:latin typeface="Helvetica Neue"/>
              </a:rPr>
              <a:t>all</a:t>
            </a:r>
            <a:r>
              <a:rPr sz="2000" b="0" i="0">
                <a:solidFill>
                  <a:srgbClr val="222222"/>
                </a:solidFill>
                <a:latin typeface="Helvetica Neue"/>
              </a:rPr>
              <a:t> art research?"</a:t>
            </a:r>
          </a:p>
          <a:p>
            <a:pPr>
              <a:buNone/>
            </a:pPr>
            <a:endParaRPr sz="2000" b="0" i="0">
              <a:solidFill>
                <a:srgbClr val="222222"/>
              </a:solidFill>
              <a:latin typeface="Helvetica Neue"/>
            </a:endParaRPr>
          </a:p>
          <a:p>
            <a:pPr algn="l">
              <a:buNone/>
            </a:pPr>
            <a:r>
              <a:rPr sz="2000" b="0" i="0">
                <a:solidFill>
                  <a:srgbClr val="222222"/>
                </a:solidFill>
                <a:latin typeface="Helvetica Neue"/>
              </a:rPr>
              <a:t>His answer: no. Artistic practice becomes research when it satisfies three conditions:</a:t>
            </a:r>
          </a:p>
          <a:p>
            <a:pPr>
              <a:buNone/>
            </a:pPr>
            <a:endParaRPr sz="2000" b="0" i="0">
              <a:solidFill>
                <a:srgbClr val="222222"/>
              </a:solidFill>
              <a:latin typeface="Helvetica Neue"/>
            </a:endParaRPr>
          </a:p>
          <a:p>
            <a:pPr marL="342900" algn="l">
              <a:buNone/>
            </a:pPr>
            <a:r>
              <a:rPr sz="2000" b="0" i="0">
                <a:solidFill>
                  <a:srgbClr val="222222"/>
                </a:solidFill>
                <a:latin typeface="Helvetica Neue"/>
              </a:rPr>
              <a:t>1.  </a:t>
            </a:r>
            <a:r>
              <a:rPr sz="2000" b="1" i="0">
                <a:solidFill>
                  <a:srgbClr val="222222"/>
                </a:solidFill>
                <a:latin typeface="Helvetica Neue"/>
              </a:rPr>
              <a:t>Intent</a:t>
            </a:r>
            <a:r>
              <a:rPr sz="2000" b="0" i="0">
                <a:solidFill>
                  <a:srgbClr val="222222"/>
                </a:solidFill>
                <a:latin typeface="Helvetica Neue"/>
              </a:rPr>
              <a:t> — the practitioner sets out to produce knowledge, not only to make a work.</a:t>
            </a:r>
          </a:p>
          <a:p>
            <a:pPr marL="342900" algn="l">
              <a:buNone/>
            </a:pPr>
            <a:r>
              <a:rPr sz="2000" b="0" i="0">
                <a:solidFill>
                  <a:srgbClr val="222222"/>
                </a:solidFill>
                <a:latin typeface="Helvetica Neue"/>
              </a:rPr>
              <a:t>2.  </a:t>
            </a:r>
            <a:r>
              <a:rPr sz="2000" b="1" i="0">
                <a:solidFill>
                  <a:srgbClr val="222222"/>
                </a:solidFill>
                <a:latin typeface="Helvetica Neue"/>
              </a:rPr>
              <a:t>Method</a:t>
            </a:r>
            <a:r>
              <a:rPr sz="2000" b="0" i="0">
                <a:solidFill>
                  <a:srgbClr val="222222"/>
                </a:solidFill>
                <a:latin typeface="Helvetica Neue"/>
              </a:rPr>
              <a:t> — the practice follows some discernible method, even if emergent or improvised, that can be articulated and examined.</a:t>
            </a:r>
          </a:p>
          <a:p>
            <a:pPr marL="342900" algn="l">
              <a:buNone/>
            </a:pPr>
            <a:r>
              <a:rPr sz="2000" b="0" i="0">
                <a:solidFill>
                  <a:srgbClr val="222222"/>
                </a:solidFill>
                <a:latin typeface="Helvetica Neue"/>
              </a:rPr>
              <a:t>3.  </a:t>
            </a:r>
            <a:r>
              <a:rPr sz="2000" b="1" i="0">
                <a:solidFill>
                  <a:srgbClr val="222222"/>
                </a:solidFill>
                <a:latin typeface="Helvetica Neue"/>
              </a:rPr>
              <a:t>Context</a:t>
            </a:r>
            <a:r>
              <a:rPr sz="2000" b="0" i="0">
                <a:solidFill>
                  <a:srgbClr val="222222"/>
                </a:solidFill>
                <a:latin typeface="Helvetica Neue"/>
              </a:rPr>
              <a:t> — the work is situated within a relevant discourse, contributing to an ongoing conversation in a field.</a:t>
            </a:r>
          </a:p>
          <a:p>
            <a:pPr>
              <a:buNone/>
            </a:pPr>
            <a:endParaRPr sz="2000" b="0" i="0">
              <a:solidFill>
                <a:srgbClr val="222222"/>
              </a:solidFill>
              <a:latin typeface="Helvetica Neue"/>
            </a:endParaRPr>
          </a:p>
          <a:p>
            <a:pPr algn="l">
              <a:buNone/>
            </a:pPr>
            <a:r>
              <a:rPr sz="2000" b="0" i="0">
                <a:solidFill>
                  <a:srgbClr val="222222"/>
                </a:solidFill>
                <a:latin typeface="Helvetica Neue"/>
              </a:rPr>
              <a:t>Without intent, you have craft. Without method, you have intuition. Without context, you have self-expression. All three have value — but none alone is research.</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triangle with lines connecting to it&#10;&#10;Description automatically generated with medium confidence">
            <a:extLst>
              <a:ext uri="{FF2B5EF4-FFF2-40B4-BE49-F238E27FC236}">
                <a16:creationId xmlns:a16="http://schemas.microsoft.com/office/drawing/2014/main" id="{B4BABFC6-E6D5-AF97-AEF7-996E6CA691F4}"/>
              </a:ext>
            </a:extLst>
          </p:cNvPr>
          <p:cNvPicPr>
            <a:picLocks noChangeAspect="1"/>
          </p:cNvPicPr>
          <p:nvPr/>
        </p:nvPicPr>
        <p:blipFill>
          <a:blip r:embed="rId2"/>
          <a:stretch>
            <a:fillRect/>
          </a:stretch>
        </p:blipFill>
        <p:spPr>
          <a:xfrm>
            <a:off x="1251595" y="643467"/>
            <a:ext cx="9688810" cy="5571065"/>
          </a:xfrm>
          <a:prstGeom prst="rect">
            <a:avLst/>
          </a:prstGeom>
          <a:ln>
            <a:noFill/>
          </a:ln>
        </p:spPr>
      </p:pic>
    </p:spTree>
    <p:extLst>
      <p:ext uri="{BB962C8B-B14F-4D97-AF65-F5344CB8AC3E}">
        <p14:creationId xmlns:p14="http://schemas.microsoft.com/office/powerpoint/2010/main" val="440965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Borgdorff: knowledge that doesn't fit neatly into words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3754874"/>
          </a:xfrm>
          <a:prstGeom prst="rect">
            <a:avLst/>
          </a:prstGeom>
          <a:noFill/>
        </p:spPr>
        <p:txBody>
          <a:bodyPr wrap="square">
            <a:spAutoFit/>
          </a:bodyPr>
          <a:lstStyle/>
          <a:p>
            <a:endParaRPr dirty="0"/>
          </a:p>
          <a:p>
            <a:pPr algn="l">
              <a:buNone/>
            </a:pPr>
            <a:r>
              <a:rPr sz="2000" b="0" i="0" dirty="0" err="1">
                <a:solidFill>
                  <a:srgbClr val="222222"/>
                </a:solidFill>
                <a:latin typeface="Helvetica Neue"/>
              </a:rPr>
              <a:t>Borgdorff</a:t>
            </a:r>
            <a:r>
              <a:rPr sz="2000" b="0" i="0" dirty="0">
                <a:solidFill>
                  <a:srgbClr val="222222"/>
                </a:solidFill>
                <a:latin typeface="Helvetica Neue"/>
              </a:rPr>
              <a:t> makes a further </a:t>
            </a:r>
            <a:r>
              <a:rPr lang="en-GB" sz="2000" b="0" i="0" dirty="0">
                <a:solidFill>
                  <a:srgbClr val="222222"/>
                </a:solidFill>
                <a:latin typeface="Helvetica Neue"/>
              </a:rPr>
              <a:t>suggestion</a:t>
            </a:r>
            <a:r>
              <a:rPr sz="2000" b="0" i="0" dirty="0">
                <a:solidFill>
                  <a:srgbClr val="222222"/>
                </a:solidFill>
                <a:latin typeface="Helvetica Neue"/>
              </a:rPr>
              <a:t> that matters for your work. He argues that the knowledge produced through artistic research is often:</a:t>
            </a:r>
          </a:p>
          <a:p>
            <a:pPr>
              <a:buNone/>
            </a:pPr>
            <a:endParaRPr sz="2000" b="0" i="0" dirty="0">
              <a:solidFill>
                <a:srgbClr val="222222"/>
              </a:solidFill>
              <a:latin typeface="Helvetica Neue"/>
            </a:endParaRPr>
          </a:p>
          <a:p>
            <a:pPr marL="342900" indent="-342900" algn="l">
              <a:buChar char="•"/>
            </a:pPr>
            <a:r>
              <a:rPr sz="2000" b="1" i="0" dirty="0">
                <a:solidFill>
                  <a:srgbClr val="222222"/>
                </a:solidFill>
                <a:latin typeface="Helvetica Neue"/>
              </a:rPr>
              <a:t>Non-propositional</a:t>
            </a:r>
            <a:r>
              <a:rPr sz="2000" b="0" i="0" dirty="0">
                <a:solidFill>
                  <a:srgbClr val="222222"/>
                </a:solidFill>
                <a:latin typeface="Helvetica Neue"/>
              </a:rPr>
              <a:t> — it can't be fully captured in statements of the form "X is true."</a:t>
            </a:r>
          </a:p>
          <a:p>
            <a:pPr marL="342900" indent="-342900" algn="l">
              <a:buChar char="•"/>
            </a:pPr>
            <a:r>
              <a:rPr sz="2000" b="1" i="0" dirty="0">
                <a:solidFill>
                  <a:srgbClr val="222222"/>
                </a:solidFill>
                <a:latin typeface="Helvetica Neue"/>
              </a:rPr>
              <a:t>Embodied</a:t>
            </a:r>
            <a:r>
              <a:rPr sz="2000" b="0" i="0" dirty="0">
                <a:solidFill>
                  <a:srgbClr val="222222"/>
                </a:solidFill>
                <a:latin typeface="Helvetica Neue"/>
              </a:rPr>
              <a:t> — it's carried in materials, processes, physical actions, perceptual experiences.</a:t>
            </a:r>
          </a:p>
          <a:p>
            <a:pPr marL="342900" indent="-342900" algn="l">
              <a:buChar char="•"/>
            </a:pPr>
            <a:r>
              <a:rPr sz="2000" b="1" i="0" dirty="0">
                <a:solidFill>
                  <a:srgbClr val="222222"/>
                </a:solidFill>
                <a:latin typeface="Helvetica Neue"/>
              </a:rPr>
              <a:t>Non-discursive</a:t>
            </a:r>
            <a:r>
              <a:rPr sz="2000" b="0" i="0" dirty="0">
                <a:solidFill>
                  <a:srgbClr val="222222"/>
                </a:solidFill>
                <a:latin typeface="Helvetica Neue"/>
              </a:rPr>
              <a:t> — it communicates through forms other than language (sound, movement, visual structure, interaction).</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This doesn't make it less real or less rigorous. It means the methods of demonstrating it are different from writing a paper. The artefact, the performance, the installation — these are the </a:t>
            </a:r>
            <a:r>
              <a:rPr sz="2000" b="0" i="1" dirty="0">
                <a:solidFill>
                  <a:srgbClr val="222222"/>
                </a:solidFill>
                <a:latin typeface="Helvetica Neue"/>
              </a:rPr>
              <a:t>vehicles</a:t>
            </a:r>
            <a:r>
              <a:rPr sz="2000" b="0" i="0" dirty="0">
                <a:solidFill>
                  <a:srgbClr val="222222"/>
                </a:solidFill>
                <a:latin typeface="Helvetica Neue"/>
              </a:rPr>
              <a:t> of the knowledge, not just examples of it.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Putting the three together</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417320"/>
          <a:ext cx="10911532" cy="2532888"/>
        </p:xfrm>
        <a:graphic>
          <a:graphicData uri="http://schemas.openxmlformats.org/drawingml/2006/table">
            <a:tbl>
              <a:tblPr firstRow="1" bandRow="1">
                <a:tableStyleId>{5C22544A-7EE6-4342-B048-85BDC9FD1C3A}</a:tableStyleId>
              </a:tblPr>
              <a:tblGrid>
                <a:gridCol w="2727883">
                  <a:extLst>
                    <a:ext uri="{9D8B030D-6E8A-4147-A177-3AD203B41FA5}">
                      <a16:colId xmlns:a16="http://schemas.microsoft.com/office/drawing/2014/main" val="20000"/>
                    </a:ext>
                  </a:extLst>
                </a:gridCol>
                <a:gridCol w="2727883">
                  <a:extLst>
                    <a:ext uri="{9D8B030D-6E8A-4147-A177-3AD203B41FA5}">
                      <a16:colId xmlns:a16="http://schemas.microsoft.com/office/drawing/2014/main" val="20001"/>
                    </a:ext>
                  </a:extLst>
                </a:gridCol>
                <a:gridCol w="2727883">
                  <a:extLst>
                    <a:ext uri="{9D8B030D-6E8A-4147-A177-3AD203B41FA5}">
                      <a16:colId xmlns:a16="http://schemas.microsoft.com/office/drawing/2014/main" val="20002"/>
                    </a:ext>
                  </a:extLst>
                </a:gridCol>
                <a:gridCol w="2727883">
                  <a:extLst>
                    <a:ext uri="{9D8B030D-6E8A-4147-A177-3AD203B41FA5}">
                      <a16:colId xmlns:a16="http://schemas.microsoft.com/office/drawing/2014/main" val="20003"/>
                    </a:ext>
                  </a:extLst>
                </a:gridCol>
              </a:tblGrid>
              <a:tr h="384048">
                <a:tc>
                  <a:txBody>
                    <a:bodyPr/>
                    <a:lstStyle/>
                    <a:p>
                      <a:endParaRPr/>
                    </a:p>
                  </a:txBody>
                  <a:tcPr>
                    <a:solidFill>
                      <a:srgbClr val="1A1A2E"/>
                    </a:solidFill>
                  </a:tcPr>
                </a:tc>
                <a:tc>
                  <a:txBody>
                    <a:bodyPr/>
                    <a:lstStyle/>
                    <a:p>
                      <a:r>
                        <a:rPr sz="1300" b="1" i="0">
                          <a:solidFill>
                            <a:srgbClr val="FFFFFF"/>
                          </a:solidFill>
                          <a:latin typeface="Helvetica Neue"/>
                        </a:rPr>
                        <a:t>Smith &amp; Dean</a:t>
                      </a:r>
                    </a:p>
                  </a:txBody>
                  <a:tcPr>
                    <a:solidFill>
                      <a:srgbClr val="1A1A2E"/>
                    </a:solidFill>
                  </a:tcPr>
                </a:tc>
                <a:tc>
                  <a:txBody>
                    <a:bodyPr/>
                    <a:lstStyle/>
                    <a:p>
                      <a:r>
                        <a:rPr sz="1300" b="1" i="0">
                          <a:solidFill>
                            <a:srgbClr val="FFFFFF"/>
                          </a:solidFill>
                          <a:latin typeface="Helvetica Neue"/>
                        </a:rPr>
                        <a:t>Candy</a:t>
                      </a:r>
                    </a:p>
                  </a:txBody>
                  <a:tcPr>
                    <a:solidFill>
                      <a:srgbClr val="1A1A2E"/>
                    </a:solidFill>
                  </a:tcPr>
                </a:tc>
                <a:tc>
                  <a:txBody>
                    <a:bodyPr/>
                    <a:lstStyle/>
                    <a:p>
                      <a:r>
                        <a:rPr sz="1300" b="1" i="0">
                          <a:solidFill>
                            <a:srgbClr val="FFFFFF"/>
                          </a:solidFill>
                          <a:latin typeface="Helvetica Neue"/>
                        </a:rPr>
                        <a:t>Borgdorff</a:t>
                      </a:r>
                    </a:p>
                  </a:txBody>
                  <a:tcPr>
                    <a:solidFill>
                      <a:srgbClr val="1A1A2E"/>
                    </a:solidFill>
                  </a:tcPr>
                </a:tc>
                <a:extLst>
                  <a:ext uri="{0D108BD9-81ED-4DB2-BD59-A6C34878D82A}">
                    <a16:rowId xmlns:a16="http://schemas.microsoft.com/office/drawing/2014/main" val="10000"/>
                  </a:ext>
                </a:extLst>
              </a:tr>
              <a:tr h="384048">
                <a:tc>
                  <a:txBody>
                    <a:bodyPr/>
                    <a:lstStyle/>
                    <a:p>
                      <a:r>
                        <a:rPr sz="1300" b="1" i="0">
                          <a:solidFill>
                            <a:srgbClr val="222222"/>
                          </a:solidFill>
                          <a:latin typeface="Helvetica Neue"/>
                        </a:rPr>
                        <a:t>Central claim</a:t>
                      </a:r>
                    </a:p>
                  </a:txBody>
                  <a:tcPr>
                    <a:solidFill>
                      <a:srgbClr val="FFFFFF"/>
                    </a:solidFill>
                  </a:tcPr>
                </a:tc>
                <a:tc>
                  <a:txBody>
                    <a:bodyPr/>
                    <a:lstStyle/>
                    <a:p>
                      <a:r>
                        <a:rPr sz="1300" b="0" i="0">
                          <a:solidFill>
                            <a:srgbClr val="222222"/>
                          </a:solidFill>
                          <a:latin typeface="Helvetica Neue"/>
                        </a:rPr>
                        <a:t>Practice and research form an iterative cycle</a:t>
                      </a:r>
                    </a:p>
                  </a:txBody>
                  <a:tcPr>
                    <a:solidFill>
                      <a:srgbClr val="FFFFFF"/>
                    </a:solidFill>
                  </a:tcPr>
                </a:tc>
                <a:tc>
                  <a:txBody>
                    <a:bodyPr/>
                    <a:lstStyle/>
                    <a:p>
                      <a:r>
                        <a:rPr sz="1300" b="0" i="0">
                          <a:solidFill>
                            <a:srgbClr val="222222"/>
                          </a:solidFill>
                          <a:latin typeface="Helvetica Neue"/>
                        </a:rPr>
                        <a:t>Practice-based and practice-led are distinct modes</a:t>
                      </a:r>
                    </a:p>
                  </a:txBody>
                  <a:tcPr>
                    <a:solidFill>
                      <a:srgbClr val="FFFFFF"/>
                    </a:solidFill>
                  </a:tcPr>
                </a:tc>
                <a:tc>
                  <a:txBody>
                    <a:bodyPr/>
                    <a:lstStyle/>
                    <a:p>
                      <a:r>
                        <a:rPr sz="1300" b="0" i="0">
                          <a:solidFill>
                            <a:srgbClr val="222222"/>
                          </a:solidFill>
                          <a:latin typeface="Helvetica Neue"/>
                        </a:rPr>
                        <a:t>Artistic practice is itself a form of knowledge production</a:t>
                      </a:r>
                    </a:p>
                  </a:txBody>
                  <a:tcPr>
                    <a:solidFill>
                      <a:srgbClr val="FFFFFF"/>
                    </a:solidFill>
                  </a:tcPr>
                </a:tc>
                <a:extLst>
                  <a:ext uri="{0D108BD9-81ED-4DB2-BD59-A6C34878D82A}">
                    <a16:rowId xmlns:a16="http://schemas.microsoft.com/office/drawing/2014/main" val="10001"/>
                  </a:ext>
                </a:extLst>
              </a:tr>
              <a:tr h="384048">
                <a:tc>
                  <a:txBody>
                    <a:bodyPr/>
                    <a:lstStyle/>
                    <a:p>
                      <a:r>
                        <a:rPr sz="1300" b="1" i="0">
                          <a:solidFill>
                            <a:srgbClr val="222222"/>
                          </a:solidFill>
                          <a:latin typeface="Helvetica Neue"/>
                        </a:rPr>
                        <a:t>Where knowledge lives</a:t>
                      </a:r>
                    </a:p>
                  </a:txBody>
                  <a:tcPr>
                    <a:solidFill>
                      <a:srgbClr val="EFF6FB"/>
                    </a:solidFill>
                  </a:tcPr>
                </a:tc>
                <a:tc>
                  <a:txBody>
                    <a:bodyPr/>
                    <a:lstStyle/>
                    <a:p>
                      <a:r>
                        <a:rPr sz="1300" b="0" i="0">
                          <a:solidFill>
                            <a:srgbClr val="222222"/>
                          </a:solidFill>
                          <a:latin typeface="Helvetica Neue"/>
                        </a:rPr>
                        <a:t>Distributed across the cycle — artefact, text, process</a:t>
                      </a:r>
                    </a:p>
                  </a:txBody>
                  <a:tcPr>
                    <a:solidFill>
                      <a:srgbClr val="EFF6FB"/>
                    </a:solidFill>
                  </a:tcPr>
                </a:tc>
                <a:tc>
                  <a:txBody>
                    <a:bodyPr/>
                    <a:lstStyle/>
                    <a:p>
                      <a:r>
                        <a:rPr sz="1300" b="0" i="0">
                          <a:solidFill>
                            <a:srgbClr val="222222"/>
                          </a:solidFill>
                          <a:latin typeface="Helvetica Neue"/>
                        </a:rPr>
                        <a:t>Depends on mode — artefact (based) or text (led)</a:t>
                      </a:r>
                    </a:p>
                  </a:txBody>
                  <a:tcPr>
                    <a:solidFill>
                      <a:srgbClr val="EFF6FB"/>
                    </a:solidFill>
                  </a:tcPr>
                </a:tc>
                <a:tc>
                  <a:txBody>
                    <a:bodyPr/>
                    <a:lstStyle/>
                    <a:p>
                      <a:r>
                        <a:rPr sz="1300" b="0" i="0">
                          <a:solidFill>
                            <a:srgbClr val="222222"/>
                          </a:solidFill>
                          <a:latin typeface="Helvetica Neue"/>
                        </a:rPr>
                        <a:t>In the practice and its material outputs</a:t>
                      </a:r>
                    </a:p>
                  </a:txBody>
                  <a:tcPr>
                    <a:solidFill>
                      <a:srgbClr val="EFF6FB"/>
                    </a:solidFill>
                  </a:tcPr>
                </a:tc>
                <a:extLst>
                  <a:ext uri="{0D108BD9-81ED-4DB2-BD59-A6C34878D82A}">
                    <a16:rowId xmlns:a16="http://schemas.microsoft.com/office/drawing/2014/main" val="10002"/>
                  </a:ext>
                </a:extLst>
              </a:tr>
              <a:tr h="384048">
                <a:tc>
                  <a:txBody>
                    <a:bodyPr/>
                    <a:lstStyle/>
                    <a:p>
                      <a:r>
                        <a:rPr sz="1300" b="1" i="0">
                          <a:solidFill>
                            <a:srgbClr val="222222"/>
                          </a:solidFill>
                          <a:latin typeface="Helvetica Neue"/>
                        </a:rPr>
                        <a:t>Strength</a:t>
                      </a:r>
                    </a:p>
                  </a:txBody>
                  <a:tcPr>
                    <a:solidFill>
                      <a:srgbClr val="FFFFFF"/>
                    </a:solidFill>
                  </a:tcPr>
                </a:tc>
                <a:tc>
                  <a:txBody>
                    <a:bodyPr/>
                    <a:lstStyle/>
                    <a:p>
                      <a:r>
                        <a:rPr sz="1300" b="0" i="0">
                          <a:solidFill>
                            <a:srgbClr val="222222"/>
                          </a:solidFill>
                          <a:latin typeface="Helvetica Neue"/>
                        </a:rPr>
                        <a:t>Maps the </a:t>
                      </a:r>
                      <a:r>
                        <a:rPr sz="1300" b="0" i="1">
                          <a:solidFill>
                            <a:srgbClr val="222222"/>
                          </a:solidFill>
                          <a:latin typeface="Helvetica Neue"/>
                        </a:rPr>
                        <a:t>process</a:t>
                      </a:r>
                      <a:r>
                        <a:rPr sz="1300" b="0" i="0">
                          <a:solidFill>
                            <a:srgbClr val="222222"/>
                          </a:solidFill>
                          <a:latin typeface="Helvetica Neue"/>
                        </a:rPr>
                        <a:t> clearly</a:t>
                      </a:r>
                    </a:p>
                  </a:txBody>
                  <a:tcPr>
                    <a:solidFill>
                      <a:srgbClr val="FFFFFF"/>
                    </a:solidFill>
                  </a:tcPr>
                </a:tc>
                <a:tc>
                  <a:txBody>
                    <a:bodyPr/>
                    <a:lstStyle/>
                    <a:p>
                      <a:r>
                        <a:rPr sz="1300" b="0" i="0">
                          <a:solidFill>
                            <a:srgbClr val="222222"/>
                          </a:solidFill>
                          <a:latin typeface="Helvetica Neue"/>
                        </a:rPr>
                        <a:t>Gives you practical categories for structuring a project</a:t>
                      </a:r>
                    </a:p>
                  </a:txBody>
                  <a:tcPr>
                    <a:solidFill>
                      <a:srgbClr val="FFFFFF"/>
                    </a:solidFill>
                  </a:tcPr>
                </a:tc>
                <a:tc>
                  <a:txBody>
                    <a:bodyPr/>
                    <a:lstStyle/>
                    <a:p>
                      <a:r>
                        <a:rPr sz="1300" b="0" i="0">
                          <a:solidFill>
                            <a:srgbClr val="222222"/>
                          </a:solidFill>
                          <a:latin typeface="Helvetica Neue"/>
                        </a:rPr>
                        <a:t>Provides the philosophical justification</a:t>
                      </a:r>
                    </a:p>
                  </a:txBody>
                  <a:tcPr>
                    <a:solidFill>
                      <a:srgbClr val="FFFFFF"/>
                    </a:solidFill>
                  </a:tcPr>
                </a:tc>
                <a:extLst>
                  <a:ext uri="{0D108BD9-81ED-4DB2-BD59-A6C34878D82A}">
                    <a16:rowId xmlns:a16="http://schemas.microsoft.com/office/drawing/2014/main" val="10003"/>
                  </a:ext>
                </a:extLst>
              </a:tr>
              <a:tr h="384048">
                <a:tc>
                  <a:txBody>
                    <a:bodyPr/>
                    <a:lstStyle/>
                    <a:p>
                      <a:r>
                        <a:rPr sz="1300" b="1" i="0">
                          <a:solidFill>
                            <a:srgbClr val="222222"/>
                          </a:solidFill>
                          <a:latin typeface="Helvetica Neue"/>
                        </a:rPr>
                        <a:t>Limitation</a:t>
                      </a:r>
                    </a:p>
                  </a:txBody>
                  <a:tcPr>
                    <a:solidFill>
                      <a:srgbClr val="EFF6FB"/>
                    </a:solidFill>
                  </a:tcPr>
                </a:tc>
                <a:tc>
                  <a:txBody>
                    <a:bodyPr/>
                    <a:lstStyle/>
                    <a:p>
                      <a:r>
                        <a:rPr sz="1300" b="0" i="0">
                          <a:solidFill>
                            <a:srgbClr val="222222"/>
                          </a:solidFill>
                          <a:latin typeface="Helvetica Neue"/>
                        </a:rPr>
                        <a:t>Descriptive — doesn't tell you how to evaluate quality</a:t>
                      </a:r>
                    </a:p>
                  </a:txBody>
                  <a:tcPr>
                    <a:solidFill>
                      <a:srgbClr val="EFF6FB"/>
                    </a:solidFill>
                  </a:tcPr>
                </a:tc>
                <a:tc>
                  <a:txBody>
                    <a:bodyPr/>
                    <a:lstStyle/>
                    <a:p>
                      <a:r>
                        <a:rPr sz="1300" b="0" i="0">
                          <a:solidFill>
                            <a:srgbClr val="222222"/>
                          </a:solidFill>
                          <a:latin typeface="Helvetica Neue"/>
                        </a:rPr>
                        <a:t>The binary can oversimplify hybrid projects</a:t>
                      </a:r>
                    </a:p>
                  </a:txBody>
                  <a:tcPr>
                    <a:solidFill>
                      <a:srgbClr val="EFF6FB"/>
                    </a:solidFill>
                  </a:tcPr>
                </a:tc>
                <a:tc>
                  <a:txBody>
                    <a:bodyPr/>
                    <a:lstStyle/>
                    <a:p>
                      <a:r>
                        <a:rPr sz="1300" b="0" i="0">
                          <a:solidFill>
                            <a:srgbClr val="222222"/>
                          </a:solidFill>
                          <a:latin typeface="Helvetica Neue"/>
                        </a:rPr>
                        <a:t>Can be used to excuse weak articulation ("the work speaks for itself")</a:t>
                      </a:r>
                    </a:p>
                  </a:txBody>
                  <a:tcPr>
                    <a:solidFill>
                      <a:srgbClr val="EFF6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The trap: "the work speaks for itself"</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The most common misuse of these frameworks — especially Borgdorff's — is the claim that artistic research doesn't need to be articulated because </a:t>
            </a:r>
            <a:r>
              <a:rPr sz="2000" b="1" i="0">
                <a:solidFill>
                  <a:srgbClr val="222222"/>
                </a:solidFill>
                <a:latin typeface="Helvetica Neue"/>
              </a:rPr>
              <a:t>the work speaks for itself.</a:t>
            </a:r>
          </a:p>
          <a:p>
            <a:pPr>
              <a:buNone/>
            </a:pPr>
            <a:endParaRPr sz="2000" b="1" i="0">
              <a:solidFill>
                <a:srgbClr val="222222"/>
              </a:solidFill>
              <a:latin typeface="Helvetica Neue"/>
            </a:endParaRPr>
          </a:p>
          <a:p>
            <a:pPr algn="l">
              <a:buNone/>
            </a:pPr>
            <a:r>
              <a:rPr sz="2000" b="0" i="0">
                <a:solidFill>
                  <a:srgbClr val="222222"/>
                </a:solidFill>
                <a:latin typeface="Helvetica Neue"/>
              </a:rPr>
              <a:t>It doesn't. Or rather: it does, but not to everyone, and not about everything.</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The artefact communicates </a:t>
            </a:r>
            <a:r>
              <a:rPr sz="2000" b="0" i="1">
                <a:solidFill>
                  <a:srgbClr val="222222"/>
                </a:solidFill>
                <a:latin typeface="Helvetica Neue"/>
              </a:rPr>
              <a:t>something</a:t>
            </a:r>
            <a:r>
              <a:rPr sz="2000" b="0" i="0">
                <a:solidFill>
                  <a:srgbClr val="222222"/>
                </a:solidFill>
                <a:latin typeface="Helvetica Neue"/>
              </a:rPr>
              <a:t>. But it doesn't communicate its own context, its relationship to prior work, or why its contribution matters.</a:t>
            </a:r>
          </a:p>
          <a:p>
            <a:pPr marL="342900" indent="-342900" algn="l">
              <a:buChar char="•"/>
            </a:pPr>
            <a:r>
              <a:rPr sz="2000" b="0" i="0">
                <a:solidFill>
                  <a:srgbClr val="222222"/>
                </a:solidFill>
                <a:latin typeface="Helvetica Neue"/>
              </a:rPr>
              <a:t>You still need to write. The writing doesn't replace the work — it does the things the work </a:t>
            </a:r>
            <a:r>
              <a:rPr sz="2000" b="0" i="1">
                <a:solidFill>
                  <a:srgbClr val="222222"/>
                </a:solidFill>
                <a:latin typeface="Helvetica Neue"/>
              </a:rPr>
              <a:t>can't</a:t>
            </a:r>
            <a:r>
              <a:rPr sz="2000" b="0" i="0">
                <a:solidFill>
                  <a:srgbClr val="222222"/>
                </a:solidFill>
                <a:latin typeface="Helvetica Neue"/>
              </a:rPr>
              <a:t> do.</a:t>
            </a:r>
          </a:p>
          <a:p>
            <a:pPr marL="342900" indent="-342900" algn="l">
              <a:buChar char="•"/>
            </a:pPr>
            <a:r>
              <a:rPr sz="2000" b="0" i="0">
                <a:solidFill>
                  <a:srgbClr val="222222"/>
                </a:solidFill>
                <a:latin typeface="Helvetica Neue"/>
              </a:rPr>
              <a:t>Borgdorff himself is explicit: non-discursive knowledge still needs a discursive frame. The two are complementary.</a:t>
            </a:r>
          </a:p>
          <a:p>
            <a:pPr>
              <a:buNone/>
            </a:pPr>
            <a:endParaRPr sz="2000" b="0" i="0">
              <a:solidFill>
                <a:srgbClr val="222222"/>
              </a:solidFill>
              <a:latin typeface="Helvetica Neue"/>
            </a:endParaRPr>
          </a:p>
          <a:p>
            <a:pPr algn="l">
              <a:buNone/>
            </a:pPr>
            <a:r>
              <a:rPr sz="2000" b="0" i="0">
                <a:solidFill>
                  <a:srgbClr val="222222"/>
                </a:solidFill>
                <a:latin typeface="Helvetica Neue"/>
              </a:rPr>
              <a:t>Don't use these texts as a reason not to write. Use them as a reason to write </a:t>
            </a:r>
            <a:r>
              <a:rPr sz="2000" b="0" i="1">
                <a:solidFill>
                  <a:srgbClr val="222222"/>
                </a:solidFill>
                <a:latin typeface="Helvetica Neue"/>
              </a:rPr>
              <a:t>differently</a:t>
            </a:r>
            <a:r>
              <a:rPr sz="2000" b="0" i="0">
                <a:solidFill>
                  <a:srgbClr val="222222"/>
                </a:solidFill>
                <a:latin typeface="Helvetica Neue"/>
              </a:rPr>
              <a: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What this means for your project</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Some direct implications:</a:t>
            </a:r>
          </a:p>
          <a:p>
            <a:pPr>
              <a:buNone/>
            </a:pPr>
            <a:endParaRPr sz="2000" b="0" i="0">
              <a:solidFill>
                <a:srgbClr val="222222"/>
              </a:solidFill>
              <a:latin typeface="Helvetica Neue"/>
            </a:endParaRPr>
          </a:p>
          <a:p>
            <a:pPr algn="l">
              <a:buNone/>
            </a:pPr>
            <a:r>
              <a:rPr sz="2000" b="1" i="0">
                <a:solidFill>
                  <a:srgbClr val="222222"/>
                </a:solidFill>
                <a:latin typeface="Helvetica Neue"/>
              </a:rPr>
              <a:t>Your process is part of your output.</a:t>
            </a:r>
            <a:r>
              <a:rPr sz="2000" b="0" i="0">
                <a:solidFill>
                  <a:srgbClr val="222222"/>
                </a:solidFill>
                <a:latin typeface="Helvetica Neue"/>
              </a:rPr>
              <a:t> Document it from the start. Not for assessment bureaucracy — because the choices you make </a:t>
            </a:r>
            <a:r>
              <a:rPr sz="2000" b="0" i="1">
                <a:solidFill>
                  <a:srgbClr val="222222"/>
                </a:solidFill>
                <a:latin typeface="Helvetica Neue"/>
              </a:rPr>
              <a:t>are</a:t>
            </a:r>
            <a:r>
              <a:rPr sz="2000" b="0" i="0">
                <a:solidFill>
                  <a:srgbClr val="222222"/>
                </a:solidFill>
                <a:latin typeface="Helvetica Neue"/>
              </a:rPr>
              <a:t> the research.</a:t>
            </a:r>
          </a:p>
          <a:p>
            <a:pPr>
              <a:buNone/>
            </a:pPr>
            <a:endParaRPr sz="2000" b="0" i="0">
              <a:solidFill>
                <a:srgbClr val="222222"/>
              </a:solidFill>
              <a:latin typeface="Helvetica Neue"/>
            </a:endParaRPr>
          </a:p>
          <a:p>
            <a:pPr algn="l">
              <a:buNone/>
            </a:pPr>
            <a:r>
              <a:rPr sz="2000" b="1" i="0">
                <a:solidFill>
                  <a:srgbClr val="222222"/>
                </a:solidFill>
                <a:latin typeface="Helvetica Neue"/>
              </a:rPr>
              <a:t>Your reading and your making should talk to each other.</a:t>
            </a:r>
            <a:r>
              <a:rPr sz="2000" b="0" i="0">
                <a:solidFill>
                  <a:srgbClr val="222222"/>
                </a:solidFill>
                <a:latin typeface="Helvetica Neue"/>
              </a:rPr>
              <a:t> If your reading list never changes what you build, you're not cycling. If your making never changes what you read, same problem.</a:t>
            </a:r>
          </a:p>
          <a:p>
            <a:pPr>
              <a:buNone/>
            </a:pPr>
            <a:endParaRPr sz="2000" b="0" i="0">
              <a:solidFill>
                <a:srgbClr val="222222"/>
              </a:solidFill>
              <a:latin typeface="Helvetica Neue"/>
            </a:endParaRPr>
          </a:p>
          <a:p>
            <a:pPr algn="l">
              <a:buNone/>
            </a:pPr>
            <a:r>
              <a:rPr sz="2000" b="1" i="0">
                <a:solidFill>
                  <a:srgbClr val="222222"/>
                </a:solidFill>
                <a:latin typeface="Helvetica Neue"/>
              </a:rPr>
              <a:t>Know which mode you're in.</a:t>
            </a:r>
            <a:r>
              <a:rPr sz="2000" b="0" i="0">
                <a:solidFill>
                  <a:srgbClr val="222222"/>
                </a:solidFill>
                <a:latin typeface="Helvetica Neue"/>
              </a:rPr>
              <a:t> Are you producing knowledge that lives </a:t>
            </a:r>
            <a:r>
              <a:rPr sz="2000" b="0" i="1">
                <a:solidFill>
                  <a:srgbClr val="222222"/>
                </a:solidFill>
                <a:latin typeface="Helvetica Neue"/>
              </a:rPr>
              <a:t>in</a:t>
            </a:r>
            <a:r>
              <a:rPr sz="2000" b="0" i="0">
                <a:solidFill>
                  <a:srgbClr val="222222"/>
                </a:solidFill>
                <a:latin typeface="Helvetica Neue"/>
              </a:rPr>
              <a:t> the artefact (practice-based) or knowledge that the artefact helped you discover but that can be stated independently (practice-led)? This determines how you structure everything from documentation to final submission.</a:t>
            </a:r>
          </a:p>
          <a:p>
            <a:pPr>
              <a:buNone/>
            </a:pPr>
            <a:endParaRPr sz="2000" b="0" i="0">
              <a:solidFill>
                <a:srgbClr val="222222"/>
              </a:solidFill>
              <a:latin typeface="Helvetica Neue"/>
            </a:endParaRPr>
          </a:p>
          <a:p>
            <a:pPr algn="l">
              <a:buNone/>
            </a:pPr>
            <a:r>
              <a:rPr sz="2000" b="1" i="0">
                <a:solidFill>
                  <a:srgbClr val="222222"/>
                </a:solidFill>
                <a:latin typeface="Helvetica Neue"/>
              </a:rPr>
              <a:t>Articulate, articulate, articulate.</a:t>
            </a:r>
            <a:r>
              <a:rPr sz="2000" b="0" i="0">
                <a:solidFill>
                  <a:srgbClr val="222222"/>
                </a:solidFill>
                <a:latin typeface="Helvetica Neue"/>
              </a:rPr>
              <a:t> The frameworks give you permission to let the artefact do real epistemic work — but they don't give you permission to be vague about what that work is.</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rectangular object with a black dot&#10;&#10;Description automatically generated">
            <a:extLst>
              <a:ext uri="{FF2B5EF4-FFF2-40B4-BE49-F238E27FC236}">
                <a16:creationId xmlns:a16="http://schemas.microsoft.com/office/drawing/2014/main" id="{F2B6F41E-6FB2-4B5D-805F-16F741C4FF1A}"/>
              </a:ext>
            </a:extLst>
          </p:cNvPr>
          <p:cNvPicPr>
            <a:picLocks noChangeAspect="1"/>
          </p:cNvPicPr>
          <p:nvPr/>
        </p:nvPicPr>
        <p:blipFill>
          <a:blip r:embed="rId2"/>
          <a:stretch>
            <a:fillRect/>
          </a:stretch>
        </p:blipFill>
        <p:spPr>
          <a:xfrm>
            <a:off x="893767" y="104739"/>
            <a:ext cx="9095617" cy="5571065"/>
          </a:xfrm>
          <a:prstGeom prst="rect">
            <a:avLst/>
          </a:prstGeom>
          <a:ln>
            <a:noFill/>
          </a:ln>
        </p:spPr>
      </p:pic>
    </p:spTree>
    <p:extLst>
      <p:ext uri="{BB962C8B-B14F-4D97-AF65-F5344CB8AC3E}">
        <p14:creationId xmlns:p14="http://schemas.microsoft.com/office/powerpoint/2010/main" val="32988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Discussion / exercise (15 minutes)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In pairs or small groups:</a:t>
            </a:r>
          </a:p>
          <a:p>
            <a:pPr>
              <a:buNone/>
            </a:pPr>
            <a:endParaRPr sz="2000" b="0" i="0">
              <a:solidFill>
                <a:srgbClr val="222222"/>
              </a:solidFill>
              <a:latin typeface="Helvetica Neue"/>
            </a:endParaRPr>
          </a:p>
          <a:p>
            <a:pPr marL="342900" algn="l">
              <a:buNone/>
            </a:pPr>
            <a:r>
              <a:rPr sz="2000" b="0" i="0">
                <a:solidFill>
                  <a:srgbClr val="222222"/>
                </a:solidFill>
                <a:latin typeface="Helvetica Neue"/>
              </a:rPr>
              <a:t>1.  Take your current project idea (or a project you admire).</a:t>
            </a:r>
          </a:p>
          <a:p>
            <a:pPr marL="342900" algn="l">
              <a:buNone/>
            </a:pPr>
            <a:r>
              <a:rPr sz="2000" b="0" i="0">
                <a:solidFill>
                  <a:srgbClr val="222222"/>
                </a:solidFill>
                <a:latin typeface="Helvetica Neue"/>
              </a:rPr>
              <a:t>2.  Try to describe it in Candy's terms: is it </a:t>
            </a:r>
            <a:r>
              <a:rPr sz="2000" b="1" i="0">
                <a:solidFill>
                  <a:srgbClr val="222222"/>
                </a:solidFill>
                <a:latin typeface="Helvetica Neue"/>
              </a:rPr>
              <a:t>practice-based</a:t>
            </a:r>
            <a:r>
              <a:rPr sz="2000" b="0" i="0">
                <a:solidFill>
                  <a:srgbClr val="222222"/>
                </a:solidFill>
                <a:latin typeface="Helvetica Neue"/>
              </a:rPr>
              <a:t> or </a:t>
            </a:r>
            <a:r>
              <a:rPr sz="2000" b="1" i="0">
                <a:solidFill>
                  <a:srgbClr val="222222"/>
                </a:solidFill>
                <a:latin typeface="Helvetica Neue"/>
              </a:rPr>
              <a:t>practice-led</a:t>
            </a:r>
            <a:r>
              <a:rPr sz="2000" b="0" i="0">
                <a:solidFill>
                  <a:srgbClr val="222222"/>
                </a:solidFill>
                <a:latin typeface="Helvetica Neue"/>
              </a:rPr>
              <a:t>?</a:t>
            </a:r>
          </a:p>
          <a:p>
            <a:pPr marL="342900" algn="l">
              <a:buNone/>
            </a:pPr>
            <a:r>
              <a:rPr sz="2000" b="0" i="0">
                <a:solidFill>
                  <a:srgbClr val="222222"/>
                </a:solidFill>
                <a:latin typeface="Helvetica Neue"/>
              </a:rPr>
              <a:t>3.  Then apply Borgdorff's three conditions: does it have </a:t>
            </a:r>
            <a:r>
              <a:rPr sz="2000" b="1" i="0">
                <a:solidFill>
                  <a:srgbClr val="222222"/>
                </a:solidFill>
                <a:latin typeface="Helvetica Neue"/>
              </a:rPr>
              <a:t>intent</a:t>
            </a:r>
            <a:r>
              <a:rPr sz="2000" b="0" i="0">
                <a:solidFill>
                  <a:srgbClr val="222222"/>
                </a:solidFill>
                <a:latin typeface="Helvetica Neue"/>
              </a:rPr>
              <a:t>, </a:t>
            </a:r>
            <a:r>
              <a:rPr sz="2000" b="1" i="0">
                <a:solidFill>
                  <a:srgbClr val="222222"/>
                </a:solidFill>
                <a:latin typeface="Helvetica Neue"/>
              </a:rPr>
              <a:t>method</a:t>
            </a:r>
            <a:r>
              <a:rPr sz="2000" b="0" i="0">
                <a:solidFill>
                  <a:srgbClr val="222222"/>
                </a:solidFill>
                <a:latin typeface="Helvetica Neue"/>
              </a:rPr>
              <a:t>, and </a:t>
            </a:r>
            <a:r>
              <a:rPr sz="2000" b="1" i="0">
                <a:solidFill>
                  <a:srgbClr val="222222"/>
                </a:solidFill>
                <a:latin typeface="Helvetica Neue"/>
              </a:rPr>
              <a:t>context</a:t>
            </a:r>
            <a:r>
              <a:rPr sz="2000" b="0" i="0">
                <a:solidFill>
                  <a:srgbClr val="222222"/>
                </a:solidFill>
                <a:latin typeface="Helvetica Neue"/>
              </a:rPr>
              <a:t>?</a:t>
            </a:r>
          </a:p>
          <a:p>
            <a:pPr marL="342900" algn="l">
              <a:buNone/>
            </a:pPr>
            <a:r>
              <a:rPr sz="2000" b="0" i="0">
                <a:solidFill>
                  <a:srgbClr val="222222"/>
                </a:solidFill>
                <a:latin typeface="Helvetica Neue"/>
              </a:rPr>
              <a:t>4.  Finally, where are you in Smith &amp; Dean's cycle right now? Which zone are you spending most time in? Which are you neglecting?</a:t>
            </a:r>
          </a:p>
          <a:p>
            <a:pPr>
              <a:buNone/>
            </a:pPr>
            <a:endParaRPr sz="2000" b="0" i="0">
              <a:solidFill>
                <a:srgbClr val="222222"/>
              </a:solidFill>
              <a:latin typeface="Helvetica Neue"/>
            </a:endParaRPr>
          </a:p>
          <a:p>
            <a:pPr algn="l">
              <a:buNone/>
            </a:pPr>
            <a:r>
              <a:rPr sz="2000" b="0" i="0">
                <a:solidFill>
                  <a:srgbClr val="222222"/>
                </a:solidFill>
                <a:latin typeface="Helvetica Neue"/>
              </a:rPr>
              <a:t>Be honest. The point is diagnosis, not performance.</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For next week</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1800" b="0" i="0">
                <a:solidFill>
                  <a:srgbClr val="222222"/>
                </a:solidFill>
                <a:latin typeface="Helvetica Neue"/>
              </a:rPr>
              <a:t>Week 3: </a:t>
            </a:r>
            <a:r>
              <a:rPr sz="1800" b="1" i="0">
                <a:solidFill>
                  <a:srgbClr val="222222"/>
                </a:solidFill>
                <a:latin typeface="Helvetica Neue"/>
              </a:rPr>
              <a:t>Situating research in a field — finding the GAP.</a:t>
            </a:r>
          </a:p>
          <a:p>
            <a:pPr>
              <a:buNone/>
            </a:pPr>
            <a:endParaRPr sz="1800" b="1" i="0">
              <a:solidFill>
                <a:srgbClr val="222222"/>
              </a:solidFill>
              <a:latin typeface="Helvetica Neue"/>
            </a:endParaRPr>
          </a:p>
          <a:p>
            <a:pPr algn="l">
              <a:buNone/>
            </a:pPr>
            <a:r>
              <a:rPr sz="1800" b="0" i="0">
                <a:solidFill>
                  <a:srgbClr val="222222"/>
                </a:solidFill>
                <a:latin typeface="Helvetica Neue"/>
              </a:rPr>
              <a:t>Read </a:t>
            </a:r>
            <a:r>
              <a:rPr sz="1800" b="1" i="0">
                <a:solidFill>
                  <a:srgbClr val="222222"/>
                </a:solidFill>
                <a:latin typeface="Helvetica Neue"/>
              </a:rPr>
              <a:t>one</a:t>
            </a:r>
            <a:r>
              <a:rPr sz="1800" b="0" i="0">
                <a:solidFill>
                  <a:srgbClr val="222222"/>
                </a:solidFill>
                <a:latin typeface="Helvetica Neue"/>
              </a:rPr>
              <a:t> of:</a:t>
            </a:r>
          </a:p>
          <a:p>
            <a:pPr>
              <a:buNone/>
            </a:pPr>
            <a:endParaRPr sz="1800" b="0" i="0">
              <a:solidFill>
                <a:srgbClr val="222222"/>
              </a:solidFill>
              <a:latin typeface="Helvetica Neue"/>
            </a:endParaRPr>
          </a:p>
          <a:p>
            <a:pPr marL="342900" indent="-342900" algn="l">
              <a:buChar char="•"/>
            </a:pPr>
            <a:r>
              <a:rPr sz="1800" b="0" i="0">
                <a:solidFill>
                  <a:srgbClr val="222222"/>
                </a:solidFill>
                <a:latin typeface="Helvetica Neue"/>
              </a:rPr>
              <a:t>A published paper in your area of interest — any venue (NeurIPS, ISEA, Leonardo, SIGGRAPH, CHI, NIME, etc.)</a:t>
            </a:r>
          </a:p>
          <a:p>
            <a:pPr marL="342900" indent="-342900" algn="l">
              <a:buChar char="•"/>
            </a:pPr>
            <a:r>
              <a:rPr sz="1800" b="0" i="0">
                <a:solidFill>
                  <a:srgbClr val="222222"/>
                </a:solidFill>
                <a:latin typeface="Helvetica Neue"/>
              </a:rPr>
              <a:t>A review or survey paper that maps a field relevant to your project.</a:t>
            </a:r>
          </a:p>
          <a:p>
            <a:pPr>
              <a:buNone/>
            </a:pPr>
            <a:endParaRPr sz="1800" b="0" i="0">
              <a:solidFill>
                <a:srgbClr val="222222"/>
              </a:solidFill>
              <a:latin typeface="Helvetica Neue"/>
            </a:endParaRPr>
          </a:p>
          <a:p>
            <a:pPr algn="l">
              <a:buNone/>
            </a:pPr>
            <a:r>
              <a:rPr sz="1800" b="0" i="0">
                <a:solidFill>
                  <a:srgbClr val="222222"/>
                </a:solidFill>
                <a:latin typeface="Helvetica Neue"/>
              </a:rPr>
              <a:t>Write a </a:t>
            </a:r>
            <a:r>
              <a:rPr sz="1800" b="1" i="0">
                <a:solidFill>
                  <a:srgbClr val="222222"/>
                </a:solidFill>
                <a:latin typeface="Helvetica Neue"/>
              </a:rPr>
              <a:t>half-page note</a:t>
            </a:r>
            <a:r>
              <a:rPr sz="1800" b="0" i="0">
                <a:solidFill>
                  <a:srgbClr val="222222"/>
                </a:solidFill>
                <a:latin typeface="Helvetica Neue"/>
              </a:rPr>
              <a:t> answering:</a:t>
            </a:r>
          </a:p>
          <a:p>
            <a:pPr>
              <a:buNone/>
            </a:pPr>
            <a:endParaRPr sz="1800" b="0" i="0">
              <a:solidFill>
                <a:srgbClr val="222222"/>
              </a:solidFill>
              <a:latin typeface="Helvetica Neue"/>
            </a:endParaRPr>
          </a:p>
          <a:p>
            <a:pPr marL="342900" indent="-342900" algn="l">
              <a:buChar char="•"/>
            </a:pPr>
            <a:r>
              <a:rPr sz="1800" b="0" i="0">
                <a:solidFill>
                  <a:srgbClr val="222222"/>
                </a:solidFill>
                <a:latin typeface="Helvetica Neue"/>
              </a:rPr>
              <a:t>What does this paper </a:t>
            </a:r>
            <a:r>
              <a:rPr sz="1800" b="0" i="1">
                <a:solidFill>
                  <a:srgbClr val="222222"/>
                </a:solidFill>
                <a:latin typeface="Helvetica Neue"/>
              </a:rPr>
              <a:t>claim</a:t>
            </a:r>
            <a:r>
              <a:rPr sz="1800" b="0" i="0">
                <a:solidFill>
                  <a:srgbClr val="222222"/>
                </a:solidFill>
                <a:latin typeface="Helvetica Neue"/>
              </a:rPr>
              <a:t> is new?</a:t>
            </a:r>
          </a:p>
          <a:p>
            <a:pPr marL="342900" indent="-342900" algn="l">
              <a:buChar char="•"/>
            </a:pPr>
            <a:r>
              <a:rPr sz="1800" b="0" i="0">
                <a:solidFill>
                  <a:srgbClr val="222222"/>
                </a:solidFill>
                <a:latin typeface="Helvetica Neue"/>
              </a:rPr>
              <a:t>What prior work does it cite?</a:t>
            </a:r>
          </a:p>
          <a:p>
            <a:pPr marL="342900" indent="-342900" algn="l">
              <a:buChar char="•"/>
            </a:pPr>
            <a:r>
              <a:rPr sz="1800" b="0" i="0">
                <a:solidFill>
                  <a:srgbClr val="222222"/>
                </a:solidFill>
                <a:latin typeface="Helvetica Neue"/>
              </a:rPr>
              <a:t>What does it </a:t>
            </a:r>
            <a:r>
              <a:rPr sz="1800" b="0" i="1">
                <a:solidFill>
                  <a:srgbClr val="222222"/>
                </a:solidFill>
                <a:latin typeface="Helvetica Neue"/>
              </a:rPr>
              <a:t>not</a:t>
            </a:r>
            <a:r>
              <a:rPr sz="1800" b="0" i="0">
                <a:solidFill>
                  <a:srgbClr val="222222"/>
                </a:solidFill>
                <a:latin typeface="Helvetica Neue"/>
              </a:rPr>
              <a:t> address — and could that gap be your gap?</a:t>
            </a:r>
          </a:p>
          <a:p>
            <a:pPr>
              <a:buNone/>
            </a:pPr>
            <a:endParaRPr sz="1800" b="0" i="0">
              <a:solidFill>
                <a:srgbClr val="222222"/>
              </a:solidFill>
              <a:latin typeface="Helvetica Neue"/>
            </a:endParaRPr>
          </a:p>
          <a:p>
            <a:pPr algn="l">
              <a:buNone/>
            </a:pPr>
            <a:r>
              <a:rPr sz="1800" b="0" i="0">
                <a:solidFill>
                  <a:srgbClr val="222222"/>
                </a:solidFill>
                <a:latin typeface="Helvetica Neue"/>
              </a:rPr>
              <a:t>Bring the note and the paper reference to the session.</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19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Key takeaways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marL="342900" algn="l">
              <a:buNone/>
            </a:pPr>
            <a:r>
              <a:rPr sz="2000" b="0" i="0">
                <a:solidFill>
                  <a:srgbClr val="222222"/>
                </a:solidFill>
                <a:latin typeface="Helvetica Neue"/>
              </a:rPr>
              <a:t>1.  </a:t>
            </a:r>
            <a:r>
              <a:rPr sz="2000" b="1" i="0">
                <a:solidFill>
                  <a:srgbClr val="222222"/>
                </a:solidFill>
                <a:latin typeface="Helvetica Neue"/>
              </a:rPr>
              <a:t>Practice and research are not sequential — they cycle.</a:t>
            </a:r>
            <a:r>
              <a:rPr sz="2000" b="0" i="0">
                <a:solidFill>
                  <a:srgbClr val="222222"/>
                </a:solidFill>
                <a:latin typeface="Helvetica Neue"/>
              </a:rPr>
              <a:t> (Smith &amp; Dean)</a:t>
            </a:r>
          </a:p>
          <a:p>
            <a:pPr marL="342900" algn="l">
              <a:buNone/>
            </a:pPr>
            <a:r>
              <a:rPr sz="2000" b="0" i="0">
                <a:solidFill>
                  <a:srgbClr val="222222"/>
                </a:solidFill>
                <a:latin typeface="Helvetica Neue"/>
              </a:rPr>
              <a:t>2.  </a:t>
            </a:r>
            <a:r>
              <a:rPr sz="2000" b="1" i="0">
                <a:solidFill>
                  <a:srgbClr val="222222"/>
                </a:solidFill>
                <a:latin typeface="Helvetica Neue"/>
              </a:rPr>
              <a:t>Know whether your knowledge lives in the artefact or in the text — and build accordingly.</a:t>
            </a:r>
            <a:r>
              <a:rPr sz="2000" b="0" i="0">
                <a:solidFill>
                  <a:srgbClr val="222222"/>
                </a:solidFill>
                <a:latin typeface="Helvetica Neue"/>
              </a:rPr>
              <a:t> (Candy)</a:t>
            </a:r>
          </a:p>
          <a:p>
            <a:pPr marL="342900" algn="l">
              <a:buNone/>
            </a:pPr>
            <a:r>
              <a:rPr sz="2000" b="0" i="0">
                <a:solidFill>
                  <a:srgbClr val="222222"/>
                </a:solidFill>
                <a:latin typeface="Helvetica Neue"/>
              </a:rPr>
              <a:t>3.  </a:t>
            </a:r>
            <a:r>
              <a:rPr sz="2000" b="1" i="0">
                <a:solidFill>
                  <a:srgbClr val="222222"/>
                </a:solidFill>
                <a:latin typeface="Helvetica Neue"/>
              </a:rPr>
              <a:t>Artistic practice can be a legitimate mode of inquiry — but only with intent, method, and context.</a:t>
            </a:r>
            <a:r>
              <a:rPr sz="2000" b="0" i="0">
                <a:solidFill>
                  <a:srgbClr val="222222"/>
                </a:solidFill>
                <a:latin typeface="Helvetica Neue"/>
              </a:rPr>
              <a:t> (Borgdorff)</a:t>
            </a:r>
          </a:p>
          <a:p>
            <a:pPr marL="342900" algn="l">
              <a:buNone/>
            </a:pPr>
            <a:r>
              <a:rPr sz="2000" b="0" i="0">
                <a:solidFill>
                  <a:srgbClr val="222222"/>
                </a:solidFill>
                <a:latin typeface="Helvetica Neue"/>
              </a:rPr>
              <a:t>4.  </a:t>
            </a:r>
            <a:r>
              <a:rPr sz="2000" b="1" i="0">
                <a:solidFill>
                  <a:srgbClr val="222222"/>
                </a:solidFill>
                <a:latin typeface="Helvetica Neue"/>
              </a:rPr>
              <a:t>"The work speaks for itself" is almost always wrong.</a:t>
            </a:r>
            <a:r>
              <a:rPr sz="2000" b="0" i="0">
                <a:solidFill>
                  <a:srgbClr val="222222"/>
                </a:solidFill>
                <a:latin typeface="Helvetica Neue"/>
              </a:rPr>
              <a:t> Write differently, not less.</a:t>
            </a:r>
          </a:p>
          <a:p>
            <a:pPr marL="342900" algn="l">
              <a:buNone/>
            </a:pPr>
            <a:r>
              <a:rPr sz="2000" b="0" i="0">
                <a:solidFill>
                  <a:srgbClr val="222222"/>
                </a:solidFill>
                <a:latin typeface="Helvetica Neue"/>
              </a:rPr>
              <a:t>5.  </a:t>
            </a:r>
            <a:r>
              <a:rPr sz="2000" b="1" i="0">
                <a:solidFill>
                  <a:srgbClr val="222222"/>
                </a:solidFill>
                <a:latin typeface="Helvetica Neue"/>
              </a:rPr>
              <a:t>Your process is your research.</a:t>
            </a:r>
            <a:r>
              <a:rPr sz="2000" b="0" i="0">
                <a:solidFill>
                  <a:srgbClr val="222222"/>
                </a:solidFill>
                <a:latin typeface="Helvetica Neue"/>
              </a:rPr>
              <a:t> Document it now. Not later. Now.</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20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endParaRPr/>
          </a:p>
          <a:p>
            <a:pPr algn="l">
              <a:buNone/>
            </a:pPr>
            <a:r>
              <a:rPr sz="2400" b="1" i="0">
                <a:solidFill>
                  <a:srgbClr val="1A1A2E"/>
                </a:solidFill>
                <a:latin typeface="Helvetica Neue"/>
              </a:rPr>
              <a:t>Questions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endParaRPr/>
          </a:p>
          <a:p>
            <a:pPr algn="l">
              <a:buNone/>
            </a:pPr>
            <a:r>
              <a:rPr sz="2000" b="0" i="0">
                <a:solidFill>
                  <a:srgbClr val="222222"/>
                </a:solidFill>
                <a:latin typeface="Helvetica Neue"/>
              </a:rPr>
              <a:t>What's unclear?</a:t>
            </a:r>
          </a:p>
          <a:p>
            <a:pPr algn="l">
              <a:buNone/>
            </a:pPr>
            <a:r>
              <a:rPr sz="2000" b="0" i="0">
                <a:solidFill>
                  <a:srgbClr val="222222"/>
                </a:solidFill>
                <a:latin typeface="Helvetica Neue"/>
              </a:rPr>
              <a:t>What do you disagree with?</a:t>
            </a:r>
          </a:p>
          <a:p>
            <a:pPr algn="l">
              <a:buNone/>
            </a:pPr>
            <a:r>
              <a:rPr sz="2000" b="0" i="0">
                <a:solidFill>
                  <a:srgbClr val="222222"/>
                </a:solidFill>
                <a:latin typeface="Helvetica Neue"/>
              </a:rPr>
              <a:t>What does this change about how you're thinking about your project?</a:t>
            </a:r>
          </a:p>
        </p:txBody>
      </p:sp>
      <p:sp>
        <p:nvSpPr>
          <p:cNvPr id="5" name="TextBox 4"/>
          <p:cNvSpPr txBox="1"/>
          <p:nvPr/>
        </p:nvSpPr>
        <p:spPr>
          <a:xfrm>
            <a:off x="11094415" y="6446520"/>
            <a:ext cx="914400" cy="320040"/>
          </a:xfrm>
          <a:prstGeom prst="rect">
            <a:avLst/>
          </a:prstGeom>
          <a:noFill/>
        </p:spPr>
        <p:txBody>
          <a:bodyPr wrap="square">
            <a:spAutoFit/>
          </a:bodyPr>
          <a:lstStyle/>
          <a:p>
            <a:endParaRPr/>
          </a:p>
          <a:p>
            <a:pPr algn="r">
              <a:buNone/>
            </a:pPr>
            <a:r>
              <a:rPr sz="1000">
                <a:solidFill>
                  <a:srgbClr val="AAAAAA"/>
                </a:solidFill>
                <a:latin typeface="Helvetica Neue"/>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155FEED-6376-0F49-B3B7-726D5DB91F04}">
  <we:reference id="wa200010001" version="1.0.0.0" store="en-US" storeType="OMEX"/>
  <we:alternateReferences>
    <we:reference id="WA200010001"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3074</Words>
  <Application>Microsoft Macintosh PowerPoint</Application>
  <PresentationFormat>Widescreen</PresentationFormat>
  <Paragraphs>301</Paragraphs>
  <Slides>26</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Mick Grierson</cp:lastModifiedBy>
  <cp:revision>5</cp:revision>
  <dcterms:created xsi:type="dcterms:W3CDTF">2013-01-27T09:14:16Z</dcterms:created>
  <dcterms:modified xsi:type="dcterms:W3CDTF">2026-04-22T13:32:07Z</dcterms:modified>
  <cp:category/>
</cp:coreProperties>
</file>